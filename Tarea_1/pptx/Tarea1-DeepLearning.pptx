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Calibri (MS) Bold" charset="1" panose="020F0702030404030204"/>
      <p:regular r:id="rId28"/>
    </p:embeddedFont>
    <p:embeddedFont>
      <p:font typeface="Cambria Bold" charset="1" panose="02040803050406030204"/>
      <p:regular r:id="rId29"/>
    </p:embeddedFont>
    <p:embeddedFont>
      <p:font typeface="Calibri (MS)" charset="1" panose="020F0502020204030204"/>
      <p:regular r:id="rId30"/>
    </p:embeddedFont>
    <p:embeddedFont>
      <p:font typeface="Calibri (MS) Italics" charset="1" panose="020F05020202040A02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0162B"/>
        </a:solidFill>
      </p:bgPr>
    </p:bg>
    <p:spTree>
      <p:nvGrpSpPr>
        <p:cNvPr id="1" name=""/>
        <p:cNvGrpSpPr/>
        <p:nvPr/>
      </p:nvGrpSpPr>
      <p:grpSpPr>
        <a:xfrm>
          <a:off x="0" y="0"/>
          <a:ext cx="0" cy="0"/>
          <a:chOff x="0" y="0"/>
          <a:chExt cx="0" cy="0"/>
        </a:xfrm>
      </p:grpSpPr>
      <p:grpSp>
        <p:nvGrpSpPr>
          <p:cNvPr name="Group 2" id="2"/>
          <p:cNvGrpSpPr/>
          <p:nvPr/>
        </p:nvGrpSpPr>
        <p:grpSpPr>
          <a:xfrm rot="0">
            <a:off x="14538960" y="-1920240"/>
            <a:ext cx="7543800" cy="7543800"/>
            <a:chOff x="0" y="0"/>
            <a:chExt cx="10058400" cy="10058400"/>
          </a:xfrm>
        </p:grpSpPr>
        <p:sp>
          <p:nvSpPr>
            <p:cNvPr name="Freeform 3" id="3"/>
            <p:cNvSpPr/>
            <p:nvPr/>
          </p:nvSpPr>
          <p:spPr>
            <a:xfrm flipH="false" flipV="false" rot="0">
              <a:off x="0" y="0"/>
              <a:ext cx="10058400" cy="10058400"/>
            </a:xfrm>
            <a:custGeom>
              <a:avLst/>
              <a:gdLst/>
              <a:ahLst/>
              <a:cxnLst/>
              <a:rect r="r" b="b" t="t" l="l"/>
              <a:pathLst>
                <a:path h="10058400" w="10058400">
                  <a:moveTo>
                    <a:pt x="0" y="5029200"/>
                  </a:moveTo>
                  <a:cubicBezTo>
                    <a:pt x="0" y="2251710"/>
                    <a:pt x="2251710" y="0"/>
                    <a:pt x="5029200" y="0"/>
                  </a:cubicBezTo>
                  <a:cubicBezTo>
                    <a:pt x="7806690" y="0"/>
                    <a:pt x="10058400" y="2251710"/>
                    <a:pt x="10058400" y="5029200"/>
                  </a:cubicBezTo>
                  <a:cubicBezTo>
                    <a:pt x="10058400" y="7806690"/>
                    <a:pt x="7806690" y="10058400"/>
                    <a:pt x="5029200" y="10058400"/>
                  </a:cubicBezTo>
                  <a:cubicBezTo>
                    <a:pt x="2251710" y="10058400"/>
                    <a:pt x="0" y="7806690"/>
                    <a:pt x="0" y="5029200"/>
                  </a:cubicBezTo>
                  <a:close/>
                </a:path>
              </a:pathLst>
            </a:custGeom>
            <a:solidFill>
              <a:srgbClr val="1B2340"/>
            </a:solidFill>
          </p:spPr>
        </p:sp>
      </p:grpSp>
      <p:grpSp>
        <p:nvGrpSpPr>
          <p:cNvPr name="Group 4" id="4"/>
          <p:cNvGrpSpPr/>
          <p:nvPr/>
        </p:nvGrpSpPr>
        <p:grpSpPr>
          <a:xfrm rot="0">
            <a:off x="15910560" y="-822960"/>
            <a:ext cx="4389120" cy="4389120"/>
            <a:chOff x="0" y="0"/>
            <a:chExt cx="5852160" cy="5852160"/>
          </a:xfrm>
        </p:grpSpPr>
        <p:sp>
          <p:nvSpPr>
            <p:cNvPr name="Freeform 5" id="5"/>
            <p:cNvSpPr/>
            <p:nvPr/>
          </p:nvSpPr>
          <p:spPr>
            <a:xfrm flipH="false" flipV="false" rot="0">
              <a:off x="0" y="0"/>
              <a:ext cx="5852160" cy="5852160"/>
            </a:xfrm>
            <a:custGeom>
              <a:avLst/>
              <a:gdLst/>
              <a:ahLst/>
              <a:cxnLst/>
              <a:rect r="r" b="b" t="t" l="l"/>
              <a:pathLst>
                <a:path h="5852160" w="5852160">
                  <a:moveTo>
                    <a:pt x="0" y="2926080"/>
                  </a:moveTo>
                  <a:cubicBezTo>
                    <a:pt x="0" y="1310005"/>
                    <a:pt x="1310005" y="0"/>
                    <a:pt x="2926080" y="0"/>
                  </a:cubicBezTo>
                  <a:cubicBezTo>
                    <a:pt x="4542155" y="0"/>
                    <a:pt x="5852160" y="1310005"/>
                    <a:pt x="5852160" y="2926080"/>
                  </a:cubicBezTo>
                  <a:cubicBezTo>
                    <a:pt x="5852160" y="4542155"/>
                    <a:pt x="4542155" y="5852160"/>
                    <a:pt x="2926080" y="5852160"/>
                  </a:cubicBezTo>
                  <a:cubicBezTo>
                    <a:pt x="1310005" y="5852160"/>
                    <a:pt x="0" y="4542155"/>
                    <a:pt x="0" y="2926080"/>
                  </a:cubicBezTo>
                  <a:close/>
                </a:path>
              </a:pathLst>
            </a:custGeom>
            <a:solidFill>
              <a:srgbClr val="212B4E"/>
            </a:solidFill>
          </p:spPr>
        </p:sp>
      </p:grpSp>
      <p:grpSp>
        <p:nvGrpSpPr>
          <p:cNvPr name="Group 6" id="6"/>
          <p:cNvGrpSpPr/>
          <p:nvPr/>
        </p:nvGrpSpPr>
        <p:grpSpPr>
          <a:xfrm rot="0">
            <a:off x="1097280" y="2057400"/>
            <a:ext cx="13716000" cy="548640"/>
            <a:chOff x="0" y="0"/>
            <a:chExt cx="18288000" cy="731520"/>
          </a:xfrm>
        </p:grpSpPr>
        <p:sp>
          <p:nvSpPr>
            <p:cNvPr name="Freeform 7" id="7"/>
            <p:cNvSpPr/>
            <p:nvPr/>
          </p:nvSpPr>
          <p:spPr>
            <a:xfrm flipH="false" flipV="false" rot="0">
              <a:off x="0" y="0"/>
              <a:ext cx="18288000" cy="731520"/>
            </a:xfrm>
            <a:custGeom>
              <a:avLst/>
              <a:gdLst/>
              <a:ahLst/>
              <a:cxnLst/>
              <a:rect r="r" b="b" t="t" l="l"/>
              <a:pathLst>
                <a:path h="731520" w="18288000">
                  <a:moveTo>
                    <a:pt x="0" y="0"/>
                  </a:moveTo>
                  <a:lnTo>
                    <a:pt x="18288000" y="0"/>
                  </a:lnTo>
                  <a:lnTo>
                    <a:pt x="18288000" y="731520"/>
                  </a:lnTo>
                  <a:lnTo>
                    <a:pt x="0" y="731520"/>
                  </a:lnTo>
                  <a:close/>
                </a:path>
              </a:pathLst>
            </a:custGeom>
            <a:blipFill>
              <a:blip r:embed="rId2">
                <a:alphaModFix amt="0"/>
              </a:blip>
              <a:stretch>
                <a:fillRect l="0" t="-437125" r="0" b="-437125"/>
              </a:stretch>
            </a:blipFill>
          </p:spPr>
        </p:sp>
        <p:sp>
          <p:nvSpPr>
            <p:cNvPr name="TextBox 8" id="8"/>
            <p:cNvSpPr txBox="true"/>
            <p:nvPr/>
          </p:nvSpPr>
          <p:spPr>
            <a:xfrm>
              <a:off x="0" y="-47625"/>
              <a:ext cx="18288000" cy="779145"/>
            </a:xfrm>
            <a:prstGeom prst="rect">
              <a:avLst/>
            </a:prstGeom>
          </p:spPr>
          <p:txBody>
            <a:bodyPr anchor="ctr" rtlCol="false" tIns="0" lIns="0" bIns="0" rIns="0"/>
            <a:lstStyle/>
            <a:p>
              <a:pPr algn="l">
                <a:lnSpc>
                  <a:spcPts val="2340"/>
                </a:lnSpc>
              </a:pPr>
              <a:r>
                <a:rPr lang="en-US" b="true" sz="1950" spc="299">
                  <a:solidFill>
                    <a:srgbClr val="00D1B2"/>
                  </a:solidFill>
                  <a:latin typeface="Calibri (MS) Bold"/>
                  <a:ea typeface="Calibri (MS) Bold"/>
                  <a:cs typeface="Calibri (MS) Bold"/>
                  <a:sym typeface="Calibri (MS) Bold"/>
                </a:rPr>
                <a:t>TAREA 1 · DEEP LEARNING · 2026-2</a:t>
              </a:r>
            </a:p>
          </p:txBody>
        </p:sp>
      </p:grpSp>
      <p:grpSp>
        <p:nvGrpSpPr>
          <p:cNvPr name="Group 9" id="9"/>
          <p:cNvGrpSpPr/>
          <p:nvPr/>
        </p:nvGrpSpPr>
        <p:grpSpPr>
          <a:xfrm rot="0">
            <a:off x="1097280" y="2743200"/>
            <a:ext cx="15361920" cy="2331720"/>
            <a:chOff x="0" y="0"/>
            <a:chExt cx="20482560" cy="3108960"/>
          </a:xfrm>
        </p:grpSpPr>
        <p:sp>
          <p:nvSpPr>
            <p:cNvPr name="Freeform 10" id="10"/>
            <p:cNvSpPr/>
            <p:nvPr/>
          </p:nvSpPr>
          <p:spPr>
            <a:xfrm flipH="false" flipV="false" rot="0">
              <a:off x="0" y="0"/>
              <a:ext cx="20482561" cy="3108960"/>
            </a:xfrm>
            <a:custGeom>
              <a:avLst/>
              <a:gdLst/>
              <a:ahLst/>
              <a:cxnLst/>
              <a:rect r="r" b="b" t="t" l="l"/>
              <a:pathLst>
                <a:path h="3108960" w="20482561">
                  <a:moveTo>
                    <a:pt x="0" y="0"/>
                  </a:moveTo>
                  <a:lnTo>
                    <a:pt x="20482561" y="0"/>
                  </a:lnTo>
                  <a:lnTo>
                    <a:pt x="20482561" y="3108960"/>
                  </a:lnTo>
                  <a:lnTo>
                    <a:pt x="0" y="3108960"/>
                  </a:lnTo>
                  <a:close/>
                </a:path>
              </a:pathLst>
            </a:custGeom>
            <a:blipFill>
              <a:blip r:embed="rId2">
                <a:alphaModFix amt="0"/>
              </a:blip>
              <a:stretch>
                <a:fillRect l="0" t="-78372" r="0" b="-78372"/>
              </a:stretch>
            </a:blipFill>
          </p:spPr>
        </p:sp>
        <p:sp>
          <p:nvSpPr>
            <p:cNvPr name="TextBox 11" id="11"/>
            <p:cNvSpPr txBox="true"/>
            <p:nvPr/>
          </p:nvSpPr>
          <p:spPr>
            <a:xfrm>
              <a:off x="0" y="-19050"/>
              <a:ext cx="20482560" cy="3128010"/>
            </a:xfrm>
            <a:prstGeom prst="rect">
              <a:avLst/>
            </a:prstGeom>
          </p:spPr>
          <p:txBody>
            <a:bodyPr anchor="ctr" rtlCol="false" tIns="0" lIns="0" bIns="0" rIns="0"/>
            <a:lstStyle/>
            <a:p>
              <a:pPr algn="l">
                <a:lnSpc>
                  <a:spcPts val="7920"/>
                </a:lnSpc>
              </a:pPr>
              <a:r>
                <a:rPr lang="en-US" sz="6600" b="true">
                  <a:solidFill>
                    <a:srgbClr val="FFFFFF"/>
                  </a:solidFill>
                  <a:latin typeface="Cambria Bold"/>
                  <a:ea typeface="Cambria Bold"/>
                  <a:cs typeface="Cambria Bold"/>
                  <a:sym typeface="Cambria Bold"/>
                </a:rPr>
                <a:t>¿Cuándo es necesaria una red profunda?</a:t>
              </a:r>
            </a:p>
          </p:txBody>
        </p:sp>
      </p:grpSp>
      <p:grpSp>
        <p:nvGrpSpPr>
          <p:cNvPr name="Group 12" id="12"/>
          <p:cNvGrpSpPr/>
          <p:nvPr/>
        </p:nvGrpSpPr>
        <p:grpSpPr>
          <a:xfrm rot="0">
            <a:off x="1097280" y="4869180"/>
            <a:ext cx="13441680" cy="960120"/>
            <a:chOff x="0" y="0"/>
            <a:chExt cx="17922240" cy="1280160"/>
          </a:xfrm>
        </p:grpSpPr>
        <p:sp>
          <p:nvSpPr>
            <p:cNvPr name="Freeform 13" id="13"/>
            <p:cNvSpPr/>
            <p:nvPr/>
          </p:nvSpPr>
          <p:spPr>
            <a:xfrm flipH="false" flipV="false" rot="0">
              <a:off x="0" y="0"/>
              <a:ext cx="17922239" cy="1280160"/>
            </a:xfrm>
            <a:custGeom>
              <a:avLst/>
              <a:gdLst/>
              <a:ahLst/>
              <a:cxnLst/>
              <a:rect r="r" b="b" t="t" l="l"/>
              <a:pathLst>
                <a:path h="1280160" w="17922239">
                  <a:moveTo>
                    <a:pt x="0" y="0"/>
                  </a:moveTo>
                  <a:lnTo>
                    <a:pt x="17922239" y="0"/>
                  </a:lnTo>
                  <a:lnTo>
                    <a:pt x="17922239" y="1280160"/>
                  </a:lnTo>
                  <a:lnTo>
                    <a:pt x="0" y="1280160"/>
                  </a:lnTo>
                  <a:close/>
                </a:path>
              </a:pathLst>
            </a:custGeom>
            <a:blipFill>
              <a:blip r:embed="rId2">
                <a:alphaModFix amt="0"/>
              </a:blip>
              <a:stretch>
                <a:fillRect l="0" t="-222790" r="0" b="-222790"/>
              </a:stretch>
            </a:blipFill>
          </p:spPr>
        </p:sp>
        <p:sp>
          <p:nvSpPr>
            <p:cNvPr name="TextBox 14" id="14"/>
            <p:cNvSpPr txBox="true"/>
            <p:nvPr/>
          </p:nvSpPr>
          <p:spPr>
            <a:xfrm>
              <a:off x="0" y="-57150"/>
              <a:ext cx="17922240" cy="1337310"/>
            </a:xfrm>
            <a:prstGeom prst="rect">
              <a:avLst/>
            </a:prstGeom>
          </p:spPr>
          <p:txBody>
            <a:bodyPr anchor="ctr" rtlCol="false" tIns="0" lIns="0" bIns="0" rIns="0"/>
            <a:lstStyle/>
            <a:p>
              <a:pPr algn="l">
                <a:lnSpc>
                  <a:spcPts val="2700"/>
                </a:lnSpc>
              </a:pPr>
              <a:r>
                <a:rPr lang="en-US" sz="2250">
                  <a:solidFill>
                    <a:srgbClr val="B9C0E0"/>
                  </a:solidFill>
                  <a:latin typeface="Calibri (MS)"/>
                  <a:ea typeface="Calibri (MS)"/>
                  <a:cs typeface="Calibri (MS)"/>
                  <a:sym typeface="Calibri (MS)"/>
                </a:rPr>
                <a:t>Baseline clásico, DNN, AutoML, Neural Architecture Search y datos sintéticos aplicados a la detección de intrusiones de red</a:t>
              </a:r>
            </a:p>
          </p:txBody>
        </p:sp>
      </p:grpSp>
      <p:sp>
        <p:nvSpPr>
          <p:cNvPr name="AutoShape 15" id="15"/>
          <p:cNvSpPr/>
          <p:nvPr/>
        </p:nvSpPr>
        <p:spPr>
          <a:xfrm rot="31560">
            <a:off x="1078144" y="6231255"/>
            <a:ext cx="4153071" cy="0"/>
          </a:xfrm>
          <a:prstGeom prst="line">
            <a:avLst/>
          </a:prstGeom>
          <a:ln cap="rnd" w="19050">
            <a:solidFill>
              <a:srgbClr val="00D1B2"/>
            </a:solidFill>
            <a:prstDash val="solid"/>
            <a:headEnd type="none" len="sm" w="sm"/>
            <a:tailEnd type="none" len="sm" w="sm"/>
          </a:ln>
        </p:spPr>
      </p:sp>
      <p:grpSp>
        <p:nvGrpSpPr>
          <p:cNvPr name="Group 16" id="16"/>
          <p:cNvGrpSpPr/>
          <p:nvPr/>
        </p:nvGrpSpPr>
        <p:grpSpPr>
          <a:xfrm rot="0">
            <a:off x="1097280" y="6583680"/>
            <a:ext cx="6309360" cy="466344"/>
            <a:chOff x="0" y="0"/>
            <a:chExt cx="8412480" cy="621792"/>
          </a:xfrm>
        </p:grpSpPr>
        <p:sp>
          <p:nvSpPr>
            <p:cNvPr name="Freeform 17" id="17"/>
            <p:cNvSpPr/>
            <p:nvPr/>
          </p:nvSpPr>
          <p:spPr>
            <a:xfrm flipH="false" flipV="false" rot="0">
              <a:off x="0" y="0"/>
              <a:ext cx="8412480" cy="621792"/>
            </a:xfrm>
            <a:custGeom>
              <a:avLst/>
              <a:gdLst/>
              <a:ahLst/>
              <a:cxnLst/>
              <a:rect r="r" b="b" t="t" l="l"/>
              <a:pathLst>
                <a:path h="621792" w="8412480">
                  <a:moveTo>
                    <a:pt x="0" y="146304"/>
                  </a:moveTo>
                  <a:cubicBezTo>
                    <a:pt x="0" y="65532"/>
                    <a:pt x="65532" y="0"/>
                    <a:pt x="146304" y="0"/>
                  </a:cubicBezTo>
                  <a:lnTo>
                    <a:pt x="8266176" y="0"/>
                  </a:lnTo>
                  <a:cubicBezTo>
                    <a:pt x="8346948" y="0"/>
                    <a:pt x="8412480" y="65532"/>
                    <a:pt x="8412480" y="146304"/>
                  </a:cubicBezTo>
                  <a:lnTo>
                    <a:pt x="8412480" y="475488"/>
                  </a:lnTo>
                  <a:cubicBezTo>
                    <a:pt x="8412480" y="556260"/>
                    <a:pt x="8346948" y="621792"/>
                    <a:pt x="8266176" y="621792"/>
                  </a:cubicBezTo>
                  <a:lnTo>
                    <a:pt x="146304" y="621792"/>
                  </a:lnTo>
                  <a:cubicBezTo>
                    <a:pt x="65532" y="621792"/>
                    <a:pt x="0" y="556260"/>
                    <a:pt x="0" y="475488"/>
                  </a:cubicBezTo>
                  <a:close/>
                </a:path>
              </a:pathLst>
            </a:custGeom>
            <a:solidFill>
              <a:srgbClr val="1B2340"/>
            </a:solidFill>
          </p:spPr>
        </p:sp>
      </p:grpSp>
      <p:grpSp>
        <p:nvGrpSpPr>
          <p:cNvPr name="Group 18" id="18"/>
          <p:cNvGrpSpPr/>
          <p:nvPr/>
        </p:nvGrpSpPr>
        <p:grpSpPr>
          <a:xfrm rot="0">
            <a:off x="1097280" y="6583680"/>
            <a:ext cx="6309360" cy="466344"/>
            <a:chOff x="0" y="0"/>
            <a:chExt cx="8412480" cy="621792"/>
          </a:xfrm>
        </p:grpSpPr>
        <p:sp>
          <p:nvSpPr>
            <p:cNvPr name="Freeform 19" id="19"/>
            <p:cNvSpPr/>
            <p:nvPr/>
          </p:nvSpPr>
          <p:spPr>
            <a:xfrm flipH="false" flipV="false" rot="0">
              <a:off x="0" y="0"/>
              <a:ext cx="8412480" cy="621792"/>
            </a:xfrm>
            <a:custGeom>
              <a:avLst/>
              <a:gdLst/>
              <a:ahLst/>
              <a:cxnLst/>
              <a:rect r="r" b="b" t="t" l="l"/>
              <a:pathLst>
                <a:path h="621792" w="8412480">
                  <a:moveTo>
                    <a:pt x="0" y="0"/>
                  </a:moveTo>
                  <a:lnTo>
                    <a:pt x="8412480" y="0"/>
                  </a:lnTo>
                  <a:lnTo>
                    <a:pt x="8412480" y="621792"/>
                  </a:lnTo>
                  <a:lnTo>
                    <a:pt x="0" y="621792"/>
                  </a:lnTo>
                  <a:close/>
                </a:path>
              </a:pathLst>
            </a:custGeom>
            <a:blipFill>
              <a:blip r:embed="rId2">
                <a:alphaModFix amt="0"/>
              </a:blip>
              <a:stretch>
                <a:fillRect l="0" t="-213621" r="0" b="-213621"/>
              </a:stretch>
            </a:blipFill>
          </p:spPr>
        </p:sp>
        <p:sp>
          <p:nvSpPr>
            <p:cNvPr name="TextBox 20" id="20"/>
            <p:cNvSpPr txBox="true"/>
            <p:nvPr/>
          </p:nvSpPr>
          <p:spPr>
            <a:xfrm>
              <a:off x="0" y="-28575"/>
              <a:ext cx="8412480" cy="650367"/>
            </a:xfrm>
            <a:prstGeom prst="rect">
              <a:avLst/>
            </a:prstGeom>
          </p:spPr>
          <p:txBody>
            <a:bodyPr anchor="ctr" rtlCol="false" tIns="0" lIns="0" bIns="0" rIns="0"/>
            <a:lstStyle/>
            <a:p>
              <a:pPr algn="ctr">
                <a:lnSpc>
                  <a:spcPts val="1980"/>
                </a:lnSpc>
              </a:pPr>
              <a:r>
                <a:rPr lang="en-US" sz="1650" b="true">
                  <a:solidFill>
                    <a:srgbClr val="00D1B2"/>
                  </a:solidFill>
                  <a:latin typeface="Calibri (MS) Bold"/>
                  <a:ea typeface="Calibri (MS) Bold"/>
                  <a:cs typeface="Calibri (MS) Bold"/>
                  <a:sym typeface="Calibri (MS) Bold"/>
                </a:rPr>
                <a:t>CIC-IDS2017  ·  2.830.743 filas  ·  78 columnas</a:t>
              </a:r>
            </a:p>
          </p:txBody>
        </p:sp>
      </p:grpSp>
      <p:grpSp>
        <p:nvGrpSpPr>
          <p:cNvPr name="Group 21" id="21"/>
          <p:cNvGrpSpPr/>
          <p:nvPr/>
        </p:nvGrpSpPr>
        <p:grpSpPr>
          <a:xfrm rot="0">
            <a:off x="1097280" y="7612380"/>
            <a:ext cx="4114800" cy="411480"/>
            <a:chOff x="0" y="0"/>
            <a:chExt cx="5486400" cy="548640"/>
          </a:xfrm>
        </p:grpSpPr>
        <p:sp>
          <p:nvSpPr>
            <p:cNvPr name="Freeform 22" id="22"/>
            <p:cNvSpPr/>
            <p:nvPr/>
          </p:nvSpPr>
          <p:spPr>
            <a:xfrm flipH="false" flipV="false" rot="0">
              <a:off x="0" y="0"/>
              <a:ext cx="5486400" cy="548640"/>
            </a:xfrm>
            <a:custGeom>
              <a:avLst/>
              <a:gdLst/>
              <a:ahLst/>
              <a:cxnLst/>
              <a:rect r="r" b="b" t="t" l="l"/>
              <a:pathLst>
                <a:path h="548640" w="5486400">
                  <a:moveTo>
                    <a:pt x="0" y="0"/>
                  </a:moveTo>
                  <a:lnTo>
                    <a:pt x="5486400" y="0"/>
                  </a:lnTo>
                  <a:lnTo>
                    <a:pt x="5486400" y="548640"/>
                  </a:lnTo>
                  <a:lnTo>
                    <a:pt x="0" y="548640"/>
                  </a:lnTo>
                  <a:close/>
                </a:path>
              </a:pathLst>
            </a:custGeom>
            <a:blipFill>
              <a:blip r:embed="rId2">
                <a:alphaModFix amt="0"/>
              </a:blip>
              <a:stretch>
                <a:fillRect l="0" t="-144850" r="0" b="-144850"/>
              </a:stretch>
            </a:blipFill>
          </p:spPr>
        </p:sp>
        <p:sp>
          <p:nvSpPr>
            <p:cNvPr name="TextBox 23" id="23"/>
            <p:cNvSpPr txBox="true"/>
            <p:nvPr/>
          </p:nvSpPr>
          <p:spPr>
            <a:xfrm>
              <a:off x="0" y="-28575"/>
              <a:ext cx="5486400" cy="577215"/>
            </a:xfrm>
            <a:prstGeom prst="rect">
              <a:avLst/>
            </a:prstGeom>
          </p:spPr>
          <p:txBody>
            <a:bodyPr anchor="ctr" rtlCol="false" tIns="0" lIns="0" bIns="0" rIns="0"/>
            <a:lstStyle/>
            <a:p>
              <a:pPr algn="l">
                <a:lnSpc>
                  <a:spcPts val="1980"/>
                </a:lnSpc>
              </a:pPr>
              <a:r>
                <a:rPr lang="en-US" b="true" sz="1650" spc="299">
                  <a:solidFill>
                    <a:srgbClr val="8A93B8"/>
                  </a:solidFill>
                  <a:latin typeface="Calibri (MS) Bold"/>
                  <a:ea typeface="Calibri (MS) Bold"/>
                  <a:cs typeface="Calibri (MS) Bold"/>
                  <a:sym typeface="Calibri (MS) Bold"/>
                </a:rPr>
                <a:t>EQUIPO</a:t>
              </a:r>
            </a:p>
          </p:txBody>
        </p:sp>
      </p:grpSp>
      <p:grpSp>
        <p:nvGrpSpPr>
          <p:cNvPr name="Group 24" id="24"/>
          <p:cNvGrpSpPr/>
          <p:nvPr/>
        </p:nvGrpSpPr>
        <p:grpSpPr>
          <a:xfrm rot="0">
            <a:off x="1097280" y="8023860"/>
            <a:ext cx="12344400" cy="548640"/>
            <a:chOff x="0" y="0"/>
            <a:chExt cx="16459200" cy="731520"/>
          </a:xfrm>
        </p:grpSpPr>
        <p:sp>
          <p:nvSpPr>
            <p:cNvPr name="Freeform 25" id="25"/>
            <p:cNvSpPr/>
            <p:nvPr/>
          </p:nvSpPr>
          <p:spPr>
            <a:xfrm flipH="false" flipV="false" rot="0">
              <a:off x="0" y="0"/>
              <a:ext cx="16459200" cy="731520"/>
            </a:xfrm>
            <a:custGeom>
              <a:avLst/>
              <a:gdLst/>
              <a:ahLst/>
              <a:cxnLst/>
              <a:rect r="r" b="b" t="t" l="l"/>
              <a:pathLst>
                <a:path h="731520" w="16459200">
                  <a:moveTo>
                    <a:pt x="0" y="0"/>
                  </a:moveTo>
                  <a:lnTo>
                    <a:pt x="16459200" y="0"/>
                  </a:lnTo>
                  <a:lnTo>
                    <a:pt x="16459200" y="731520"/>
                  </a:lnTo>
                  <a:lnTo>
                    <a:pt x="0" y="731520"/>
                  </a:lnTo>
                  <a:close/>
                </a:path>
              </a:pathLst>
            </a:custGeom>
            <a:blipFill>
              <a:blip r:embed="rId2">
                <a:alphaModFix amt="0"/>
              </a:blip>
              <a:stretch>
                <a:fillRect l="0" t="-388413" r="0" b="-388413"/>
              </a:stretch>
            </a:blipFill>
          </p:spPr>
        </p:sp>
        <p:sp>
          <p:nvSpPr>
            <p:cNvPr name="TextBox 26" id="26"/>
            <p:cNvSpPr txBox="true"/>
            <p:nvPr/>
          </p:nvSpPr>
          <p:spPr>
            <a:xfrm>
              <a:off x="0" y="-38100"/>
              <a:ext cx="16459200" cy="769620"/>
            </a:xfrm>
            <a:prstGeom prst="rect">
              <a:avLst/>
            </a:prstGeom>
          </p:spPr>
          <p:txBody>
            <a:bodyPr anchor="ctr" rtlCol="false" tIns="0" lIns="0" bIns="0" rIns="0"/>
            <a:lstStyle/>
            <a:p>
              <a:pPr algn="l">
                <a:lnSpc>
                  <a:spcPts val="2879"/>
                </a:lnSpc>
              </a:pPr>
              <a:r>
                <a:rPr lang="en-US" sz="2400">
                  <a:solidFill>
                    <a:srgbClr val="FFFFFF"/>
                  </a:solidFill>
                  <a:latin typeface="Calibri (MS)"/>
                  <a:ea typeface="Calibri (MS)"/>
                  <a:cs typeface="Calibri (MS)"/>
                  <a:sym typeface="Calibri (MS)"/>
                </a:rPr>
                <a:t>Alex Marambio   ·   Diego Pérez   ·   Aarón Pozas</a:t>
              </a:r>
            </a:p>
          </p:txBody>
        </p:sp>
      </p:grpSp>
      <p:grpSp>
        <p:nvGrpSpPr>
          <p:cNvPr name="Group 27" id="27"/>
          <p:cNvGrpSpPr/>
          <p:nvPr/>
        </p:nvGrpSpPr>
        <p:grpSpPr>
          <a:xfrm rot="0">
            <a:off x="1097280" y="9464040"/>
            <a:ext cx="13716000" cy="480060"/>
            <a:chOff x="0" y="0"/>
            <a:chExt cx="18288000" cy="640080"/>
          </a:xfrm>
        </p:grpSpPr>
        <p:sp>
          <p:nvSpPr>
            <p:cNvPr name="Freeform 28" id="28"/>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2">
                <a:alphaModFix amt="0"/>
              </a:blip>
              <a:stretch>
                <a:fillRect l="0" t="-506715" r="0" b="-506715"/>
              </a:stretch>
            </a:blipFill>
          </p:spPr>
        </p:sp>
        <p:sp>
          <p:nvSpPr>
            <p:cNvPr name="TextBox 29" id="29"/>
            <p:cNvSpPr txBox="true"/>
            <p:nvPr/>
          </p:nvSpPr>
          <p:spPr>
            <a:xfrm>
              <a:off x="0" y="-28575"/>
              <a:ext cx="18288000" cy="668655"/>
            </a:xfrm>
            <a:prstGeom prst="rect">
              <a:avLst/>
            </a:prstGeom>
          </p:spPr>
          <p:txBody>
            <a:bodyPr anchor="ctr" rtlCol="false" tIns="0" lIns="0" bIns="0" rIns="0"/>
            <a:lstStyle/>
            <a:p>
              <a:pPr algn="l">
                <a:lnSpc>
                  <a:spcPts val="1980"/>
                </a:lnSpc>
              </a:pPr>
              <a:r>
                <a:rPr lang="en-US" sz="1650">
                  <a:solidFill>
                    <a:srgbClr val="6E7699"/>
                  </a:solidFill>
                  <a:latin typeface="Calibri (MS)"/>
                  <a:ea typeface="Calibri (MS)"/>
                  <a:cs typeface="Calibri (MS)"/>
                  <a:sym typeface="Calibri (MS)"/>
                </a:rPr>
                <a:t>Escuela de Informática y Telecomunicaciones — Facultad de Ingeniería y Ciencias, UDP</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AGENDA</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Tres partes, una misma pregunta</a:t>
              </a:r>
            </a:p>
          </p:txBody>
        </p:sp>
      </p:grpSp>
      <p:grpSp>
        <p:nvGrpSpPr>
          <p:cNvPr name="Group 8" id="8"/>
          <p:cNvGrpSpPr/>
          <p:nvPr/>
        </p:nvGrpSpPr>
        <p:grpSpPr>
          <a:xfrm rot="0">
            <a:off x="813435" y="2870835"/>
            <a:ext cx="5299710" cy="5368290"/>
            <a:chOff x="0" y="0"/>
            <a:chExt cx="7066280" cy="7157720"/>
          </a:xfrm>
        </p:grpSpPr>
        <p:sp>
          <p:nvSpPr>
            <p:cNvPr name="Freeform 9" id="9"/>
            <p:cNvSpPr/>
            <p:nvPr/>
          </p:nvSpPr>
          <p:spPr>
            <a:xfrm flipH="false" flipV="false" rot="0">
              <a:off x="0" y="0"/>
              <a:ext cx="7066280" cy="7157720"/>
            </a:xfrm>
            <a:custGeom>
              <a:avLst/>
              <a:gdLst/>
              <a:ahLst/>
              <a:cxnLst/>
              <a:rect r="r" b="b" t="t" l="l"/>
              <a:pathLst>
                <a:path h="7157720" w="7066280">
                  <a:moveTo>
                    <a:pt x="0" y="146812"/>
                  </a:moveTo>
                  <a:cubicBezTo>
                    <a:pt x="0" y="65786"/>
                    <a:pt x="65786" y="0"/>
                    <a:pt x="146812" y="0"/>
                  </a:cubicBezTo>
                  <a:lnTo>
                    <a:pt x="6919468" y="0"/>
                  </a:lnTo>
                  <a:cubicBezTo>
                    <a:pt x="7000622" y="0"/>
                    <a:pt x="7066280" y="65786"/>
                    <a:pt x="7066280" y="146812"/>
                  </a:cubicBezTo>
                  <a:lnTo>
                    <a:pt x="7066280" y="7010908"/>
                  </a:lnTo>
                  <a:cubicBezTo>
                    <a:pt x="7066280" y="7092061"/>
                    <a:pt x="7000494" y="7157720"/>
                    <a:pt x="6919468" y="7157720"/>
                  </a:cubicBezTo>
                  <a:lnTo>
                    <a:pt x="146812" y="7157720"/>
                  </a:lnTo>
                  <a:cubicBezTo>
                    <a:pt x="65786" y="7157720"/>
                    <a:pt x="0" y="7091934"/>
                    <a:pt x="0" y="7010908"/>
                  </a:cubicBezTo>
                  <a:close/>
                </a:path>
              </a:pathLst>
            </a:custGeom>
            <a:solidFill>
              <a:srgbClr val="FFFFFF"/>
            </a:solidFill>
            <a:ln w="19050" cap="sq">
              <a:solidFill>
                <a:srgbClr val="E3E6F0"/>
              </a:solidFill>
              <a:prstDash val="solid"/>
              <a:miter/>
            </a:ln>
          </p:spPr>
        </p:sp>
      </p:grpSp>
      <p:grpSp>
        <p:nvGrpSpPr>
          <p:cNvPr name="Group 10" id="10"/>
          <p:cNvGrpSpPr/>
          <p:nvPr/>
        </p:nvGrpSpPr>
        <p:grpSpPr>
          <a:xfrm rot="0">
            <a:off x="1165860" y="3223260"/>
            <a:ext cx="2057400" cy="960120"/>
            <a:chOff x="0" y="0"/>
            <a:chExt cx="2743200" cy="1280160"/>
          </a:xfrm>
        </p:grpSpPr>
        <p:sp>
          <p:nvSpPr>
            <p:cNvPr name="Freeform 11" id="11"/>
            <p:cNvSpPr/>
            <p:nvPr/>
          </p:nvSpPr>
          <p:spPr>
            <a:xfrm flipH="false" flipV="false" rot="0">
              <a:off x="0" y="0"/>
              <a:ext cx="2743200" cy="1280160"/>
            </a:xfrm>
            <a:custGeom>
              <a:avLst/>
              <a:gdLst/>
              <a:ahLst/>
              <a:cxnLst/>
              <a:rect r="r" b="b" t="t" l="l"/>
              <a:pathLst>
                <a:path h="1280160" w="2743200">
                  <a:moveTo>
                    <a:pt x="0" y="0"/>
                  </a:moveTo>
                  <a:lnTo>
                    <a:pt x="2743200" y="0"/>
                  </a:lnTo>
                  <a:lnTo>
                    <a:pt x="2743200" y="1280160"/>
                  </a:lnTo>
                  <a:lnTo>
                    <a:pt x="0" y="1280160"/>
                  </a:lnTo>
                  <a:close/>
                </a:path>
              </a:pathLst>
            </a:custGeom>
            <a:blipFill>
              <a:blip r:embed="rId2">
                <a:alphaModFix amt="0"/>
              </a:blip>
              <a:stretch>
                <a:fillRect l="-9874" t="0" r="-9874" b="0"/>
              </a:stretch>
            </a:blipFill>
          </p:spPr>
        </p:sp>
        <p:sp>
          <p:nvSpPr>
            <p:cNvPr name="TextBox 12" id="12"/>
            <p:cNvSpPr txBox="true"/>
            <p:nvPr/>
          </p:nvSpPr>
          <p:spPr>
            <a:xfrm>
              <a:off x="0" y="-19050"/>
              <a:ext cx="2743200" cy="1299210"/>
            </a:xfrm>
            <a:prstGeom prst="rect">
              <a:avLst/>
            </a:prstGeom>
          </p:spPr>
          <p:txBody>
            <a:bodyPr anchor="ctr" rtlCol="false" tIns="0" lIns="0" bIns="0" rIns="0"/>
            <a:lstStyle/>
            <a:p>
              <a:pPr algn="l">
                <a:lnSpc>
                  <a:spcPts val="5400"/>
                </a:lnSpc>
              </a:pPr>
              <a:r>
                <a:rPr lang="en-US" sz="4500" b="true">
                  <a:solidFill>
                    <a:srgbClr val="00D1B2"/>
                  </a:solidFill>
                  <a:latin typeface="Cambria Bold"/>
                  <a:ea typeface="Cambria Bold"/>
                  <a:cs typeface="Cambria Bold"/>
                  <a:sym typeface="Cambria Bold"/>
                </a:rPr>
                <a:t>01</a:t>
              </a:r>
            </a:p>
          </p:txBody>
        </p:sp>
      </p:grpSp>
      <p:grpSp>
        <p:nvGrpSpPr>
          <p:cNvPr name="Group 13" id="13"/>
          <p:cNvGrpSpPr/>
          <p:nvPr/>
        </p:nvGrpSpPr>
        <p:grpSpPr>
          <a:xfrm rot="0">
            <a:off x="1165860" y="4320540"/>
            <a:ext cx="4594860" cy="822960"/>
            <a:chOff x="0" y="0"/>
            <a:chExt cx="6126480" cy="1097280"/>
          </a:xfrm>
        </p:grpSpPr>
        <p:sp>
          <p:nvSpPr>
            <p:cNvPr name="Freeform 14" id="14"/>
            <p:cNvSpPr/>
            <p:nvPr/>
          </p:nvSpPr>
          <p:spPr>
            <a:xfrm flipH="false" flipV="false" rot="0">
              <a:off x="0" y="0"/>
              <a:ext cx="6126480" cy="1097280"/>
            </a:xfrm>
            <a:custGeom>
              <a:avLst/>
              <a:gdLst/>
              <a:ahLst/>
              <a:cxnLst/>
              <a:rect r="r" b="b" t="t" l="l"/>
              <a:pathLst>
                <a:path h="1097280" w="6126480">
                  <a:moveTo>
                    <a:pt x="0" y="0"/>
                  </a:moveTo>
                  <a:lnTo>
                    <a:pt x="6126480" y="0"/>
                  </a:lnTo>
                  <a:lnTo>
                    <a:pt x="6126480" y="1097280"/>
                  </a:lnTo>
                  <a:lnTo>
                    <a:pt x="0" y="1097280"/>
                  </a:lnTo>
                  <a:close/>
                </a:path>
              </a:pathLst>
            </a:custGeom>
            <a:blipFill>
              <a:blip r:embed="rId2">
                <a:alphaModFix amt="0"/>
              </a:blip>
              <a:stretch>
                <a:fillRect l="0" t="-58791" r="0" b="-58791"/>
              </a:stretch>
            </a:blipFill>
          </p:spPr>
        </p:sp>
        <p:sp>
          <p:nvSpPr>
            <p:cNvPr name="TextBox 15" id="15"/>
            <p:cNvSpPr txBox="true"/>
            <p:nvPr/>
          </p:nvSpPr>
          <p:spPr>
            <a:xfrm>
              <a:off x="0" y="-19050"/>
              <a:ext cx="6126480" cy="1116330"/>
            </a:xfrm>
            <a:prstGeom prst="rect">
              <a:avLst/>
            </a:prstGeom>
          </p:spPr>
          <p:txBody>
            <a:bodyPr anchor="ctr" rtlCol="false" tIns="0" lIns="0" bIns="0" rIns="0"/>
            <a:lstStyle/>
            <a:p>
              <a:pPr algn="l">
                <a:lnSpc>
                  <a:spcPts val="3240"/>
                </a:lnSpc>
              </a:pPr>
              <a:r>
                <a:rPr lang="en-US" sz="2700" b="true">
                  <a:solidFill>
                    <a:srgbClr val="0E1220"/>
                  </a:solidFill>
                  <a:latin typeface="Cambria Bold"/>
                  <a:ea typeface="Cambria Bold"/>
                  <a:cs typeface="Cambria Bold"/>
                  <a:sym typeface="Cambria Bold"/>
                </a:rPr>
                <a:t>Baseline + DNN</a:t>
              </a:r>
            </a:p>
          </p:txBody>
        </p:sp>
      </p:grpSp>
      <p:grpSp>
        <p:nvGrpSpPr>
          <p:cNvPr name="Group 16" id="16"/>
          <p:cNvGrpSpPr/>
          <p:nvPr/>
        </p:nvGrpSpPr>
        <p:grpSpPr>
          <a:xfrm rot="0">
            <a:off x="1165860" y="5143500"/>
            <a:ext cx="4594860" cy="2606040"/>
            <a:chOff x="0" y="0"/>
            <a:chExt cx="6126480" cy="3474720"/>
          </a:xfrm>
        </p:grpSpPr>
        <p:sp>
          <p:nvSpPr>
            <p:cNvPr name="Freeform 17" id="17"/>
            <p:cNvSpPr/>
            <p:nvPr/>
          </p:nvSpPr>
          <p:spPr>
            <a:xfrm flipH="false" flipV="false" rot="0">
              <a:off x="0" y="0"/>
              <a:ext cx="6126480" cy="3474720"/>
            </a:xfrm>
            <a:custGeom>
              <a:avLst/>
              <a:gdLst/>
              <a:ahLst/>
              <a:cxnLst/>
              <a:rect r="r" b="b" t="t" l="l"/>
              <a:pathLst>
                <a:path h="3474720" w="6126480">
                  <a:moveTo>
                    <a:pt x="0" y="0"/>
                  </a:moveTo>
                  <a:lnTo>
                    <a:pt x="6126480" y="0"/>
                  </a:lnTo>
                  <a:lnTo>
                    <a:pt x="6126480" y="3474720"/>
                  </a:lnTo>
                  <a:lnTo>
                    <a:pt x="0" y="3474720"/>
                  </a:lnTo>
                  <a:close/>
                </a:path>
              </a:pathLst>
            </a:custGeom>
            <a:blipFill>
              <a:blip r:embed="rId2">
                <a:alphaModFix amt="0"/>
              </a:blip>
              <a:stretch>
                <a:fillRect l="-22769" t="0" r="-22769" b="0"/>
              </a:stretch>
            </a:blipFill>
          </p:spPr>
        </p:sp>
        <p:sp>
          <p:nvSpPr>
            <p:cNvPr name="TextBox 18" id="18"/>
            <p:cNvSpPr txBox="true"/>
            <p:nvPr/>
          </p:nvSpPr>
          <p:spPr>
            <a:xfrm>
              <a:off x="0" y="-85725"/>
              <a:ext cx="6126480" cy="3560445"/>
            </a:xfrm>
            <a:prstGeom prst="rect">
              <a:avLst/>
            </a:prstGeom>
          </p:spPr>
          <p:txBody>
            <a:bodyPr anchor="ctr" rtlCol="false" tIns="0" lIns="0" bIns="0" rIns="0"/>
            <a:lstStyle/>
            <a:p>
              <a:pPr algn="l">
                <a:lnSpc>
                  <a:spcPts val="2700"/>
                </a:lnSpc>
              </a:pPr>
              <a:r>
                <a:rPr lang="en-US" sz="1875">
                  <a:solidFill>
                    <a:srgbClr val="6B7280"/>
                  </a:solidFill>
                  <a:latin typeface="Calibri (MS)"/>
                  <a:ea typeface="Calibri (MS)"/>
                  <a:cs typeface="Calibri (MS)"/>
                  <a:sym typeface="Calibri (MS)"/>
                </a:rPr>
                <a:t>Modelos clásicos, límites del enfoque lineal y diseño justificado de una red profunda.</a:t>
              </a:r>
            </a:p>
          </p:txBody>
        </p:sp>
      </p:grpSp>
      <p:grpSp>
        <p:nvGrpSpPr>
          <p:cNvPr name="Group 19" id="19"/>
          <p:cNvGrpSpPr/>
          <p:nvPr/>
        </p:nvGrpSpPr>
        <p:grpSpPr>
          <a:xfrm rot="0">
            <a:off x="6574155" y="2870835"/>
            <a:ext cx="5299710" cy="5368290"/>
            <a:chOff x="0" y="0"/>
            <a:chExt cx="7066280" cy="7157720"/>
          </a:xfrm>
        </p:grpSpPr>
        <p:sp>
          <p:nvSpPr>
            <p:cNvPr name="Freeform 20" id="20"/>
            <p:cNvSpPr/>
            <p:nvPr/>
          </p:nvSpPr>
          <p:spPr>
            <a:xfrm flipH="false" flipV="false" rot="0">
              <a:off x="0" y="0"/>
              <a:ext cx="7066280" cy="7157720"/>
            </a:xfrm>
            <a:custGeom>
              <a:avLst/>
              <a:gdLst/>
              <a:ahLst/>
              <a:cxnLst/>
              <a:rect r="r" b="b" t="t" l="l"/>
              <a:pathLst>
                <a:path h="7157720" w="7066280">
                  <a:moveTo>
                    <a:pt x="0" y="146812"/>
                  </a:moveTo>
                  <a:cubicBezTo>
                    <a:pt x="0" y="65786"/>
                    <a:pt x="65786" y="0"/>
                    <a:pt x="146812" y="0"/>
                  </a:cubicBezTo>
                  <a:lnTo>
                    <a:pt x="6919468" y="0"/>
                  </a:lnTo>
                  <a:cubicBezTo>
                    <a:pt x="7000622" y="0"/>
                    <a:pt x="7066280" y="65786"/>
                    <a:pt x="7066280" y="146812"/>
                  </a:cubicBezTo>
                  <a:lnTo>
                    <a:pt x="7066280" y="7010908"/>
                  </a:lnTo>
                  <a:cubicBezTo>
                    <a:pt x="7066280" y="7092061"/>
                    <a:pt x="7000494" y="7157720"/>
                    <a:pt x="6919468" y="7157720"/>
                  </a:cubicBezTo>
                  <a:lnTo>
                    <a:pt x="146812" y="7157720"/>
                  </a:lnTo>
                  <a:cubicBezTo>
                    <a:pt x="65786" y="7157720"/>
                    <a:pt x="0" y="7091934"/>
                    <a:pt x="0" y="7010908"/>
                  </a:cubicBezTo>
                  <a:close/>
                </a:path>
              </a:pathLst>
            </a:custGeom>
            <a:solidFill>
              <a:srgbClr val="FFFFFF"/>
            </a:solidFill>
            <a:ln w="19050" cap="sq">
              <a:solidFill>
                <a:srgbClr val="E3E6F0"/>
              </a:solidFill>
              <a:prstDash val="solid"/>
              <a:miter/>
            </a:ln>
          </p:spPr>
        </p:sp>
      </p:grpSp>
      <p:grpSp>
        <p:nvGrpSpPr>
          <p:cNvPr name="Group 21" id="21"/>
          <p:cNvGrpSpPr/>
          <p:nvPr/>
        </p:nvGrpSpPr>
        <p:grpSpPr>
          <a:xfrm rot="0">
            <a:off x="6926580" y="3223260"/>
            <a:ext cx="2057400" cy="960120"/>
            <a:chOff x="0" y="0"/>
            <a:chExt cx="2743200" cy="1280160"/>
          </a:xfrm>
        </p:grpSpPr>
        <p:sp>
          <p:nvSpPr>
            <p:cNvPr name="Freeform 22" id="22"/>
            <p:cNvSpPr/>
            <p:nvPr/>
          </p:nvSpPr>
          <p:spPr>
            <a:xfrm flipH="false" flipV="false" rot="0">
              <a:off x="0" y="0"/>
              <a:ext cx="2743200" cy="1280160"/>
            </a:xfrm>
            <a:custGeom>
              <a:avLst/>
              <a:gdLst/>
              <a:ahLst/>
              <a:cxnLst/>
              <a:rect r="r" b="b" t="t" l="l"/>
              <a:pathLst>
                <a:path h="1280160" w="2743200">
                  <a:moveTo>
                    <a:pt x="0" y="0"/>
                  </a:moveTo>
                  <a:lnTo>
                    <a:pt x="2743200" y="0"/>
                  </a:lnTo>
                  <a:lnTo>
                    <a:pt x="2743200" y="1280160"/>
                  </a:lnTo>
                  <a:lnTo>
                    <a:pt x="0" y="1280160"/>
                  </a:lnTo>
                  <a:close/>
                </a:path>
              </a:pathLst>
            </a:custGeom>
            <a:blipFill>
              <a:blip r:embed="rId2">
                <a:alphaModFix amt="0"/>
              </a:blip>
              <a:stretch>
                <a:fillRect l="-9874" t="0" r="-9874" b="0"/>
              </a:stretch>
            </a:blipFill>
          </p:spPr>
        </p:sp>
        <p:sp>
          <p:nvSpPr>
            <p:cNvPr name="TextBox 23" id="23"/>
            <p:cNvSpPr txBox="true"/>
            <p:nvPr/>
          </p:nvSpPr>
          <p:spPr>
            <a:xfrm>
              <a:off x="0" y="-19050"/>
              <a:ext cx="2743200" cy="1299210"/>
            </a:xfrm>
            <a:prstGeom prst="rect">
              <a:avLst/>
            </a:prstGeom>
          </p:spPr>
          <p:txBody>
            <a:bodyPr anchor="ctr" rtlCol="false" tIns="0" lIns="0" bIns="0" rIns="0"/>
            <a:lstStyle/>
            <a:p>
              <a:pPr algn="l">
                <a:lnSpc>
                  <a:spcPts val="5400"/>
                </a:lnSpc>
              </a:pPr>
              <a:r>
                <a:rPr lang="en-US" sz="4500" b="true">
                  <a:solidFill>
                    <a:srgbClr val="2F5DFF"/>
                  </a:solidFill>
                  <a:latin typeface="Cambria Bold"/>
                  <a:ea typeface="Cambria Bold"/>
                  <a:cs typeface="Cambria Bold"/>
                  <a:sym typeface="Cambria Bold"/>
                </a:rPr>
                <a:t>02</a:t>
              </a:r>
            </a:p>
          </p:txBody>
        </p:sp>
      </p:grpSp>
      <p:grpSp>
        <p:nvGrpSpPr>
          <p:cNvPr name="Group 24" id="24"/>
          <p:cNvGrpSpPr/>
          <p:nvPr/>
        </p:nvGrpSpPr>
        <p:grpSpPr>
          <a:xfrm rot="0">
            <a:off x="6926580" y="4320540"/>
            <a:ext cx="4594860" cy="822960"/>
            <a:chOff x="0" y="0"/>
            <a:chExt cx="6126480" cy="1097280"/>
          </a:xfrm>
        </p:grpSpPr>
        <p:sp>
          <p:nvSpPr>
            <p:cNvPr name="Freeform 25" id="25"/>
            <p:cNvSpPr/>
            <p:nvPr/>
          </p:nvSpPr>
          <p:spPr>
            <a:xfrm flipH="false" flipV="false" rot="0">
              <a:off x="0" y="0"/>
              <a:ext cx="6126480" cy="1097280"/>
            </a:xfrm>
            <a:custGeom>
              <a:avLst/>
              <a:gdLst/>
              <a:ahLst/>
              <a:cxnLst/>
              <a:rect r="r" b="b" t="t" l="l"/>
              <a:pathLst>
                <a:path h="1097280" w="6126480">
                  <a:moveTo>
                    <a:pt x="0" y="0"/>
                  </a:moveTo>
                  <a:lnTo>
                    <a:pt x="6126480" y="0"/>
                  </a:lnTo>
                  <a:lnTo>
                    <a:pt x="6126480" y="1097280"/>
                  </a:lnTo>
                  <a:lnTo>
                    <a:pt x="0" y="1097280"/>
                  </a:lnTo>
                  <a:close/>
                </a:path>
              </a:pathLst>
            </a:custGeom>
            <a:blipFill>
              <a:blip r:embed="rId2">
                <a:alphaModFix amt="0"/>
              </a:blip>
              <a:stretch>
                <a:fillRect l="0" t="-58791" r="0" b="-58791"/>
              </a:stretch>
            </a:blipFill>
          </p:spPr>
        </p:sp>
        <p:sp>
          <p:nvSpPr>
            <p:cNvPr name="TextBox 26" id="26"/>
            <p:cNvSpPr txBox="true"/>
            <p:nvPr/>
          </p:nvSpPr>
          <p:spPr>
            <a:xfrm>
              <a:off x="0" y="-19050"/>
              <a:ext cx="6126480" cy="1116330"/>
            </a:xfrm>
            <a:prstGeom prst="rect">
              <a:avLst/>
            </a:prstGeom>
          </p:spPr>
          <p:txBody>
            <a:bodyPr anchor="ctr" rtlCol="false" tIns="0" lIns="0" bIns="0" rIns="0"/>
            <a:lstStyle/>
            <a:p>
              <a:pPr algn="l">
                <a:lnSpc>
                  <a:spcPts val="3240"/>
                </a:lnSpc>
              </a:pPr>
              <a:r>
                <a:rPr lang="en-US" sz="2700" b="true">
                  <a:solidFill>
                    <a:srgbClr val="0E1220"/>
                  </a:solidFill>
                  <a:latin typeface="Cambria Bold"/>
                  <a:ea typeface="Cambria Bold"/>
                  <a:cs typeface="Cambria Bold"/>
                  <a:sym typeface="Cambria Bold"/>
                </a:rPr>
                <a:t>AutoML + NAS</a:t>
              </a:r>
            </a:p>
          </p:txBody>
        </p:sp>
      </p:grpSp>
      <p:grpSp>
        <p:nvGrpSpPr>
          <p:cNvPr name="Group 27" id="27"/>
          <p:cNvGrpSpPr/>
          <p:nvPr/>
        </p:nvGrpSpPr>
        <p:grpSpPr>
          <a:xfrm rot="0">
            <a:off x="6926580" y="5143500"/>
            <a:ext cx="4594860" cy="2606040"/>
            <a:chOff x="0" y="0"/>
            <a:chExt cx="6126480" cy="3474720"/>
          </a:xfrm>
        </p:grpSpPr>
        <p:sp>
          <p:nvSpPr>
            <p:cNvPr name="Freeform 28" id="28"/>
            <p:cNvSpPr/>
            <p:nvPr/>
          </p:nvSpPr>
          <p:spPr>
            <a:xfrm flipH="false" flipV="false" rot="0">
              <a:off x="0" y="0"/>
              <a:ext cx="6126480" cy="3474720"/>
            </a:xfrm>
            <a:custGeom>
              <a:avLst/>
              <a:gdLst/>
              <a:ahLst/>
              <a:cxnLst/>
              <a:rect r="r" b="b" t="t" l="l"/>
              <a:pathLst>
                <a:path h="3474720" w="6126480">
                  <a:moveTo>
                    <a:pt x="0" y="0"/>
                  </a:moveTo>
                  <a:lnTo>
                    <a:pt x="6126480" y="0"/>
                  </a:lnTo>
                  <a:lnTo>
                    <a:pt x="6126480" y="3474720"/>
                  </a:lnTo>
                  <a:lnTo>
                    <a:pt x="0" y="3474720"/>
                  </a:lnTo>
                  <a:close/>
                </a:path>
              </a:pathLst>
            </a:custGeom>
            <a:blipFill>
              <a:blip r:embed="rId2">
                <a:alphaModFix amt="0"/>
              </a:blip>
              <a:stretch>
                <a:fillRect l="-22769" t="0" r="-22769" b="0"/>
              </a:stretch>
            </a:blipFill>
          </p:spPr>
        </p:sp>
        <p:sp>
          <p:nvSpPr>
            <p:cNvPr name="TextBox 29" id="29"/>
            <p:cNvSpPr txBox="true"/>
            <p:nvPr/>
          </p:nvSpPr>
          <p:spPr>
            <a:xfrm>
              <a:off x="0" y="-85725"/>
              <a:ext cx="6126480" cy="3560445"/>
            </a:xfrm>
            <a:prstGeom prst="rect">
              <a:avLst/>
            </a:prstGeom>
          </p:spPr>
          <p:txBody>
            <a:bodyPr anchor="ctr" rtlCol="false" tIns="0" lIns="0" bIns="0" rIns="0"/>
            <a:lstStyle/>
            <a:p>
              <a:pPr algn="l">
                <a:lnSpc>
                  <a:spcPts val="2700"/>
                </a:lnSpc>
              </a:pPr>
              <a:r>
                <a:rPr lang="en-US" sz="1875">
                  <a:solidFill>
                    <a:srgbClr val="6B7280"/>
                  </a:solidFill>
                  <a:latin typeface="Calibri (MS)"/>
                  <a:ea typeface="Calibri (MS)"/>
                  <a:cs typeface="Calibri (MS)"/>
                  <a:sym typeface="Calibri (MS)"/>
                </a:rPr>
                <a:t>Búsqueda automática de un modelo simple y de la arquitectura óptima de la DNN.</a:t>
              </a:r>
            </a:p>
          </p:txBody>
        </p:sp>
      </p:grpSp>
      <p:grpSp>
        <p:nvGrpSpPr>
          <p:cNvPr name="Group 30" id="30"/>
          <p:cNvGrpSpPr/>
          <p:nvPr/>
        </p:nvGrpSpPr>
        <p:grpSpPr>
          <a:xfrm rot="0">
            <a:off x="12334875" y="2870835"/>
            <a:ext cx="5299710" cy="5368290"/>
            <a:chOff x="0" y="0"/>
            <a:chExt cx="7066280" cy="7157720"/>
          </a:xfrm>
        </p:grpSpPr>
        <p:sp>
          <p:nvSpPr>
            <p:cNvPr name="Freeform 31" id="31"/>
            <p:cNvSpPr/>
            <p:nvPr/>
          </p:nvSpPr>
          <p:spPr>
            <a:xfrm flipH="false" flipV="false" rot="0">
              <a:off x="0" y="0"/>
              <a:ext cx="7066280" cy="7157720"/>
            </a:xfrm>
            <a:custGeom>
              <a:avLst/>
              <a:gdLst/>
              <a:ahLst/>
              <a:cxnLst/>
              <a:rect r="r" b="b" t="t" l="l"/>
              <a:pathLst>
                <a:path h="7157720" w="7066280">
                  <a:moveTo>
                    <a:pt x="0" y="146812"/>
                  </a:moveTo>
                  <a:cubicBezTo>
                    <a:pt x="0" y="65786"/>
                    <a:pt x="65786" y="0"/>
                    <a:pt x="146812" y="0"/>
                  </a:cubicBezTo>
                  <a:lnTo>
                    <a:pt x="6919468" y="0"/>
                  </a:lnTo>
                  <a:cubicBezTo>
                    <a:pt x="7000622" y="0"/>
                    <a:pt x="7066280" y="65786"/>
                    <a:pt x="7066280" y="146812"/>
                  </a:cubicBezTo>
                  <a:lnTo>
                    <a:pt x="7066280" y="7010908"/>
                  </a:lnTo>
                  <a:cubicBezTo>
                    <a:pt x="7066280" y="7092061"/>
                    <a:pt x="7000494" y="7157720"/>
                    <a:pt x="6919468" y="7157720"/>
                  </a:cubicBezTo>
                  <a:lnTo>
                    <a:pt x="146812" y="7157720"/>
                  </a:lnTo>
                  <a:cubicBezTo>
                    <a:pt x="65786" y="7157720"/>
                    <a:pt x="0" y="7091934"/>
                    <a:pt x="0" y="7010908"/>
                  </a:cubicBezTo>
                  <a:close/>
                </a:path>
              </a:pathLst>
            </a:custGeom>
            <a:solidFill>
              <a:srgbClr val="FFFFFF"/>
            </a:solidFill>
            <a:ln w="19050" cap="sq">
              <a:solidFill>
                <a:srgbClr val="E3E6F0"/>
              </a:solidFill>
              <a:prstDash val="solid"/>
              <a:miter/>
            </a:ln>
          </p:spPr>
        </p:sp>
      </p:grpSp>
      <p:grpSp>
        <p:nvGrpSpPr>
          <p:cNvPr name="Group 32" id="32"/>
          <p:cNvGrpSpPr/>
          <p:nvPr/>
        </p:nvGrpSpPr>
        <p:grpSpPr>
          <a:xfrm rot="0">
            <a:off x="12687300" y="3223260"/>
            <a:ext cx="2057400" cy="960120"/>
            <a:chOff x="0" y="0"/>
            <a:chExt cx="2743200" cy="1280160"/>
          </a:xfrm>
        </p:grpSpPr>
        <p:sp>
          <p:nvSpPr>
            <p:cNvPr name="Freeform 33" id="33"/>
            <p:cNvSpPr/>
            <p:nvPr/>
          </p:nvSpPr>
          <p:spPr>
            <a:xfrm flipH="false" flipV="false" rot="0">
              <a:off x="0" y="0"/>
              <a:ext cx="2743200" cy="1280160"/>
            </a:xfrm>
            <a:custGeom>
              <a:avLst/>
              <a:gdLst/>
              <a:ahLst/>
              <a:cxnLst/>
              <a:rect r="r" b="b" t="t" l="l"/>
              <a:pathLst>
                <a:path h="1280160" w="2743200">
                  <a:moveTo>
                    <a:pt x="0" y="0"/>
                  </a:moveTo>
                  <a:lnTo>
                    <a:pt x="2743200" y="0"/>
                  </a:lnTo>
                  <a:lnTo>
                    <a:pt x="2743200" y="1280160"/>
                  </a:lnTo>
                  <a:lnTo>
                    <a:pt x="0" y="1280160"/>
                  </a:lnTo>
                  <a:close/>
                </a:path>
              </a:pathLst>
            </a:custGeom>
            <a:blipFill>
              <a:blip r:embed="rId2">
                <a:alphaModFix amt="0"/>
              </a:blip>
              <a:stretch>
                <a:fillRect l="-9874" t="0" r="-9874" b="0"/>
              </a:stretch>
            </a:blipFill>
          </p:spPr>
        </p:sp>
        <p:sp>
          <p:nvSpPr>
            <p:cNvPr name="TextBox 34" id="34"/>
            <p:cNvSpPr txBox="true"/>
            <p:nvPr/>
          </p:nvSpPr>
          <p:spPr>
            <a:xfrm>
              <a:off x="0" y="-19050"/>
              <a:ext cx="2743200" cy="1299210"/>
            </a:xfrm>
            <a:prstGeom prst="rect">
              <a:avLst/>
            </a:prstGeom>
          </p:spPr>
          <p:txBody>
            <a:bodyPr anchor="ctr" rtlCol="false" tIns="0" lIns="0" bIns="0" rIns="0"/>
            <a:lstStyle/>
            <a:p>
              <a:pPr algn="l">
                <a:lnSpc>
                  <a:spcPts val="5400"/>
                </a:lnSpc>
              </a:pPr>
              <a:r>
                <a:rPr lang="en-US" sz="4500" b="true">
                  <a:solidFill>
                    <a:srgbClr val="FF5C5C"/>
                  </a:solidFill>
                  <a:latin typeface="Cambria Bold"/>
                  <a:ea typeface="Cambria Bold"/>
                  <a:cs typeface="Cambria Bold"/>
                  <a:sym typeface="Cambria Bold"/>
                </a:rPr>
                <a:t>03</a:t>
              </a:r>
            </a:p>
          </p:txBody>
        </p:sp>
      </p:grpSp>
      <p:grpSp>
        <p:nvGrpSpPr>
          <p:cNvPr name="Group 35" id="35"/>
          <p:cNvGrpSpPr/>
          <p:nvPr/>
        </p:nvGrpSpPr>
        <p:grpSpPr>
          <a:xfrm rot="0">
            <a:off x="12687300" y="4320540"/>
            <a:ext cx="4594860" cy="822960"/>
            <a:chOff x="0" y="0"/>
            <a:chExt cx="6126480" cy="1097280"/>
          </a:xfrm>
        </p:grpSpPr>
        <p:sp>
          <p:nvSpPr>
            <p:cNvPr name="Freeform 36" id="36"/>
            <p:cNvSpPr/>
            <p:nvPr/>
          </p:nvSpPr>
          <p:spPr>
            <a:xfrm flipH="false" flipV="false" rot="0">
              <a:off x="0" y="0"/>
              <a:ext cx="6126480" cy="1097280"/>
            </a:xfrm>
            <a:custGeom>
              <a:avLst/>
              <a:gdLst/>
              <a:ahLst/>
              <a:cxnLst/>
              <a:rect r="r" b="b" t="t" l="l"/>
              <a:pathLst>
                <a:path h="1097280" w="6126480">
                  <a:moveTo>
                    <a:pt x="0" y="0"/>
                  </a:moveTo>
                  <a:lnTo>
                    <a:pt x="6126480" y="0"/>
                  </a:lnTo>
                  <a:lnTo>
                    <a:pt x="6126480" y="1097280"/>
                  </a:lnTo>
                  <a:lnTo>
                    <a:pt x="0" y="1097280"/>
                  </a:lnTo>
                  <a:close/>
                </a:path>
              </a:pathLst>
            </a:custGeom>
            <a:blipFill>
              <a:blip r:embed="rId2">
                <a:alphaModFix amt="0"/>
              </a:blip>
              <a:stretch>
                <a:fillRect l="0" t="-58791" r="0" b="-58791"/>
              </a:stretch>
            </a:blipFill>
          </p:spPr>
        </p:sp>
        <p:sp>
          <p:nvSpPr>
            <p:cNvPr name="TextBox 37" id="37"/>
            <p:cNvSpPr txBox="true"/>
            <p:nvPr/>
          </p:nvSpPr>
          <p:spPr>
            <a:xfrm>
              <a:off x="0" y="-19050"/>
              <a:ext cx="6126480" cy="1116330"/>
            </a:xfrm>
            <a:prstGeom prst="rect">
              <a:avLst/>
            </a:prstGeom>
          </p:spPr>
          <p:txBody>
            <a:bodyPr anchor="ctr" rtlCol="false" tIns="0" lIns="0" bIns="0" rIns="0"/>
            <a:lstStyle/>
            <a:p>
              <a:pPr algn="l">
                <a:lnSpc>
                  <a:spcPts val="3240"/>
                </a:lnSpc>
              </a:pPr>
              <a:r>
                <a:rPr lang="en-US" sz="2700" b="true">
                  <a:solidFill>
                    <a:srgbClr val="0E1220"/>
                  </a:solidFill>
                  <a:latin typeface="Cambria Bold"/>
                  <a:ea typeface="Cambria Bold"/>
                  <a:cs typeface="Cambria Bold"/>
                  <a:sym typeface="Cambria Bold"/>
                </a:rPr>
                <a:t>Datos sintéticos</a:t>
              </a:r>
            </a:p>
          </p:txBody>
        </p:sp>
      </p:grpSp>
      <p:grpSp>
        <p:nvGrpSpPr>
          <p:cNvPr name="Group 38" id="38"/>
          <p:cNvGrpSpPr/>
          <p:nvPr/>
        </p:nvGrpSpPr>
        <p:grpSpPr>
          <a:xfrm rot="0">
            <a:off x="12687300" y="5143500"/>
            <a:ext cx="4594860" cy="2606040"/>
            <a:chOff x="0" y="0"/>
            <a:chExt cx="6126480" cy="3474720"/>
          </a:xfrm>
        </p:grpSpPr>
        <p:sp>
          <p:nvSpPr>
            <p:cNvPr name="Freeform 39" id="39"/>
            <p:cNvSpPr/>
            <p:nvPr/>
          </p:nvSpPr>
          <p:spPr>
            <a:xfrm flipH="false" flipV="false" rot="0">
              <a:off x="0" y="0"/>
              <a:ext cx="6126480" cy="3474720"/>
            </a:xfrm>
            <a:custGeom>
              <a:avLst/>
              <a:gdLst/>
              <a:ahLst/>
              <a:cxnLst/>
              <a:rect r="r" b="b" t="t" l="l"/>
              <a:pathLst>
                <a:path h="3474720" w="6126480">
                  <a:moveTo>
                    <a:pt x="0" y="0"/>
                  </a:moveTo>
                  <a:lnTo>
                    <a:pt x="6126480" y="0"/>
                  </a:lnTo>
                  <a:lnTo>
                    <a:pt x="6126480" y="3474720"/>
                  </a:lnTo>
                  <a:lnTo>
                    <a:pt x="0" y="3474720"/>
                  </a:lnTo>
                  <a:close/>
                </a:path>
              </a:pathLst>
            </a:custGeom>
            <a:blipFill>
              <a:blip r:embed="rId2">
                <a:alphaModFix amt="0"/>
              </a:blip>
              <a:stretch>
                <a:fillRect l="-22769" t="0" r="-22769" b="0"/>
              </a:stretch>
            </a:blipFill>
          </p:spPr>
        </p:sp>
        <p:sp>
          <p:nvSpPr>
            <p:cNvPr name="TextBox 40" id="40"/>
            <p:cNvSpPr txBox="true"/>
            <p:nvPr/>
          </p:nvSpPr>
          <p:spPr>
            <a:xfrm>
              <a:off x="0" y="-85725"/>
              <a:ext cx="6126480" cy="3560445"/>
            </a:xfrm>
            <a:prstGeom prst="rect">
              <a:avLst/>
            </a:prstGeom>
          </p:spPr>
          <p:txBody>
            <a:bodyPr anchor="ctr" rtlCol="false" tIns="0" lIns="0" bIns="0" rIns="0"/>
            <a:lstStyle/>
            <a:p>
              <a:pPr algn="l">
                <a:lnSpc>
                  <a:spcPts val="2700"/>
                </a:lnSpc>
              </a:pPr>
              <a:r>
                <a:rPr lang="en-US" sz="1875">
                  <a:solidFill>
                    <a:srgbClr val="6B7280"/>
                  </a:solidFill>
                  <a:latin typeface="Calibri (MS)"/>
                  <a:ea typeface="Calibri (MS)"/>
                  <a:cs typeface="Calibri (MS)"/>
                  <a:sym typeface="Calibri (MS)"/>
                </a:rPr>
                <a:t>Generación con TVAE, evaluación de fidelidad y su efecto al aumentar el entrenamiento.</a:t>
              </a:r>
            </a:p>
          </p:txBody>
        </p:sp>
      </p:grpSp>
      <p:grpSp>
        <p:nvGrpSpPr>
          <p:cNvPr name="Group 41" id="41"/>
          <p:cNvGrpSpPr/>
          <p:nvPr/>
        </p:nvGrpSpPr>
        <p:grpSpPr>
          <a:xfrm rot="0">
            <a:off x="822960" y="8709660"/>
            <a:ext cx="16596360" cy="548640"/>
            <a:chOff x="0" y="0"/>
            <a:chExt cx="22128480" cy="731520"/>
          </a:xfrm>
        </p:grpSpPr>
        <p:sp>
          <p:nvSpPr>
            <p:cNvPr name="Freeform 42" id="42"/>
            <p:cNvSpPr/>
            <p:nvPr/>
          </p:nvSpPr>
          <p:spPr>
            <a:xfrm flipH="false" flipV="false" rot="0">
              <a:off x="0" y="0"/>
              <a:ext cx="22128480" cy="731520"/>
            </a:xfrm>
            <a:custGeom>
              <a:avLst/>
              <a:gdLst/>
              <a:ahLst/>
              <a:cxnLst/>
              <a:rect r="r" b="b" t="t" l="l"/>
              <a:pathLst>
                <a:path h="731520" w="22128480">
                  <a:moveTo>
                    <a:pt x="0" y="0"/>
                  </a:moveTo>
                  <a:lnTo>
                    <a:pt x="22128480" y="0"/>
                  </a:lnTo>
                  <a:lnTo>
                    <a:pt x="22128480" y="731520"/>
                  </a:lnTo>
                  <a:lnTo>
                    <a:pt x="0" y="731520"/>
                  </a:lnTo>
                  <a:close/>
                </a:path>
              </a:pathLst>
            </a:custGeom>
            <a:blipFill>
              <a:blip r:embed="rId2">
                <a:alphaModFix amt="0"/>
              </a:blip>
              <a:stretch>
                <a:fillRect l="0" t="-539422" r="0" b="-539422"/>
              </a:stretch>
            </a:blipFill>
          </p:spPr>
        </p:sp>
        <p:sp>
          <p:nvSpPr>
            <p:cNvPr name="TextBox 43" id="43"/>
            <p:cNvSpPr txBox="true"/>
            <p:nvPr/>
          </p:nvSpPr>
          <p:spPr>
            <a:xfrm>
              <a:off x="0" y="-38100"/>
              <a:ext cx="22128480" cy="769620"/>
            </a:xfrm>
            <a:prstGeom prst="rect">
              <a:avLst/>
            </a:prstGeom>
          </p:spPr>
          <p:txBody>
            <a:bodyPr anchor="ctr" rtlCol="false" tIns="0" lIns="0" bIns="0" rIns="0"/>
            <a:lstStyle/>
            <a:p>
              <a:pPr algn="l">
                <a:lnSpc>
                  <a:spcPts val="2070"/>
                </a:lnSpc>
              </a:pPr>
              <a:r>
                <a:rPr lang="en-US" sz="1725" i="true">
                  <a:solidFill>
                    <a:srgbClr val="6B7280"/>
                  </a:solidFill>
                  <a:latin typeface="Calibri (MS) Italics"/>
                  <a:ea typeface="Calibri (MS) Italics"/>
                  <a:cs typeface="Calibri (MS) Italics"/>
                  <a:sym typeface="Calibri (MS) Italics"/>
                </a:rPr>
                <a:t>Dataset: CIC-IDS2017</a:t>
              </a:r>
            </a:p>
          </p:txBody>
        </p:sp>
      </p:grpSp>
      <p:grpSp>
        <p:nvGrpSpPr>
          <p:cNvPr name="Group 44" id="44"/>
          <p:cNvGrpSpPr/>
          <p:nvPr/>
        </p:nvGrpSpPr>
        <p:grpSpPr>
          <a:xfrm rot="0">
            <a:off x="17053103" y="9601200"/>
            <a:ext cx="822960" cy="411480"/>
            <a:chOff x="0" y="0"/>
            <a:chExt cx="1097280" cy="548640"/>
          </a:xfrm>
        </p:grpSpPr>
        <p:sp>
          <p:nvSpPr>
            <p:cNvPr name="Freeform 45" id="45"/>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46" id="46"/>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02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CONTEXTO DE LA TAREA</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¿Cuándo se justifica pagar el costo de una DNN?</a:t>
              </a:r>
            </a:p>
          </p:txBody>
        </p:sp>
      </p:grpSp>
      <p:grpSp>
        <p:nvGrpSpPr>
          <p:cNvPr name="Group 8" id="8"/>
          <p:cNvGrpSpPr/>
          <p:nvPr/>
        </p:nvGrpSpPr>
        <p:grpSpPr>
          <a:xfrm rot="0">
            <a:off x="822960" y="2400300"/>
            <a:ext cx="9601200" cy="2331720"/>
            <a:chOff x="0" y="0"/>
            <a:chExt cx="12801600" cy="3108960"/>
          </a:xfrm>
        </p:grpSpPr>
        <p:sp>
          <p:nvSpPr>
            <p:cNvPr name="Freeform 9" id="9"/>
            <p:cNvSpPr/>
            <p:nvPr/>
          </p:nvSpPr>
          <p:spPr>
            <a:xfrm flipH="false" flipV="false" rot="0">
              <a:off x="0" y="0"/>
              <a:ext cx="12801600" cy="3108960"/>
            </a:xfrm>
            <a:custGeom>
              <a:avLst/>
              <a:gdLst/>
              <a:ahLst/>
              <a:cxnLst/>
              <a:rect r="r" b="b" t="t" l="l"/>
              <a:pathLst>
                <a:path h="3108960" w="12801600">
                  <a:moveTo>
                    <a:pt x="0" y="0"/>
                  </a:moveTo>
                  <a:lnTo>
                    <a:pt x="12801600" y="0"/>
                  </a:lnTo>
                  <a:lnTo>
                    <a:pt x="12801600" y="3108960"/>
                  </a:lnTo>
                  <a:lnTo>
                    <a:pt x="0" y="3108960"/>
                  </a:lnTo>
                  <a:close/>
                </a:path>
              </a:pathLst>
            </a:custGeom>
            <a:blipFill>
              <a:blip r:embed="rId2">
                <a:alphaModFix amt="0"/>
              </a:blip>
              <a:stretch>
                <a:fillRect l="0" t="-30232" r="0" b="-30232"/>
              </a:stretch>
            </a:blipFill>
          </p:spPr>
        </p:sp>
        <p:sp>
          <p:nvSpPr>
            <p:cNvPr name="TextBox 10" id="10"/>
            <p:cNvSpPr txBox="true"/>
            <p:nvPr/>
          </p:nvSpPr>
          <p:spPr>
            <a:xfrm>
              <a:off x="0" y="-104775"/>
              <a:ext cx="12801600" cy="3213735"/>
            </a:xfrm>
            <a:prstGeom prst="rect">
              <a:avLst/>
            </a:prstGeom>
          </p:spPr>
          <p:txBody>
            <a:bodyPr anchor="ctr" rtlCol="false" tIns="0" lIns="0" bIns="0" rIns="0"/>
            <a:lstStyle/>
            <a:p>
              <a:pPr algn="l">
                <a:lnSpc>
                  <a:spcPts val="3262"/>
                </a:lnSpc>
              </a:pPr>
              <a:r>
                <a:rPr lang="en-US" sz="2175">
                  <a:solidFill>
                    <a:srgbClr val="0E1220"/>
                  </a:solidFill>
                  <a:latin typeface="Calibri (MS)"/>
                  <a:ea typeface="Calibri (MS)"/>
                  <a:cs typeface="Calibri (MS)"/>
                  <a:sym typeface="Calibri (MS)"/>
                </a:rPr>
                <a:t>El enunciado pide construir evidencia empírica, no solo intuición, para responder si una red profunda es necesaria frente a alternativas más simples, y si el diseño manual aporta algo que AutoML/NAS no logran por sí solos.</a:t>
              </a:r>
            </a:p>
          </p:txBody>
        </p:sp>
      </p:grpSp>
      <p:grpSp>
        <p:nvGrpSpPr>
          <p:cNvPr name="Group 11" id="11"/>
          <p:cNvGrpSpPr/>
          <p:nvPr/>
        </p:nvGrpSpPr>
        <p:grpSpPr>
          <a:xfrm rot="0">
            <a:off x="822960" y="4869180"/>
            <a:ext cx="548640" cy="548640"/>
            <a:chOff x="0" y="0"/>
            <a:chExt cx="731520" cy="731520"/>
          </a:xfrm>
        </p:grpSpPr>
        <p:sp>
          <p:nvSpPr>
            <p:cNvPr name="Freeform 12" id="12"/>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1B2340"/>
            </a:solidFill>
          </p:spPr>
        </p:sp>
      </p:grpSp>
      <p:grpSp>
        <p:nvGrpSpPr>
          <p:cNvPr name="Group 13" id="13"/>
          <p:cNvGrpSpPr/>
          <p:nvPr/>
        </p:nvGrpSpPr>
        <p:grpSpPr>
          <a:xfrm rot="0">
            <a:off x="822960" y="4869180"/>
            <a:ext cx="548640" cy="548640"/>
            <a:chOff x="0" y="0"/>
            <a:chExt cx="731520" cy="731520"/>
          </a:xfrm>
        </p:grpSpPr>
        <p:sp>
          <p:nvSpPr>
            <p:cNvPr name="Freeform 14" id="14"/>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15" id="15"/>
            <p:cNvSpPr txBox="true"/>
            <p:nvPr/>
          </p:nvSpPr>
          <p:spPr>
            <a:xfrm>
              <a:off x="0" y="-38100"/>
              <a:ext cx="731520" cy="769620"/>
            </a:xfrm>
            <a:prstGeom prst="rect">
              <a:avLst/>
            </a:prstGeom>
          </p:spPr>
          <p:txBody>
            <a:bodyPr anchor="ctr" rtlCol="false" tIns="0" lIns="0" bIns="0" rIns="0"/>
            <a:lstStyle/>
            <a:p>
              <a:pPr algn="ctr">
                <a:lnSpc>
                  <a:spcPts val="2879"/>
                </a:lnSpc>
              </a:pPr>
              <a:r>
                <a:rPr lang="en-US" sz="2400" b="true">
                  <a:solidFill>
                    <a:srgbClr val="00D1B2"/>
                  </a:solidFill>
                  <a:latin typeface="Calibri (MS) Bold"/>
                  <a:ea typeface="Calibri (MS) Bold"/>
                  <a:cs typeface="Calibri (MS) Bold"/>
                  <a:sym typeface="Calibri (MS) Bold"/>
                </a:rPr>
                <a:t>?</a:t>
              </a:r>
            </a:p>
          </p:txBody>
        </p:sp>
      </p:grpSp>
      <p:grpSp>
        <p:nvGrpSpPr>
          <p:cNvPr name="Group 16" id="16"/>
          <p:cNvGrpSpPr/>
          <p:nvPr/>
        </p:nvGrpSpPr>
        <p:grpSpPr>
          <a:xfrm rot="0">
            <a:off x="1645920" y="4759452"/>
            <a:ext cx="8778240" cy="960120"/>
            <a:chOff x="0" y="0"/>
            <a:chExt cx="11704320" cy="1280160"/>
          </a:xfrm>
        </p:grpSpPr>
        <p:sp>
          <p:nvSpPr>
            <p:cNvPr name="Freeform 17" id="17"/>
            <p:cNvSpPr/>
            <p:nvPr/>
          </p:nvSpPr>
          <p:spPr>
            <a:xfrm flipH="false" flipV="false" rot="0">
              <a:off x="0" y="0"/>
              <a:ext cx="11704320" cy="1280160"/>
            </a:xfrm>
            <a:custGeom>
              <a:avLst/>
              <a:gdLst/>
              <a:ahLst/>
              <a:cxnLst/>
              <a:rect r="r" b="b" t="t" l="l"/>
              <a:pathLst>
                <a:path h="1280160" w="11704320">
                  <a:moveTo>
                    <a:pt x="0" y="0"/>
                  </a:moveTo>
                  <a:lnTo>
                    <a:pt x="11704320" y="0"/>
                  </a:lnTo>
                  <a:lnTo>
                    <a:pt x="11704320" y="1280160"/>
                  </a:lnTo>
                  <a:lnTo>
                    <a:pt x="0" y="1280160"/>
                  </a:lnTo>
                  <a:close/>
                </a:path>
              </a:pathLst>
            </a:custGeom>
            <a:blipFill>
              <a:blip r:embed="rId2">
                <a:alphaModFix amt="0"/>
              </a:blip>
              <a:stretch>
                <a:fillRect l="0" t="-128148" r="0" b="-128148"/>
              </a:stretch>
            </a:blipFill>
          </p:spPr>
        </p:sp>
        <p:sp>
          <p:nvSpPr>
            <p:cNvPr name="TextBox 18" id="18"/>
            <p:cNvSpPr txBox="true"/>
            <p:nvPr/>
          </p:nvSpPr>
          <p:spPr>
            <a:xfrm>
              <a:off x="0" y="-38100"/>
              <a:ext cx="11704320" cy="1318260"/>
            </a:xfrm>
            <a:prstGeom prst="rect">
              <a:avLst/>
            </a:prstGeom>
          </p:spPr>
          <p:txBody>
            <a:bodyPr anchor="ctr" rtlCol="false" tIns="0" lIns="0" bIns="0" rIns="0"/>
            <a:lstStyle/>
            <a:p>
              <a:pPr algn="l">
                <a:lnSpc>
                  <a:spcPts val="2250"/>
                </a:lnSpc>
              </a:pPr>
              <a:r>
                <a:rPr lang="en-US" sz="1875">
                  <a:solidFill>
                    <a:srgbClr val="0E1220"/>
                  </a:solidFill>
                  <a:latin typeface="Calibri (MS)"/>
                  <a:ea typeface="Calibri (MS)"/>
                  <a:cs typeface="Calibri (MS)"/>
                  <a:sym typeface="Calibri (MS)"/>
                </a:rPr>
                <a:t>¿Los modelos clásicos ya alcanzan el techo del problema, o hay evidencia de relaciones no lineales que los limitan?</a:t>
              </a:r>
            </a:p>
          </p:txBody>
        </p:sp>
      </p:grpSp>
      <p:grpSp>
        <p:nvGrpSpPr>
          <p:cNvPr name="Group 19" id="19"/>
          <p:cNvGrpSpPr/>
          <p:nvPr/>
        </p:nvGrpSpPr>
        <p:grpSpPr>
          <a:xfrm rot="0">
            <a:off x="822960" y="6035040"/>
            <a:ext cx="548640" cy="548640"/>
            <a:chOff x="0" y="0"/>
            <a:chExt cx="731520" cy="731520"/>
          </a:xfrm>
        </p:grpSpPr>
        <p:sp>
          <p:nvSpPr>
            <p:cNvPr name="Freeform 20" id="20"/>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1B2340"/>
            </a:solidFill>
          </p:spPr>
        </p:sp>
      </p:grpSp>
      <p:grpSp>
        <p:nvGrpSpPr>
          <p:cNvPr name="Group 21" id="21"/>
          <p:cNvGrpSpPr/>
          <p:nvPr/>
        </p:nvGrpSpPr>
        <p:grpSpPr>
          <a:xfrm rot="0">
            <a:off x="822960" y="6035040"/>
            <a:ext cx="548640" cy="548640"/>
            <a:chOff x="0" y="0"/>
            <a:chExt cx="731520" cy="731520"/>
          </a:xfrm>
        </p:grpSpPr>
        <p:sp>
          <p:nvSpPr>
            <p:cNvPr name="Freeform 22" id="22"/>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23" id="23"/>
            <p:cNvSpPr txBox="true"/>
            <p:nvPr/>
          </p:nvSpPr>
          <p:spPr>
            <a:xfrm>
              <a:off x="0" y="-38100"/>
              <a:ext cx="731520" cy="769620"/>
            </a:xfrm>
            <a:prstGeom prst="rect">
              <a:avLst/>
            </a:prstGeom>
          </p:spPr>
          <p:txBody>
            <a:bodyPr anchor="ctr" rtlCol="false" tIns="0" lIns="0" bIns="0" rIns="0"/>
            <a:lstStyle/>
            <a:p>
              <a:pPr algn="ctr">
                <a:lnSpc>
                  <a:spcPts val="2879"/>
                </a:lnSpc>
              </a:pPr>
              <a:r>
                <a:rPr lang="en-US" sz="2400" b="true">
                  <a:solidFill>
                    <a:srgbClr val="00D1B2"/>
                  </a:solidFill>
                  <a:latin typeface="Calibri (MS) Bold"/>
                  <a:ea typeface="Calibri (MS) Bold"/>
                  <a:cs typeface="Calibri (MS) Bold"/>
                  <a:sym typeface="Calibri (MS) Bold"/>
                </a:rPr>
                <a:t>?</a:t>
              </a:r>
            </a:p>
          </p:txBody>
        </p:sp>
      </p:grpSp>
      <p:grpSp>
        <p:nvGrpSpPr>
          <p:cNvPr name="Group 24" id="24"/>
          <p:cNvGrpSpPr/>
          <p:nvPr/>
        </p:nvGrpSpPr>
        <p:grpSpPr>
          <a:xfrm rot="0">
            <a:off x="1645920" y="5925312"/>
            <a:ext cx="8778240" cy="960120"/>
            <a:chOff x="0" y="0"/>
            <a:chExt cx="11704320" cy="1280160"/>
          </a:xfrm>
        </p:grpSpPr>
        <p:sp>
          <p:nvSpPr>
            <p:cNvPr name="Freeform 25" id="25"/>
            <p:cNvSpPr/>
            <p:nvPr/>
          </p:nvSpPr>
          <p:spPr>
            <a:xfrm flipH="false" flipV="false" rot="0">
              <a:off x="0" y="0"/>
              <a:ext cx="11704320" cy="1280160"/>
            </a:xfrm>
            <a:custGeom>
              <a:avLst/>
              <a:gdLst/>
              <a:ahLst/>
              <a:cxnLst/>
              <a:rect r="r" b="b" t="t" l="l"/>
              <a:pathLst>
                <a:path h="1280160" w="11704320">
                  <a:moveTo>
                    <a:pt x="0" y="0"/>
                  </a:moveTo>
                  <a:lnTo>
                    <a:pt x="11704320" y="0"/>
                  </a:lnTo>
                  <a:lnTo>
                    <a:pt x="11704320" y="1280160"/>
                  </a:lnTo>
                  <a:lnTo>
                    <a:pt x="0" y="1280160"/>
                  </a:lnTo>
                  <a:close/>
                </a:path>
              </a:pathLst>
            </a:custGeom>
            <a:blipFill>
              <a:blip r:embed="rId2">
                <a:alphaModFix amt="0"/>
              </a:blip>
              <a:stretch>
                <a:fillRect l="0" t="-128148" r="0" b="-128148"/>
              </a:stretch>
            </a:blipFill>
          </p:spPr>
        </p:sp>
        <p:sp>
          <p:nvSpPr>
            <p:cNvPr name="TextBox 26" id="26"/>
            <p:cNvSpPr txBox="true"/>
            <p:nvPr/>
          </p:nvSpPr>
          <p:spPr>
            <a:xfrm>
              <a:off x="0" y="-38100"/>
              <a:ext cx="11704320" cy="1318260"/>
            </a:xfrm>
            <a:prstGeom prst="rect">
              <a:avLst/>
            </a:prstGeom>
          </p:spPr>
          <p:txBody>
            <a:bodyPr anchor="ctr" rtlCol="false" tIns="0" lIns="0" bIns="0" rIns="0"/>
            <a:lstStyle/>
            <a:p>
              <a:pPr algn="l">
                <a:lnSpc>
                  <a:spcPts val="2250"/>
                </a:lnSpc>
              </a:pPr>
              <a:r>
                <a:rPr lang="en-US" sz="1875">
                  <a:solidFill>
                    <a:srgbClr val="0E1220"/>
                  </a:solidFill>
                  <a:latin typeface="Calibri (MS)"/>
                  <a:ea typeface="Calibri (MS)"/>
                  <a:cs typeface="Calibri (MS)"/>
                  <a:sym typeface="Calibri (MS)"/>
                </a:rPr>
                <a:t>¿Una arquitectura optimizada automáticamente (NAS) supera al diseño manual con un costo comparable?</a:t>
              </a:r>
            </a:p>
          </p:txBody>
        </p:sp>
      </p:grpSp>
      <p:grpSp>
        <p:nvGrpSpPr>
          <p:cNvPr name="Group 27" id="27"/>
          <p:cNvGrpSpPr/>
          <p:nvPr/>
        </p:nvGrpSpPr>
        <p:grpSpPr>
          <a:xfrm rot="0">
            <a:off x="822960" y="7200900"/>
            <a:ext cx="548640" cy="548640"/>
            <a:chOff x="0" y="0"/>
            <a:chExt cx="731520" cy="731520"/>
          </a:xfrm>
        </p:grpSpPr>
        <p:sp>
          <p:nvSpPr>
            <p:cNvPr name="Freeform 28" id="28"/>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1B2340"/>
            </a:solidFill>
          </p:spPr>
        </p:sp>
      </p:grpSp>
      <p:grpSp>
        <p:nvGrpSpPr>
          <p:cNvPr name="Group 29" id="29"/>
          <p:cNvGrpSpPr/>
          <p:nvPr/>
        </p:nvGrpSpPr>
        <p:grpSpPr>
          <a:xfrm rot="0">
            <a:off x="822960" y="7200900"/>
            <a:ext cx="548640" cy="548640"/>
            <a:chOff x="0" y="0"/>
            <a:chExt cx="731520" cy="731520"/>
          </a:xfrm>
        </p:grpSpPr>
        <p:sp>
          <p:nvSpPr>
            <p:cNvPr name="Freeform 30" id="30"/>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31" id="31"/>
            <p:cNvSpPr txBox="true"/>
            <p:nvPr/>
          </p:nvSpPr>
          <p:spPr>
            <a:xfrm>
              <a:off x="0" y="-38100"/>
              <a:ext cx="731520" cy="769620"/>
            </a:xfrm>
            <a:prstGeom prst="rect">
              <a:avLst/>
            </a:prstGeom>
          </p:spPr>
          <p:txBody>
            <a:bodyPr anchor="ctr" rtlCol="false" tIns="0" lIns="0" bIns="0" rIns="0"/>
            <a:lstStyle/>
            <a:p>
              <a:pPr algn="ctr">
                <a:lnSpc>
                  <a:spcPts val="2879"/>
                </a:lnSpc>
              </a:pPr>
              <a:r>
                <a:rPr lang="en-US" sz="2400" b="true">
                  <a:solidFill>
                    <a:srgbClr val="00D1B2"/>
                  </a:solidFill>
                  <a:latin typeface="Calibri (MS) Bold"/>
                  <a:ea typeface="Calibri (MS) Bold"/>
                  <a:cs typeface="Calibri (MS) Bold"/>
                  <a:sym typeface="Calibri (MS) Bold"/>
                </a:rPr>
                <a:t>?</a:t>
              </a:r>
            </a:p>
          </p:txBody>
        </p:sp>
      </p:grpSp>
      <p:grpSp>
        <p:nvGrpSpPr>
          <p:cNvPr name="Group 32" id="32"/>
          <p:cNvGrpSpPr/>
          <p:nvPr/>
        </p:nvGrpSpPr>
        <p:grpSpPr>
          <a:xfrm rot="0">
            <a:off x="1645920" y="7091172"/>
            <a:ext cx="8778240" cy="960120"/>
            <a:chOff x="0" y="0"/>
            <a:chExt cx="11704320" cy="1280160"/>
          </a:xfrm>
        </p:grpSpPr>
        <p:sp>
          <p:nvSpPr>
            <p:cNvPr name="Freeform 33" id="33"/>
            <p:cNvSpPr/>
            <p:nvPr/>
          </p:nvSpPr>
          <p:spPr>
            <a:xfrm flipH="false" flipV="false" rot="0">
              <a:off x="0" y="0"/>
              <a:ext cx="11704320" cy="1280160"/>
            </a:xfrm>
            <a:custGeom>
              <a:avLst/>
              <a:gdLst/>
              <a:ahLst/>
              <a:cxnLst/>
              <a:rect r="r" b="b" t="t" l="l"/>
              <a:pathLst>
                <a:path h="1280160" w="11704320">
                  <a:moveTo>
                    <a:pt x="0" y="0"/>
                  </a:moveTo>
                  <a:lnTo>
                    <a:pt x="11704320" y="0"/>
                  </a:lnTo>
                  <a:lnTo>
                    <a:pt x="11704320" y="1280160"/>
                  </a:lnTo>
                  <a:lnTo>
                    <a:pt x="0" y="1280160"/>
                  </a:lnTo>
                  <a:close/>
                </a:path>
              </a:pathLst>
            </a:custGeom>
            <a:blipFill>
              <a:blip r:embed="rId2">
                <a:alphaModFix amt="0"/>
              </a:blip>
              <a:stretch>
                <a:fillRect l="0" t="-128148" r="0" b="-128148"/>
              </a:stretch>
            </a:blipFill>
          </p:spPr>
        </p:sp>
        <p:sp>
          <p:nvSpPr>
            <p:cNvPr name="TextBox 34" id="34"/>
            <p:cNvSpPr txBox="true"/>
            <p:nvPr/>
          </p:nvSpPr>
          <p:spPr>
            <a:xfrm>
              <a:off x="0" y="-38100"/>
              <a:ext cx="11704320" cy="1318260"/>
            </a:xfrm>
            <a:prstGeom prst="rect">
              <a:avLst/>
            </a:prstGeom>
          </p:spPr>
          <p:txBody>
            <a:bodyPr anchor="ctr" rtlCol="false" tIns="0" lIns="0" bIns="0" rIns="0"/>
            <a:lstStyle/>
            <a:p>
              <a:pPr algn="l">
                <a:lnSpc>
                  <a:spcPts val="2250"/>
                </a:lnSpc>
              </a:pPr>
              <a:r>
                <a:rPr lang="en-US" sz="1875">
                  <a:solidFill>
                    <a:srgbClr val="0E1220"/>
                  </a:solidFill>
                  <a:latin typeface="Calibri (MS)"/>
                  <a:ea typeface="Calibri (MS)"/>
                  <a:cs typeface="Calibri (MS)"/>
                  <a:sym typeface="Calibri (MS)"/>
                </a:rPr>
                <a:t>¿Generar datos sintéticos para las clases minoritarias mejora la generalización sin distorsionar la distribución real?</a:t>
              </a:r>
            </a:p>
          </p:txBody>
        </p:sp>
      </p:grpSp>
      <p:grpSp>
        <p:nvGrpSpPr>
          <p:cNvPr name="Group 35" id="35"/>
          <p:cNvGrpSpPr/>
          <p:nvPr/>
        </p:nvGrpSpPr>
        <p:grpSpPr>
          <a:xfrm rot="0">
            <a:off x="11109960" y="2400300"/>
            <a:ext cx="6309360" cy="6720840"/>
            <a:chOff x="0" y="0"/>
            <a:chExt cx="8412480" cy="8961120"/>
          </a:xfrm>
        </p:grpSpPr>
        <p:sp>
          <p:nvSpPr>
            <p:cNvPr name="Freeform 36" id="36"/>
            <p:cNvSpPr/>
            <p:nvPr/>
          </p:nvSpPr>
          <p:spPr>
            <a:xfrm flipH="false" flipV="false" rot="0">
              <a:off x="0" y="0"/>
              <a:ext cx="8412480" cy="8961120"/>
            </a:xfrm>
            <a:custGeom>
              <a:avLst/>
              <a:gdLst/>
              <a:ahLst/>
              <a:cxnLst/>
              <a:rect r="r" b="b" t="t" l="l"/>
              <a:pathLst>
                <a:path h="8961120" w="8412480">
                  <a:moveTo>
                    <a:pt x="0" y="182880"/>
                  </a:moveTo>
                  <a:cubicBezTo>
                    <a:pt x="0" y="81915"/>
                    <a:pt x="81915" y="0"/>
                    <a:pt x="182880" y="0"/>
                  </a:cubicBezTo>
                  <a:lnTo>
                    <a:pt x="8229600" y="0"/>
                  </a:lnTo>
                  <a:cubicBezTo>
                    <a:pt x="8330565" y="0"/>
                    <a:pt x="8412480" y="81915"/>
                    <a:pt x="8412480" y="182880"/>
                  </a:cubicBezTo>
                  <a:lnTo>
                    <a:pt x="8412480" y="8778240"/>
                  </a:lnTo>
                  <a:cubicBezTo>
                    <a:pt x="8412480" y="8879205"/>
                    <a:pt x="8330565" y="8961120"/>
                    <a:pt x="8229600" y="8961120"/>
                  </a:cubicBezTo>
                  <a:lnTo>
                    <a:pt x="182880" y="8961120"/>
                  </a:lnTo>
                  <a:cubicBezTo>
                    <a:pt x="81915" y="8961120"/>
                    <a:pt x="0" y="8879205"/>
                    <a:pt x="0" y="8778240"/>
                  </a:cubicBezTo>
                  <a:close/>
                </a:path>
              </a:pathLst>
            </a:custGeom>
            <a:solidFill>
              <a:srgbClr val="10162B"/>
            </a:solidFill>
          </p:spPr>
        </p:sp>
      </p:grpSp>
      <p:grpSp>
        <p:nvGrpSpPr>
          <p:cNvPr name="Group 37" id="37"/>
          <p:cNvGrpSpPr/>
          <p:nvPr/>
        </p:nvGrpSpPr>
        <p:grpSpPr>
          <a:xfrm rot="0">
            <a:off x="11590020" y="2811780"/>
            <a:ext cx="5349240" cy="480060"/>
            <a:chOff x="0" y="0"/>
            <a:chExt cx="7132320" cy="640080"/>
          </a:xfrm>
        </p:grpSpPr>
        <p:sp>
          <p:nvSpPr>
            <p:cNvPr name="Freeform 38" id="38"/>
            <p:cNvSpPr/>
            <p:nvPr/>
          </p:nvSpPr>
          <p:spPr>
            <a:xfrm flipH="false" flipV="false" rot="0">
              <a:off x="0" y="0"/>
              <a:ext cx="7132320" cy="640080"/>
            </a:xfrm>
            <a:custGeom>
              <a:avLst/>
              <a:gdLst/>
              <a:ahLst/>
              <a:cxnLst/>
              <a:rect r="r" b="b" t="t" l="l"/>
              <a:pathLst>
                <a:path h="640080" w="7132320">
                  <a:moveTo>
                    <a:pt x="0" y="0"/>
                  </a:moveTo>
                  <a:lnTo>
                    <a:pt x="7132320" y="0"/>
                  </a:lnTo>
                  <a:lnTo>
                    <a:pt x="7132320" y="640080"/>
                  </a:lnTo>
                  <a:lnTo>
                    <a:pt x="0" y="640080"/>
                  </a:lnTo>
                  <a:close/>
                </a:path>
              </a:pathLst>
            </a:custGeom>
            <a:blipFill>
              <a:blip r:embed="rId2">
                <a:alphaModFix amt="0"/>
              </a:blip>
              <a:stretch>
                <a:fillRect l="0" t="-167118" r="0" b="-167118"/>
              </a:stretch>
            </a:blipFill>
          </p:spPr>
        </p:sp>
        <p:sp>
          <p:nvSpPr>
            <p:cNvPr name="TextBox 39" id="39"/>
            <p:cNvSpPr txBox="true"/>
            <p:nvPr/>
          </p:nvSpPr>
          <p:spPr>
            <a:xfrm>
              <a:off x="0" y="-28575"/>
              <a:ext cx="7132320" cy="668655"/>
            </a:xfrm>
            <a:prstGeom prst="rect">
              <a:avLst/>
            </a:prstGeom>
          </p:spPr>
          <p:txBody>
            <a:bodyPr anchor="ctr" rtlCol="false" tIns="0" lIns="0" bIns="0" rIns="0"/>
            <a:lstStyle/>
            <a:p>
              <a:pPr algn="l">
                <a:lnSpc>
                  <a:spcPts val="1980"/>
                </a:lnSpc>
              </a:pPr>
              <a:r>
                <a:rPr lang="en-US" b="true" sz="1650" spc="299">
                  <a:solidFill>
                    <a:srgbClr val="00D1B2"/>
                  </a:solidFill>
                  <a:latin typeface="Calibri (MS) Bold"/>
                  <a:ea typeface="Calibri (MS) Bold"/>
                  <a:cs typeface="Calibri (MS) Bold"/>
                  <a:sym typeface="Calibri (MS) Bold"/>
                </a:rPr>
                <a:t>DATASET ELEGIDO</a:t>
              </a:r>
            </a:p>
          </p:txBody>
        </p:sp>
      </p:grpSp>
      <p:grpSp>
        <p:nvGrpSpPr>
          <p:cNvPr name="Group 40" id="40"/>
          <p:cNvGrpSpPr/>
          <p:nvPr/>
        </p:nvGrpSpPr>
        <p:grpSpPr>
          <a:xfrm rot="0">
            <a:off x="11590020" y="3291840"/>
            <a:ext cx="5349240" cy="754380"/>
            <a:chOff x="0" y="0"/>
            <a:chExt cx="7132320" cy="1005840"/>
          </a:xfrm>
        </p:grpSpPr>
        <p:sp>
          <p:nvSpPr>
            <p:cNvPr name="Freeform 41" id="41"/>
            <p:cNvSpPr/>
            <p:nvPr/>
          </p:nvSpPr>
          <p:spPr>
            <a:xfrm flipH="false" flipV="false" rot="0">
              <a:off x="0" y="0"/>
              <a:ext cx="7132320" cy="1005840"/>
            </a:xfrm>
            <a:custGeom>
              <a:avLst/>
              <a:gdLst/>
              <a:ahLst/>
              <a:cxnLst/>
              <a:rect r="r" b="b" t="t" l="l"/>
              <a:pathLst>
                <a:path h="1005840" w="7132320">
                  <a:moveTo>
                    <a:pt x="0" y="0"/>
                  </a:moveTo>
                  <a:lnTo>
                    <a:pt x="7132320" y="0"/>
                  </a:lnTo>
                  <a:lnTo>
                    <a:pt x="7132320" y="1005840"/>
                  </a:lnTo>
                  <a:lnTo>
                    <a:pt x="0" y="1005840"/>
                  </a:lnTo>
                  <a:close/>
                </a:path>
              </a:pathLst>
            </a:custGeom>
            <a:blipFill>
              <a:blip r:embed="rId2">
                <a:alphaModFix amt="0"/>
              </a:blip>
              <a:stretch>
                <a:fillRect l="0" t="-88166" r="0" b="-88166"/>
              </a:stretch>
            </a:blipFill>
          </p:spPr>
        </p:sp>
        <p:sp>
          <p:nvSpPr>
            <p:cNvPr name="TextBox 42" id="42"/>
            <p:cNvSpPr txBox="true"/>
            <p:nvPr/>
          </p:nvSpPr>
          <p:spPr>
            <a:xfrm>
              <a:off x="0" y="-19050"/>
              <a:ext cx="7132320" cy="1024890"/>
            </a:xfrm>
            <a:prstGeom prst="rect">
              <a:avLst/>
            </a:prstGeom>
          </p:spPr>
          <p:txBody>
            <a:bodyPr anchor="ctr" rtlCol="false" tIns="0" lIns="0" bIns="0" rIns="0"/>
            <a:lstStyle/>
            <a:p>
              <a:pPr algn="l">
                <a:lnSpc>
                  <a:spcPts val="4320"/>
                </a:lnSpc>
              </a:pPr>
              <a:r>
                <a:rPr lang="en-US" sz="3600" b="true">
                  <a:solidFill>
                    <a:srgbClr val="FFFFFF"/>
                  </a:solidFill>
                  <a:latin typeface="Cambria Bold"/>
                  <a:ea typeface="Cambria Bold"/>
                  <a:cs typeface="Cambria Bold"/>
                  <a:sym typeface="Cambria Bold"/>
                </a:rPr>
                <a:t>CIC-IDS2017</a:t>
              </a:r>
            </a:p>
          </p:txBody>
        </p:sp>
      </p:grpSp>
      <p:grpSp>
        <p:nvGrpSpPr>
          <p:cNvPr name="Group 43" id="43"/>
          <p:cNvGrpSpPr/>
          <p:nvPr/>
        </p:nvGrpSpPr>
        <p:grpSpPr>
          <a:xfrm rot="0">
            <a:off x="11590020" y="4046220"/>
            <a:ext cx="5349240" cy="1234440"/>
            <a:chOff x="0" y="0"/>
            <a:chExt cx="7132320" cy="1645920"/>
          </a:xfrm>
        </p:grpSpPr>
        <p:sp>
          <p:nvSpPr>
            <p:cNvPr name="Freeform 44" id="44"/>
            <p:cNvSpPr/>
            <p:nvPr/>
          </p:nvSpPr>
          <p:spPr>
            <a:xfrm flipH="false" flipV="false" rot="0">
              <a:off x="0" y="0"/>
              <a:ext cx="7132320" cy="1645920"/>
            </a:xfrm>
            <a:custGeom>
              <a:avLst/>
              <a:gdLst/>
              <a:ahLst/>
              <a:cxnLst/>
              <a:rect r="r" b="b" t="t" l="l"/>
              <a:pathLst>
                <a:path h="1645920" w="7132320">
                  <a:moveTo>
                    <a:pt x="0" y="0"/>
                  </a:moveTo>
                  <a:lnTo>
                    <a:pt x="7132320" y="0"/>
                  </a:lnTo>
                  <a:lnTo>
                    <a:pt x="7132320" y="1645920"/>
                  </a:lnTo>
                  <a:lnTo>
                    <a:pt x="0" y="1645920"/>
                  </a:lnTo>
                  <a:close/>
                </a:path>
              </a:pathLst>
            </a:custGeom>
            <a:blipFill>
              <a:blip r:embed="rId2">
                <a:alphaModFix amt="0"/>
              </a:blip>
              <a:stretch>
                <a:fillRect l="0" t="-34435" r="0" b="-34435"/>
              </a:stretch>
            </a:blipFill>
          </p:spPr>
        </p:sp>
        <p:sp>
          <p:nvSpPr>
            <p:cNvPr name="TextBox 45" id="45"/>
            <p:cNvSpPr txBox="true"/>
            <p:nvPr/>
          </p:nvSpPr>
          <p:spPr>
            <a:xfrm>
              <a:off x="0" y="-76200"/>
              <a:ext cx="7132320" cy="1722120"/>
            </a:xfrm>
            <a:prstGeom prst="rect">
              <a:avLst/>
            </a:prstGeom>
          </p:spPr>
          <p:txBody>
            <a:bodyPr anchor="ctr" rtlCol="false" tIns="0" lIns="0" bIns="0" rIns="0"/>
            <a:lstStyle/>
            <a:p>
              <a:pPr algn="l">
                <a:lnSpc>
                  <a:spcPts val="2592"/>
                </a:lnSpc>
              </a:pPr>
              <a:r>
                <a:rPr lang="en-US" sz="1800">
                  <a:solidFill>
                    <a:srgbClr val="B9C0E0"/>
                  </a:solidFill>
                  <a:latin typeface="Calibri (MS)"/>
                  <a:ea typeface="Calibri (MS)"/>
                  <a:cs typeface="Calibri (MS)"/>
                  <a:sym typeface="Calibri (MS)"/>
                </a:rPr>
                <a:t>Tráfico de red etiquetado (benigno + 14 tipos de ataque), pensado para clasificación multiclase de intrusiones.</a:t>
              </a:r>
            </a:p>
          </p:txBody>
        </p:sp>
      </p:grpSp>
      <p:grpSp>
        <p:nvGrpSpPr>
          <p:cNvPr name="Group 46" id="46"/>
          <p:cNvGrpSpPr/>
          <p:nvPr/>
        </p:nvGrpSpPr>
        <p:grpSpPr>
          <a:xfrm rot="0">
            <a:off x="11590020" y="4403531"/>
            <a:ext cx="2468880" cy="2714377"/>
            <a:chOff x="0" y="0"/>
            <a:chExt cx="3291840" cy="3619170"/>
          </a:xfrm>
        </p:grpSpPr>
        <p:sp>
          <p:nvSpPr>
            <p:cNvPr name="Freeform 47" id="47"/>
            <p:cNvSpPr/>
            <p:nvPr/>
          </p:nvSpPr>
          <p:spPr>
            <a:xfrm flipH="false" flipV="false" rot="0">
              <a:off x="0" y="0"/>
              <a:ext cx="3291840" cy="3619170"/>
            </a:xfrm>
            <a:custGeom>
              <a:avLst/>
              <a:gdLst/>
              <a:ahLst/>
              <a:cxnLst/>
              <a:rect r="r" b="b" t="t" l="l"/>
              <a:pathLst>
                <a:path h="3619170" w="3291840">
                  <a:moveTo>
                    <a:pt x="0" y="0"/>
                  </a:moveTo>
                  <a:lnTo>
                    <a:pt x="3291840" y="0"/>
                  </a:lnTo>
                  <a:lnTo>
                    <a:pt x="3291840" y="3619170"/>
                  </a:lnTo>
                  <a:lnTo>
                    <a:pt x="0" y="3619170"/>
                  </a:lnTo>
                  <a:close/>
                </a:path>
              </a:pathLst>
            </a:custGeom>
            <a:blipFill>
              <a:blip r:embed="rId2">
                <a:alphaModFix amt="0"/>
              </a:blip>
              <a:stretch>
                <a:fillRect l="0" t="-6353" r="0" b="70907"/>
              </a:stretch>
            </a:blipFill>
          </p:spPr>
        </p:sp>
        <p:sp>
          <p:nvSpPr>
            <p:cNvPr name="TextBox 48" id="48"/>
            <p:cNvSpPr txBox="true"/>
            <p:nvPr/>
          </p:nvSpPr>
          <p:spPr>
            <a:xfrm>
              <a:off x="0" y="0"/>
              <a:ext cx="3291840" cy="3619170"/>
            </a:xfrm>
            <a:prstGeom prst="rect">
              <a:avLst/>
            </a:prstGeom>
          </p:spPr>
          <p:txBody>
            <a:bodyPr anchor="ctr" rtlCol="false" tIns="0" lIns="0" bIns="0" rIns="0"/>
            <a:lstStyle/>
            <a:p>
              <a:pPr algn="l">
                <a:lnSpc>
                  <a:spcPts val="4439"/>
                </a:lnSpc>
              </a:pPr>
              <a:r>
                <a:rPr lang="en-US" sz="3699" b="true">
                  <a:solidFill>
                    <a:srgbClr val="00D1B2"/>
                  </a:solidFill>
                  <a:latin typeface="Cambria Bold"/>
                  <a:ea typeface="Cambria Bold"/>
                  <a:cs typeface="Cambria Bold"/>
                  <a:sym typeface="Cambria Bold"/>
                </a:rPr>
                <a:t>2.830.743</a:t>
              </a:r>
            </a:p>
          </p:txBody>
        </p:sp>
      </p:grpSp>
      <p:grpSp>
        <p:nvGrpSpPr>
          <p:cNvPr name="Group 49" id="49"/>
          <p:cNvGrpSpPr/>
          <p:nvPr/>
        </p:nvGrpSpPr>
        <p:grpSpPr>
          <a:xfrm rot="0">
            <a:off x="14058900" y="5554980"/>
            <a:ext cx="2880360" cy="548640"/>
            <a:chOff x="0" y="0"/>
            <a:chExt cx="3840480" cy="731520"/>
          </a:xfrm>
        </p:grpSpPr>
        <p:sp>
          <p:nvSpPr>
            <p:cNvPr name="Freeform 50" id="50"/>
            <p:cNvSpPr/>
            <p:nvPr/>
          </p:nvSpPr>
          <p:spPr>
            <a:xfrm flipH="false" flipV="false" rot="0">
              <a:off x="0" y="0"/>
              <a:ext cx="3840480" cy="731520"/>
            </a:xfrm>
            <a:custGeom>
              <a:avLst/>
              <a:gdLst/>
              <a:ahLst/>
              <a:cxnLst/>
              <a:rect r="r" b="b" t="t" l="l"/>
              <a:pathLst>
                <a:path h="731520" w="3840480">
                  <a:moveTo>
                    <a:pt x="0" y="0"/>
                  </a:moveTo>
                  <a:lnTo>
                    <a:pt x="3840480" y="0"/>
                  </a:lnTo>
                  <a:lnTo>
                    <a:pt x="3840480" y="731520"/>
                  </a:lnTo>
                  <a:lnTo>
                    <a:pt x="0" y="731520"/>
                  </a:lnTo>
                  <a:close/>
                </a:path>
              </a:pathLst>
            </a:custGeom>
            <a:blipFill>
              <a:blip r:embed="rId2">
                <a:alphaModFix amt="0"/>
              </a:blip>
              <a:stretch>
                <a:fillRect l="0" t="-52296" r="0" b="-52296"/>
              </a:stretch>
            </a:blipFill>
          </p:spPr>
        </p:sp>
        <p:sp>
          <p:nvSpPr>
            <p:cNvPr name="TextBox 51" id="51"/>
            <p:cNvSpPr txBox="true"/>
            <p:nvPr/>
          </p:nvSpPr>
          <p:spPr>
            <a:xfrm>
              <a:off x="0" y="-47625"/>
              <a:ext cx="3840480" cy="779145"/>
            </a:xfrm>
            <a:prstGeom prst="rect">
              <a:avLst/>
            </a:prstGeom>
          </p:spPr>
          <p:txBody>
            <a:bodyPr anchor="ctr" rtlCol="false" tIns="0" lIns="0" bIns="0" rIns="0"/>
            <a:lstStyle/>
            <a:p>
              <a:pPr algn="l">
                <a:lnSpc>
                  <a:spcPts val="2639"/>
                </a:lnSpc>
              </a:pPr>
              <a:r>
                <a:rPr lang="en-US" sz="2199">
                  <a:solidFill>
                    <a:srgbClr val="B9C0E0"/>
                  </a:solidFill>
                  <a:latin typeface="Calibri (MS)"/>
                  <a:ea typeface="Calibri (MS)"/>
                  <a:cs typeface="Calibri (MS)"/>
                  <a:sym typeface="Calibri (MS)"/>
                </a:rPr>
                <a:t>filas</a:t>
              </a:r>
            </a:p>
          </p:txBody>
        </p:sp>
      </p:grpSp>
      <p:grpSp>
        <p:nvGrpSpPr>
          <p:cNvPr name="Group 52" id="52"/>
          <p:cNvGrpSpPr/>
          <p:nvPr/>
        </p:nvGrpSpPr>
        <p:grpSpPr>
          <a:xfrm rot="0">
            <a:off x="11590020" y="5226491"/>
            <a:ext cx="2468880" cy="2714377"/>
            <a:chOff x="0" y="0"/>
            <a:chExt cx="3291840" cy="3619170"/>
          </a:xfrm>
        </p:grpSpPr>
        <p:sp>
          <p:nvSpPr>
            <p:cNvPr name="Freeform 53" id="53"/>
            <p:cNvSpPr/>
            <p:nvPr/>
          </p:nvSpPr>
          <p:spPr>
            <a:xfrm flipH="false" flipV="false" rot="0">
              <a:off x="0" y="0"/>
              <a:ext cx="3291840" cy="3619170"/>
            </a:xfrm>
            <a:custGeom>
              <a:avLst/>
              <a:gdLst/>
              <a:ahLst/>
              <a:cxnLst/>
              <a:rect r="r" b="b" t="t" l="l"/>
              <a:pathLst>
                <a:path h="3619170" w="3291840">
                  <a:moveTo>
                    <a:pt x="0" y="0"/>
                  </a:moveTo>
                  <a:lnTo>
                    <a:pt x="3291840" y="0"/>
                  </a:lnTo>
                  <a:lnTo>
                    <a:pt x="3291840" y="3619170"/>
                  </a:lnTo>
                  <a:lnTo>
                    <a:pt x="0" y="3619170"/>
                  </a:lnTo>
                  <a:close/>
                </a:path>
              </a:pathLst>
            </a:custGeom>
            <a:blipFill>
              <a:blip r:embed="rId2">
                <a:alphaModFix amt="0"/>
              </a:blip>
              <a:stretch>
                <a:fillRect l="0" t="-6353" r="0" b="70907"/>
              </a:stretch>
            </a:blipFill>
          </p:spPr>
        </p:sp>
        <p:sp>
          <p:nvSpPr>
            <p:cNvPr name="TextBox 54" id="54"/>
            <p:cNvSpPr txBox="true"/>
            <p:nvPr/>
          </p:nvSpPr>
          <p:spPr>
            <a:xfrm>
              <a:off x="0" y="0"/>
              <a:ext cx="3291840" cy="3619170"/>
            </a:xfrm>
            <a:prstGeom prst="rect">
              <a:avLst/>
            </a:prstGeom>
          </p:spPr>
          <p:txBody>
            <a:bodyPr anchor="ctr" rtlCol="false" tIns="0" lIns="0" bIns="0" rIns="0"/>
            <a:lstStyle/>
            <a:p>
              <a:pPr algn="l">
                <a:lnSpc>
                  <a:spcPts val="4439"/>
                </a:lnSpc>
              </a:pPr>
              <a:r>
                <a:rPr lang="en-US" sz="3699" b="true">
                  <a:solidFill>
                    <a:srgbClr val="00D1B2"/>
                  </a:solidFill>
                  <a:latin typeface="Cambria Bold"/>
                  <a:ea typeface="Cambria Bold"/>
                  <a:cs typeface="Cambria Bold"/>
                  <a:sym typeface="Cambria Bold"/>
                </a:rPr>
                <a:t>78</a:t>
              </a:r>
            </a:p>
          </p:txBody>
        </p:sp>
      </p:grpSp>
      <p:grpSp>
        <p:nvGrpSpPr>
          <p:cNvPr name="Group 55" id="55"/>
          <p:cNvGrpSpPr/>
          <p:nvPr/>
        </p:nvGrpSpPr>
        <p:grpSpPr>
          <a:xfrm rot="0">
            <a:off x="14058900" y="6377940"/>
            <a:ext cx="2880360" cy="548640"/>
            <a:chOff x="0" y="0"/>
            <a:chExt cx="3840480" cy="731520"/>
          </a:xfrm>
        </p:grpSpPr>
        <p:sp>
          <p:nvSpPr>
            <p:cNvPr name="Freeform 56" id="56"/>
            <p:cNvSpPr/>
            <p:nvPr/>
          </p:nvSpPr>
          <p:spPr>
            <a:xfrm flipH="false" flipV="false" rot="0">
              <a:off x="0" y="0"/>
              <a:ext cx="3840480" cy="731520"/>
            </a:xfrm>
            <a:custGeom>
              <a:avLst/>
              <a:gdLst/>
              <a:ahLst/>
              <a:cxnLst/>
              <a:rect r="r" b="b" t="t" l="l"/>
              <a:pathLst>
                <a:path h="731520" w="3840480">
                  <a:moveTo>
                    <a:pt x="0" y="0"/>
                  </a:moveTo>
                  <a:lnTo>
                    <a:pt x="3840480" y="0"/>
                  </a:lnTo>
                  <a:lnTo>
                    <a:pt x="3840480" y="731520"/>
                  </a:lnTo>
                  <a:lnTo>
                    <a:pt x="0" y="731520"/>
                  </a:lnTo>
                  <a:close/>
                </a:path>
              </a:pathLst>
            </a:custGeom>
            <a:blipFill>
              <a:blip r:embed="rId2">
                <a:alphaModFix amt="0"/>
              </a:blip>
              <a:stretch>
                <a:fillRect l="0" t="-52296" r="0" b="-52296"/>
              </a:stretch>
            </a:blipFill>
          </p:spPr>
        </p:sp>
        <p:sp>
          <p:nvSpPr>
            <p:cNvPr name="TextBox 57" id="57"/>
            <p:cNvSpPr txBox="true"/>
            <p:nvPr/>
          </p:nvSpPr>
          <p:spPr>
            <a:xfrm>
              <a:off x="0" y="-47625"/>
              <a:ext cx="3840480" cy="779145"/>
            </a:xfrm>
            <a:prstGeom prst="rect">
              <a:avLst/>
            </a:prstGeom>
          </p:spPr>
          <p:txBody>
            <a:bodyPr anchor="ctr" rtlCol="false" tIns="0" lIns="0" bIns="0" rIns="0"/>
            <a:lstStyle/>
            <a:p>
              <a:pPr algn="l">
                <a:lnSpc>
                  <a:spcPts val="2639"/>
                </a:lnSpc>
              </a:pPr>
              <a:r>
                <a:rPr lang="en-US" sz="2199">
                  <a:solidFill>
                    <a:srgbClr val="B9C0E0"/>
                  </a:solidFill>
                  <a:latin typeface="Calibri (MS)"/>
                  <a:ea typeface="Calibri (MS)"/>
                  <a:cs typeface="Calibri (MS)"/>
                  <a:sym typeface="Calibri (MS)"/>
                </a:rPr>
                <a:t>columnas / features</a:t>
              </a:r>
            </a:p>
          </p:txBody>
        </p:sp>
      </p:grpSp>
      <p:grpSp>
        <p:nvGrpSpPr>
          <p:cNvPr name="Group 58" id="58"/>
          <p:cNvGrpSpPr/>
          <p:nvPr/>
        </p:nvGrpSpPr>
        <p:grpSpPr>
          <a:xfrm rot="0">
            <a:off x="11590020" y="6049451"/>
            <a:ext cx="2468880" cy="2714377"/>
            <a:chOff x="0" y="0"/>
            <a:chExt cx="3291840" cy="3619170"/>
          </a:xfrm>
        </p:grpSpPr>
        <p:sp>
          <p:nvSpPr>
            <p:cNvPr name="Freeform 59" id="59"/>
            <p:cNvSpPr/>
            <p:nvPr/>
          </p:nvSpPr>
          <p:spPr>
            <a:xfrm flipH="false" flipV="false" rot="0">
              <a:off x="0" y="0"/>
              <a:ext cx="3291840" cy="3619170"/>
            </a:xfrm>
            <a:custGeom>
              <a:avLst/>
              <a:gdLst/>
              <a:ahLst/>
              <a:cxnLst/>
              <a:rect r="r" b="b" t="t" l="l"/>
              <a:pathLst>
                <a:path h="3619170" w="3291840">
                  <a:moveTo>
                    <a:pt x="0" y="0"/>
                  </a:moveTo>
                  <a:lnTo>
                    <a:pt x="3291840" y="0"/>
                  </a:lnTo>
                  <a:lnTo>
                    <a:pt x="3291840" y="3619170"/>
                  </a:lnTo>
                  <a:lnTo>
                    <a:pt x="0" y="3619170"/>
                  </a:lnTo>
                  <a:close/>
                </a:path>
              </a:pathLst>
            </a:custGeom>
            <a:blipFill>
              <a:blip r:embed="rId2">
                <a:alphaModFix amt="0"/>
              </a:blip>
              <a:stretch>
                <a:fillRect l="0" t="-6353" r="0" b="70907"/>
              </a:stretch>
            </a:blipFill>
          </p:spPr>
        </p:sp>
        <p:sp>
          <p:nvSpPr>
            <p:cNvPr name="TextBox 60" id="60"/>
            <p:cNvSpPr txBox="true"/>
            <p:nvPr/>
          </p:nvSpPr>
          <p:spPr>
            <a:xfrm>
              <a:off x="0" y="0"/>
              <a:ext cx="3291840" cy="3619170"/>
            </a:xfrm>
            <a:prstGeom prst="rect">
              <a:avLst/>
            </a:prstGeom>
          </p:spPr>
          <p:txBody>
            <a:bodyPr anchor="ctr" rtlCol="false" tIns="0" lIns="0" bIns="0" rIns="0"/>
            <a:lstStyle/>
            <a:p>
              <a:pPr algn="l">
                <a:lnSpc>
                  <a:spcPts val="4439"/>
                </a:lnSpc>
              </a:pPr>
              <a:r>
                <a:rPr lang="en-US" sz="3699" b="true">
                  <a:solidFill>
                    <a:srgbClr val="00D1B2"/>
                  </a:solidFill>
                  <a:latin typeface="Cambria Bold"/>
                  <a:ea typeface="Cambria Bold"/>
                  <a:cs typeface="Cambria Bold"/>
                  <a:sym typeface="Cambria Bold"/>
                </a:rPr>
                <a:t>15</a:t>
              </a:r>
            </a:p>
          </p:txBody>
        </p:sp>
      </p:grpSp>
      <p:grpSp>
        <p:nvGrpSpPr>
          <p:cNvPr name="Group 61" id="61"/>
          <p:cNvGrpSpPr/>
          <p:nvPr/>
        </p:nvGrpSpPr>
        <p:grpSpPr>
          <a:xfrm rot="0">
            <a:off x="14058900" y="7200900"/>
            <a:ext cx="2880360" cy="775208"/>
            <a:chOff x="0" y="0"/>
            <a:chExt cx="3840480" cy="1033611"/>
          </a:xfrm>
        </p:grpSpPr>
        <p:sp>
          <p:nvSpPr>
            <p:cNvPr name="Freeform 62" id="62"/>
            <p:cNvSpPr/>
            <p:nvPr/>
          </p:nvSpPr>
          <p:spPr>
            <a:xfrm flipH="false" flipV="false" rot="0">
              <a:off x="0" y="0"/>
              <a:ext cx="3840480" cy="1033611"/>
            </a:xfrm>
            <a:custGeom>
              <a:avLst/>
              <a:gdLst/>
              <a:ahLst/>
              <a:cxnLst/>
              <a:rect r="r" b="b" t="t" l="l"/>
              <a:pathLst>
                <a:path h="1033611" w="3840480">
                  <a:moveTo>
                    <a:pt x="0" y="0"/>
                  </a:moveTo>
                  <a:lnTo>
                    <a:pt x="3840480" y="0"/>
                  </a:lnTo>
                  <a:lnTo>
                    <a:pt x="3840480" y="1033611"/>
                  </a:lnTo>
                  <a:lnTo>
                    <a:pt x="0" y="1033611"/>
                  </a:lnTo>
                  <a:close/>
                </a:path>
              </a:pathLst>
            </a:custGeom>
            <a:blipFill>
              <a:blip r:embed="rId2">
                <a:alphaModFix amt="0"/>
              </a:blip>
              <a:stretch>
                <a:fillRect l="0" t="-37011" r="0" b="-7785"/>
              </a:stretch>
            </a:blipFill>
          </p:spPr>
        </p:sp>
        <p:sp>
          <p:nvSpPr>
            <p:cNvPr name="TextBox 63" id="63"/>
            <p:cNvSpPr txBox="true"/>
            <p:nvPr/>
          </p:nvSpPr>
          <p:spPr>
            <a:xfrm>
              <a:off x="0" y="-47625"/>
              <a:ext cx="3840480" cy="1081236"/>
            </a:xfrm>
            <a:prstGeom prst="rect">
              <a:avLst/>
            </a:prstGeom>
          </p:spPr>
          <p:txBody>
            <a:bodyPr anchor="ctr" rtlCol="false" tIns="0" lIns="0" bIns="0" rIns="0"/>
            <a:lstStyle/>
            <a:p>
              <a:pPr algn="l">
                <a:lnSpc>
                  <a:spcPts val="2639"/>
                </a:lnSpc>
              </a:pPr>
              <a:r>
                <a:rPr lang="en-US" sz="2199">
                  <a:solidFill>
                    <a:srgbClr val="B9C0E0"/>
                  </a:solidFill>
                  <a:latin typeface="Calibri (MS)"/>
                  <a:ea typeface="Calibri (MS)"/>
                  <a:cs typeface="Calibri (MS)"/>
                  <a:sym typeface="Calibri (MS)"/>
                </a:rPr>
                <a:t>clases (1 benigna + 14 ataques)</a:t>
              </a:r>
            </a:p>
          </p:txBody>
        </p:sp>
      </p:grpSp>
      <p:grpSp>
        <p:nvGrpSpPr>
          <p:cNvPr name="Group 64" id="64"/>
          <p:cNvGrpSpPr/>
          <p:nvPr/>
        </p:nvGrpSpPr>
        <p:grpSpPr>
          <a:xfrm rot="0">
            <a:off x="11590020" y="8161020"/>
            <a:ext cx="5349240" cy="822960"/>
            <a:chOff x="0" y="0"/>
            <a:chExt cx="7132320" cy="1097280"/>
          </a:xfrm>
        </p:grpSpPr>
        <p:sp>
          <p:nvSpPr>
            <p:cNvPr name="Freeform 65" id="65"/>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2">
                <a:alphaModFix amt="0"/>
              </a:blip>
              <a:stretch>
                <a:fillRect l="0" t="-76652" r="0" b="-76652"/>
              </a:stretch>
            </a:blipFill>
          </p:spPr>
        </p:sp>
        <p:sp>
          <p:nvSpPr>
            <p:cNvPr name="TextBox 66" id="66"/>
            <p:cNvSpPr txBox="true"/>
            <p:nvPr/>
          </p:nvSpPr>
          <p:spPr>
            <a:xfrm>
              <a:off x="0" y="-66675"/>
              <a:ext cx="7132320" cy="1163955"/>
            </a:xfrm>
            <a:prstGeom prst="rect">
              <a:avLst/>
            </a:prstGeom>
          </p:spPr>
          <p:txBody>
            <a:bodyPr anchor="ctr" rtlCol="false" tIns="0" lIns="0" bIns="0" rIns="0"/>
            <a:lstStyle/>
            <a:p>
              <a:pPr algn="l">
                <a:lnSpc>
                  <a:spcPts val="2376"/>
                </a:lnSpc>
              </a:pPr>
            </a:p>
          </p:txBody>
        </p:sp>
      </p:grpSp>
      <p:grpSp>
        <p:nvGrpSpPr>
          <p:cNvPr name="Group 67" id="67"/>
          <p:cNvGrpSpPr/>
          <p:nvPr/>
        </p:nvGrpSpPr>
        <p:grpSpPr>
          <a:xfrm rot="0">
            <a:off x="17053103" y="9601200"/>
            <a:ext cx="822960" cy="411480"/>
            <a:chOff x="0" y="0"/>
            <a:chExt cx="1097280" cy="548640"/>
          </a:xfrm>
        </p:grpSpPr>
        <p:sp>
          <p:nvSpPr>
            <p:cNvPr name="Freeform 68" id="68"/>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69" id="69"/>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03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1 · 1.1 CONSTRUCCIÓN DEL DATASET</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Carga y limpieza de CIC-IDS2017</a:t>
              </a:r>
            </a:p>
          </p:txBody>
        </p:sp>
      </p:grpSp>
      <p:grpSp>
        <p:nvGrpSpPr>
          <p:cNvPr name="Group 8" id="8"/>
          <p:cNvGrpSpPr/>
          <p:nvPr/>
        </p:nvGrpSpPr>
        <p:grpSpPr>
          <a:xfrm rot="0">
            <a:off x="813435" y="2527935"/>
            <a:ext cx="7905750" cy="2076450"/>
            <a:chOff x="0" y="0"/>
            <a:chExt cx="10541000" cy="2768600"/>
          </a:xfrm>
        </p:grpSpPr>
        <p:sp>
          <p:nvSpPr>
            <p:cNvPr name="Freeform 9" id="9"/>
            <p:cNvSpPr/>
            <p:nvPr/>
          </p:nvSpPr>
          <p:spPr>
            <a:xfrm flipH="false" flipV="false" rot="0">
              <a:off x="0" y="0"/>
              <a:ext cx="10541000" cy="2768600"/>
            </a:xfrm>
            <a:custGeom>
              <a:avLst/>
              <a:gdLst/>
              <a:ahLst/>
              <a:cxnLst/>
              <a:rect r="r" b="b" t="t" l="l"/>
              <a:pathLst>
                <a:path h="2768600" w="10541000">
                  <a:moveTo>
                    <a:pt x="0" y="147701"/>
                  </a:moveTo>
                  <a:cubicBezTo>
                    <a:pt x="0" y="66167"/>
                    <a:pt x="66167" y="0"/>
                    <a:pt x="147701" y="0"/>
                  </a:cubicBezTo>
                  <a:lnTo>
                    <a:pt x="10393299" y="0"/>
                  </a:lnTo>
                  <a:cubicBezTo>
                    <a:pt x="10474833" y="0"/>
                    <a:pt x="10541000" y="66167"/>
                    <a:pt x="10541000" y="147701"/>
                  </a:cubicBezTo>
                  <a:lnTo>
                    <a:pt x="10541000" y="2620899"/>
                  </a:lnTo>
                  <a:cubicBezTo>
                    <a:pt x="10541000" y="2702433"/>
                    <a:pt x="10474833" y="2768600"/>
                    <a:pt x="10393299" y="2768600"/>
                  </a:cubicBezTo>
                  <a:lnTo>
                    <a:pt x="147701" y="2768600"/>
                  </a:lnTo>
                  <a:cubicBezTo>
                    <a:pt x="66167" y="2768600"/>
                    <a:pt x="0" y="2702433"/>
                    <a:pt x="0" y="2620899"/>
                  </a:cubicBezTo>
                  <a:close/>
                </a:path>
              </a:pathLst>
            </a:custGeom>
            <a:solidFill>
              <a:srgbClr val="FFFFFF"/>
            </a:solidFill>
            <a:ln w="19050" cap="sq">
              <a:solidFill>
                <a:srgbClr val="E3E6F0"/>
              </a:solidFill>
              <a:prstDash val="solid"/>
              <a:miter/>
            </a:ln>
          </p:spPr>
        </p:sp>
      </p:grpSp>
      <p:grpSp>
        <p:nvGrpSpPr>
          <p:cNvPr name="Group 10" id="10"/>
          <p:cNvGrpSpPr/>
          <p:nvPr/>
        </p:nvGrpSpPr>
        <p:grpSpPr>
          <a:xfrm rot="0">
            <a:off x="1165860" y="2880360"/>
            <a:ext cx="576072" cy="576072"/>
            <a:chOff x="0" y="0"/>
            <a:chExt cx="768096" cy="768096"/>
          </a:xfrm>
        </p:grpSpPr>
        <p:sp>
          <p:nvSpPr>
            <p:cNvPr name="Freeform 11" id="1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9FBF6"/>
            </a:solidFill>
          </p:spPr>
        </p:sp>
      </p:grpSp>
      <p:grpSp>
        <p:nvGrpSpPr>
          <p:cNvPr name="Group 12" id="12"/>
          <p:cNvGrpSpPr/>
          <p:nvPr/>
        </p:nvGrpSpPr>
        <p:grpSpPr>
          <a:xfrm rot="0">
            <a:off x="1165860" y="2880360"/>
            <a:ext cx="576072" cy="576072"/>
            <a:chOff x="0" y="0"/>
            <a:chExt cx="768096" cy="768096"/>
          </a:xfrm>
        </p:grpSpPr>
        <p:sp>
          <p:nvSpPr>
            <p:cNvPr name="Freeform 13" id="13"/>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14" id="14"/>
            <p:cNvSpPr txBox="true"/>
            <p:nvPr/>
          </p:nvSpPr>
          <p:spPr>
            <a:xfrm>
              <a:off x="0" y="-38100"/>
              <a:ext cx="768096" cy="806196"/>
            </a:xfrm>
            <a:prstGeom prst="rect">
              <a:avLst/>
            </a:prstGeom>
          </p:spPr>
          <p:txBody>
            <a:bodyPr anchor="ctr" rtlCol="false" tIns="0" lIns="0" bIns="0" rIns="0"/>
            <a:lstStyle/>
            <a:p>
              <a:pPr algn="ctr">
                <a:lnSpc>
                  <a:spcPts val="2879"/>
                </a:lnSpc>
              </a:pPr>
              <a:r>
                <a:rPr lang="en-US" sz="2400" b="true">
                  <a:solidFill>
                    <a:srgbClr val="00D1B2"/>
                  </a:solidFill>
                  <a:latin typeface="Calibri (MS) Bold"/>
                  <a:ea typeface="Calibri (MS) Bold"/>
                  <a:cs typeface="Calibri (MS) Bold"/>
                  <a:sym typeface="Calibri (MS) Bold"/>
                </a:rPr>
                <a:t>1</a:t>
              </a:r>
            </a:p>
          </p:txBody>
        </p:sp>
      </p:grpSp>
      <p:grpSp>
        <p:nvGrpSpPr>
          <p:cNvPr name="Group 15" id="15"/>
          <p:cNvGrpSpPr/>
          <p:nvPr/>
        </p:nvGrpSpPr>
        <p:grpSpPr>
          <a:xfrm rot="0">
            <a:off x="1988820" y="2811780"/>
            <a:ext cx="6377940" cy="548640"/>
            <a:chOff x="0" y="0"/>
            <a:chExt cx="8503920" cy="731520"/>
          </a:xfrm>
        </p:grpSpPr>
        <p:sp>
          <p:nvSpPr>
            <p:cNvPr name="Freeform 16" id="16"/>
            <p:cNvSpPr/>
            <p:nvPr/>
          </p:nvSpPr>
          <p:spPr>
            <a:xfrm flipH="false" flipV="false" rot="0">
              <a:off x="0" y="0"/>
              <a:ext cx="8503920" cy="731520"/>
            </a:xfrm>
            <a:custGeom>
              <a:avLst/>
              <a:gdLst/>
              <a:ahLst/>
              <a:cxnLst/>
              <a:rect r="r" b="b" t="t" l="l"/>
              <a:pathLst>
                <a:path h="731520" w="8503920">
                  <a:moveTo>
                    <a:pt x="0" y="0"/>
                  </a:moveTo>
                  <a:lnTo>
                    <a:pt x="8503920" y="0"/>
                  </a:lnTo>
                  <a:lnTo>
                    <a:pt x="8503920" y="731520"/>
                  </a:lnTo>
                  <a:lnTo>
                    <a:pt x="0" y="731520"/>
                  </a:lnTo>
                  <a:close/>
                </a:path>
              </a:pathLst>
            </a:custGeom>
            <a:blipFill>
              <a:blip r:embed="rId2">
                <a:alphaModFix amt="0"/>
              </a:blip>
              <a:stretch>
                <a:fillRect l="0" t="-176513" r="0" b="-176513"/>
              </a:stretch>
            </a:blipFill>
          </p:spPr>
        </p:sp>
        <p:sp>
          <p:nvSpPr>
            <p:cNvPr name="TextBox 17" id="17"/>
            <p:cNvSpPr txBox="true"/>
            <p:nvPr/>
          </p:nvSpPr>
          <p:spPr>
            <a:xfrm>
              <a:off x="0" y="-19050"/>
              <a:ext cx="8503920" cy="750570"/>
            </a:xfrm>
            <a:prstGeom prst="rect">
              <a:avLst/>
            </a:prstGeom>
          </p:spPr>
          <p:txBody>
            <a:bodyPr anchor="ctr" rtlCol="false" tIns="0" lIns="0" bIns="0" rIns="0"/>
            <a:lstStyle/>
            <a:p>
              <a:pPr algn="l">
                <a:lnSpc>
                  <a:spcPts val="2610"/>
                </a:lnSpc>
              </a:pPr>
              <a:r>
                <a:rPr lang="en-US" sz="2175" b="true">
                  <a:solidFill>
                    <a:srgbClr val="0E1220"/>
                  </a:solidFill>
                  <a:latin typeface="Cambria Bold"/>
                  <a:ea typeface="Cambria Bold"/>
                  <a:cs typeface="Cambria Bold"/>
                  <a:sym typeface="Cambria Bold"/>
                </a:rPr>
                <a:t>Consolidación</a:t>
              </a:r>
            </a:p>
          </p:txBody>
        </p:sp>
      </p:grpSp>
      <p:grpSp>
        <p:nvGrpSpPr>
          <p:cNvPr name="Group 18" id="18"/>
          <p:cNvGrpSpPr/>
          <p:nvPr/>
        </p:nvGrpSpPr>
        <p:grpSpPr>
          <a:xfrm rot="0">
            <a:off x="1988820" y="3387852"/>
            <a:ext cx="6377940" cy="1097280"/>
            <a:chOff x="0" y="0"/>
            <a:chExt cx="8503920" cy="1463040"/>
          </a:xfrm>
        </p:grpSpPr>
        <p:sp>
          <p:nvSpPr>
            <p:cNvPr name="Freeform 19" id="19"/>
            <p:cNvSpPr/>
            <p:nvPr/>
          </p:nvSpPr>
          <p:spPr>
            <a:xfrm flipH="false" flipV="false" rot="0">
              <a:off x="0" y="0"/>
              <a:ext cx="8503920" cy="1463040"/>
            </a:xfrm>
            <a:custGeom>
              <a:avLst/>
              <a:gdLst/>
              <a:ahLst/>
              <a:cxnLst/>
              <a:rect r="r" b="b" t="t" l="l"/>
              <a:pathLst>
                <a:path h="1463040" w="8503920">
                  <a:moveTo>
                    <a:pt x="0" y="0"/>
                  </a:moveTo>
                  <a:lnTo>
                    <a:pt x="8503920" y="0"/>
                  </a:lnTo>
                  <a:lnTo>
                    <a:pt x="8503920" y="1463040"/>
                  </a:lnTo>
                  <a:lnTo>
                    <a:pt x="0" y="1463040"/>
                  </a:lnTo>
                  <a:close/>
                </a:path>
              </a:pathLst>
            </a:custGeom>
            <a:blipFill>
              <a:blip r:embed="rId2">
                <a:alphaModFix amt="0"/>
              </a:blip>
              <a:stretch>
                <a:fillRect l="0" t="-63256" r="0" b="-63256"/>
              </a:stretch>
            </a:blipFill>
          </p:spPr>
        </p:sp>
        <p:sp>
          <p:nvSpPr>
            <p:cNvPr name="TextBox 20" id="20"/>
            <p:cNvSpPr txBox="true"/>
            <p:nvPr/>
          </p:nvSpPr>
          <p:spPr>
            <a:xfrm>
              <a:off x="0" y="-57150"/>
              <a:ext cx="8503920" cy="1520190"/>
            </a:xfrm>
            <a:prstGeom prst="rect">
              <a:avLst/>
            </a:prstGeom>
          </p:spPr>
          <p:txBody>
            <a:bodyPr anchor="ctr" rtlCol="false" tIns="0" lIns="0" bIns="0" rIns="0"/>
            <a:lstStyle/>
            <a:p>
              <a:pPr algn="l">
                <a:lnSpc>
                  <a:spcPts val="2277"/>
                </a:lnSpc>
              </a:pPr>
              <a:r>
                <a:rPr lang="en-US" sz="1650">
                  <a:solidFill>
                    <a:srgbClr val="6B7280"/>
                  </a:solidFill>
                  <a:latin typeface="Calibri (MS)"/>
                  <a:ea typeface="Calibri (MS)"/>
                  <a:cs typeface="Calibri (MS)"/>
                  <a:sym typeface="Calibri (MS)"/>
                </a:rPr>
                <a:t>8 archivos CSV (uno por día de captura) se procesan por separado para no cargar ~2.8M filas en memoria de una vez.</a:t>
              </a:r>
            </a:p>
          </p:txBody>
        </p:sp>
      </p:grpSp>
      <p:grpSp>
        <p:nvGrpSpPr>
          <p:cNvPr name="Group 21" id="21"/>
          <p:cNvGrpSpPr/>
          <p:nvPr/>
        </p:nvGrpSpPr>
        <p:grpSpPr>
          <a:xfrm rot="0">
            <a:off x="9248775" y="2527935"/>
            <a:ext cx="7905750" cy="2076450"/>
            <a:chOff x="0" y="0"/>
            <a:chExt cx="10541000" cy="2768600"/>
          </a:xfrm>
        </p:grpSpPr>
        <p:sp>
          <p:nvSpPr>
            <p:cNvPr name="Freeform 22" id="22"/>
            <p:cNvSpPr/>
            <p:nvPr/>
          </p:nvSpPr>
          <p:spPr>
            <a:xfrm flipH="false" flipV="false" rot="0">
              <a:off x="0" y="0"/>
              <a:ext cx="10541000" cy="2768600"/>
            </a:xfrm>
            <a:custGeom>
              <a:avLst/>
              <a:gdLst/>
              <a:ahLst/>
              <a:cxnLst/>
              <a:rect r="r" b="b" t="t" l="l"/>
              <a:pathLst>
                <a:path h="2768600" w="10541000">
                  <a:moveTo>
                    <a:pt x="0" y="147701"/>
                  </a:moveTo>
                  <a:cubicBezTo>
                    <a:pt x="0" y="66167"/>
                    <a:pt x="66167" y="0"/>
                    <a:pt x="147701" y="0"/>
                  </a:cubicBezTo>
                  <a:lnTo>
                    <a:pt x="10393299" y="0"/>
                  </a:lnTo>
                  <a:cubicBezTo>
                    <a:pt x="10474833" y="0"/>
                    <a:pt x="10541000" y="66167"/>
                    <a:pt x="10541000" y="147701"/>
                  </a:cubicBezTo>
                  <a:lnTo>
                    <a:pt x="10541000" y="2620899"/>
                  </a:lnTo>
                  <a:cubicBezTo>
                    <a:pt x="10541000" y="2702433"/>
                    <a:pt x="10474833" y="2768600"/>
                    <a:pt x="10393299" y="2768600"/>
                  </a:cubicBezTo>
                  <a:lnTo>
                    <a:pt x="147701" y="2768600"/>
                  </a:lnTo>
                  <a:cubicBezTo>
                    <a:pt x="66167" y="2768600"/>
                    <a:pt x="0" y="2702433"/>
                    <a:pt x="0" y="2620899"/>
                  </a:cubicBezTo>
                  <a:close/>
                </a:path>
              </a:pathLst>
            </a:custGeom>
            <a:solidFill>
              <a:srgbClr val="FFFFFF"/>
            </a:solidFill>
            <a:ln w="19050" cap="sq">
              <a:solidFill>
                <a:srgbClr val="E3E6F0"/>
              </a:solidFill>
              <a:prstDash val="solid"/>
              <a:miter/>
            </a:ln>
          </p:spPr>
        </p:sp>
      </p:grpSp>
      <p:grpSp>
        <p:nvGrpSpPr>
          <p:cNvPr name="Group 23" id="23"/>
          <p:cNvGrpSpPr/>
          <p:nvPr/>
        </p:nvGrpSpPr>
        <p:grpSpPr>
          <a:xfrm rot="0">
            <a:off x="9601200" y="2880360"/>
            <a:ext cx="576072" cy="576072"/>
            <a:chOff x="0" y="0"/>
            <a:chExt cx="768096" cy="768096"/>
          </a:xfrm>
        </p:grpSpPr>
        <p:sp>
          <p:nvSpPr>
            <p:cNvPr name="Freeform 24" id="2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9FBF6"/>
            </a:solidFill>
          </p:spPr>
        </p:sp>
      </p:grpSp>
      <p:grpSp>
        <p:nvGrpSpPr>
          <p:cNvPr name="Group 25" id="25"/>
          <p:cNvGrpSpPr/>
          <p:nvPr/>
        </p:nvGrpSpPr>
        <p:grpSpPr>
          <a:xfrm rot="0">
            <a:off x="9601200" y="2880360"/>
            <a:ext cx="576072" cy="576072"/>
            <a:chOff x="0" y="0"/>
            <a:chExt cx="768096" cy="768096"/>
          </a:xfrm>
        </p:grpSpPr>
        <p:sp>
          <p:nvSpPr>
            <p:cNvPr name="Freeform 26" id="26"/>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27" id="27"/>
            <p:cNvSpPr txBox="true"/>
            <p:nvPr/>
          </p:nvSpPr>
          <p:spPr>
            <a:xfrm>
              <a:off x="0" y="-38100"/>
              <a:ext cx="768096" cy="806196"/>
            </a:xfrm>
            <a:prstGeom prst="rect">
              <a:avLst/>
            </a:prstGeom>
          </p:spPr>
          <p:txBody>
            <a:bodyPr anchor="ctr" rtlCol="false" tIns="0" lIns="0" bIns="0" rIns="0"/>
            <a:lstStyle/>
            <a:p>
              <a:pPr algn="ctr">
                <a:lnSpc>
                  <a:spcPts val="2879"/>
                </a:lnSpc>
              </a:pPr>
              <a:r>
                <a:rPr lang="en-US" sz="2400" b="true">
                  <a:solidFill>
                    <a:srgbClr val="00D1B2"/>
                  </a:solidFill>
                  <a:latin typeface="Calibri (MS) Bold"/>
                  <a:ea typeface="Calibri (MS) Bold"/>
                  <a:cs typeface="Calibri (MS) Bold"/>
                  <a:sym typeface="Calibri (MS) Bold"/>
                </a:rPr>
                <a:t>2</a:t>
              </a:r>
            </a:p>
          </p:txBody>
        </p:sp>
      </p:grpSp>
      <p:grpSp>
        <p:nvGrpSpPr>
          <p:cNvPr name="Group 28" id="28"/>
          <p:cNvGrpSpPr/>
          <p:nvPr/>
        </p:nvGrpSpPr>
        <p:grpSpPr>
          <a:xfrm rot="0">
            <a:off x="10424160" y="2811780"/>
            <a:ext cx="6377940" cy="548640"/>
            <a:chOff x="0" y="0"/>
            <a:chExt cx="8503920" cy="731520"/>
          </a:xfrm>
        </p:grpSpPr>
        <p:sp>
          <p:nvSpPr>
            <p:cNvPr name="Freeform 29" id="29"/>
            <p:cNvSpPr/>
            <p:nvPr/>
          </p:nvSpPr>
          <p:spPr>
            <a:xfrm flipH="false" flipV="false" rot="0">
              <a:off x="0" y="0"/>
              <a:ext cx="8503920" cy="731520"/>
            </a:xfrm>
            <a:custGeom>
              <a:avLst/>
              <a:gdLst/>
              <a:ahLst/>
              <a:cxnLst/>
              <a:rect r="r" b="b" t="t" l="l"/>
              <a:pathLst>
                <a:path h="731520" w="8503920">
                  <a:moveTo>
                    <a:pt x="0" y="0"/>
                  </a:moveTo>
                  <a:lnTo>
                    <a:pt x="8503920" y="0"/>
                  </a:lnTo>
                  <a:lnTo>
                    <a:pt x="8503920" y="731520"/>
                  </a:lnTo>
                  <a:lnTo>
                    <a:pt x="0" y="731520"/>
                  </a:lnTo>
                  <a:close/>
                </a:path>
              </a:pathLst>
            </a:custGeom>
            <a:blipFill>
              <a:blip r:embed="rId2">
                <a:alphaModFix amt="0"/>
              </a:blip>
              <a:stretch>
                <a:fillRect l="0" t="-176513" r="0" b="-176513"/>
              </a:stretch>
            </a:blipFill>
          </p:spPr>
        </p:sp>
        <p:sp>
          <p:nvSpPr>
            <p:cNvPr name="TextBox 30" id="30"/>
            <p:cNvSpPr txBox="true"/>
            <p:nvPr/>
          </p:nvSpPr>
          <p:spPr>
            <a:xfrm>
              <a:off x="0" y="-19050"/>
              <a:ext cx="8503920" cy="750570"/>
            </a:xfrm>
            <a:prstGeom prst="rect">
              <a:avLst/>
            </a:prstGeom>
          </p:spPr>
          <p:txBody>
            <a:bodyPr anchor="ctr" rtlCol="false" tIns="0" lIns="0" bIns="0" rIns="0"/>
            <a:lstStyle/>
            <a:p>
              <a:pPr algn="l">
                <a:lnSpc>
                  <a:spcPts val="2610"/>
                </a:lnSpc>
              </a:pPr>
              <a:r>
                <a:rPr lang="en-US" sz="2175" b="true">
                  <a:solidFill>
                    <a:srgbClr val="0E1220"/>
                  </a:solidFill>
                  <a:latin typeface="Cambria Bold"/>
                  <a:ea typeface="Cambria Bold"/>
                  <a:cs typeface="Cambria Bold"/>
                  <a:sym typeface="Cambria Bold"/>
                </a:rPr>
                <a:t>Corrección de columnas</a:t>
              </a:r>
            </a:p>
          </p:txBody>
        </p:sp>
      </p:grpSp>
      <p:grpSp>
        <p:nvGrpSpPr>
          <p:cNvPr name="Group 31" id="31"/>
          <p:cNvGrpSpPr/>
          <p:nvPr/>
        </p:nvGrpSpPr>
        <p:grpSpPr>
          <a:xfrm rot="0">
            <a:off x="10424160" y="3387852"/>
            <a:ext cx="6377940" cy="1097280"/>
            <a:chOff x="0" y="0"/>
            <a:chExt cx="8503920" cy="1463040"/>
          </a:xfrm>
        </p:grpSpPr>
        <p:sp>
          <p:nvSpPr>
            <p:cNvPr name="Freeform 32" id="32"/>
            <p:cNvSpPr/>
            <p:nvPr/>
          </p:nvSpPr>
          <p:spPr>
            <a:xfrm flipH="false" flipV="false" rot="0">
              <a:off x="0" y="0"/>
              <a:ext cx="8503920" cy="1463040"/>
            </a:xfrm>
            <a:custGeom>
              <a:avLst/>
              <a:gdLst/>
              <a:ahLst/>
              <a:cxnLst/>
              <a:rect r="r" b="b" t="t" l="l"/>
              <a:pathLst>
                <a:path h="1463040" w="8503920">
                  <a:moveTo>
                    <a:pt x="0" y="0"/>
                  </a:moveTo>
                  <a:lnTo>
                    <a:pt x="8503920" y="0"/>
                  </a:lnTo>
                  <a:lnTo>
                    <a:pt x="8503920" y="1463040"/>
                  </a:lnTo>
                  <a:lnTo>
                    <a:pt x="0" y="1463040"/>
                  </a:lnTo>
                  <a:close/>
                </a:path>
              </a:pathLst>
            </a:custGeom>
            <a:blipFill>
              <a:blip r:embed="rId2">
                <a:alphaModFix amt="0"/>
              </a:blip>
              <a:stretch>
                <a:fillRect l="0" t="-63256" r="0" b="-63256"/>
              </a:stretch>
            </a:blipFill>
          </p:spPr>
        </p:sp>
        <p:sp>
          <p:nvSpPr>
            <p:cNvPr name="TextBox 33" id="33"/>
            <p:cNvSpPr txBox="true"/>
            <p:nvPr/>
          </p:nvSpPr>
          <p:spPr>
            <a:xfrm>
              <a:off x="0" y="-57150"/>
              <a:ext cx="8503920" cy="1520190"/>
            </a:xfrm>
            <a:prstGeom prst="rect">
              <a:avLst/>
            </a:prstGeom>
          </p:spPr>
          <p:txBody>
            <a:bodyPr anchor="ctr" rtlCol="false" tIns="0" lIns="0" bIns="0" rIns="0"/>
            <a:lstStyle/>
            <a:p>
              <a:pPr algn="l">
                <a:lnSpc>
                  <a:spcPts val="2277"/>
                </a:lnSpc>
              </a:pPr>
              <a:r>
                <a:rPr lang="en-US" sz="1650">
                  <a:solidFill>
                    <a:srgbClr val="6B7280"/>
                  </a:solidFill>
                  <a:latin typeface="Calibri (MS)"/>
                  <a:ea typeface="Calibri (MS)"/>
                  <a:cs typeface="Calibri (MS)"/>
                  <a:sym typeface="Calibri (MS)"/>
                </a:rPr>
                <a:t>“Fwd Header Length” venía duplicada en el header; se elimina la copia generada por pandas.</a:t>
              </a:r>
            </a:p>
          </p:txBody>
        </p:sp>
      </p:grpSp>
      <p:grpSp>
        <p:nvGrpSpPr>
          <p:cNvPr name="Group 34" id="34"/>
          <p:cNvGrpSpPr/>
          <p:nvPr/>
        </p:nvGrpSpPr>
        <p:grpSpPr>
          <a:xfrm rot="0">
            <a:off x="813435" y="4928235"/>
            <a:ext cx="7905750" cy="2076450"/>
            <a:chOff x="0" y="0"/>
            <a:chExt cx="10541000" cy="2768600"/>
          </a:xfrm>
        </p:grpSpPr>
        <p:sp>
          <p:nvSpPr>
            <p:cNvPr name="Freeform 35" id="35"/>
            <p:cNvSpPr/>
            <p:nvPr/>
          </p:nvSpPr>
          <p:spPr>
            <a:xfrm flipH="false" flipV="false" rot="0">
              <a:off x="0" y="0"/>
              <a:ext cx="10541000" cy="2768600"/>
            </a:xfrm>
            <a:custGeom>
              <a:avLst/>
              <a:gdLst/>
              <a:ahLst/>
              <a:cxnLst/>
              <a:rect r="r" b="b" t="t" l="l"/>
              <a:pathLst>
                <a:path h="2768600" w="10541000">
                  <a:moveTo>
                    <a:pt x="0" y="147701"/>
                  </a:moveTo>
                  <a:cubicBezTo>
                    <a:pt x="0" y="66167"/>
                    <a:pt x="66167" y="0"/>
                    <a:pt x="147701" y="0"/>
                  </a:cubicBezTo>
                  <a:lnTo>
                    <a:pt x="10393299" y="0"/>
                  </a:lnTo>
                  <a:cubicBezTo>
                    <a:pt x="10474833" y="0"/>
                    <a:pt x="10541000" y="66167"/>
                    <a:pt x="10541000" y="147701"/>
                  </a:cubicBezTo>
                  <a:lnTo>
                    <a:pt x="10541000" y="2620899"/>
                  </a:lnTo>
                  <a:cubicBezTo>
                    <a:pt x="10541000" y="2702433"/>
                    <a:pt x="10474833" y="2768600"/>
                    <a:pt x="10393299" y="2768600"/>
                  </a:cubicBezTo>
                  <a:lnTo>
                    <a:pt x="147701" y="2768600"/>
                  </a:lnTo>
                  <a:cubicBezTo>
                    <a:pt x="66167" y="2768600"/>
                    <a:pt x="0" y="2702433"/>
                    <a:pt x="0" y="2620899"/>
                  </a:cubicBezTo>
                  <a:close/>
                </a:path>
              </a:pathLst>
            </a:custGeom>
            <a:solidFill>
              <a:srgbClr val="FFFFFF"/>
            </a:solidFill>
            <a:ln w="19050" cap="sq">
              <a:solidFill>
                <a:srgbClr val="E3E6F0"/>
              </a:solidFill>
              <a:prstDash val="solid"/>
              <a:miter/>
            </a:ln>
          </p:spPr>
        </p:sp>
      </p:grpSp>
      <p:grpSp>
        <p:nvGrpSpPr>
          <p:cNvPr name="Group 36" id="36"/>
          <p:cNvGrpSpPr/>
          <p:nvPr/>
        </p:nvGrpSpPr>
        <p:grpSpPr>
          <a:xfrm rot="0">
            <a:off x="1165860" y="5280660"/>
            <a:ext cx="576072" cy="576072"/>
            <a:chOff x="0" y="0"/>
            <a:chExt cx="768096" cy="768096"/>
          </a:xfrm>
        </p:grpSpPr>
        <p:sp>
          <p:nvSpPr>
            <p:cNvPr name="Freeform 37" id="37"/>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9FBF6"/>
            </a:solidFill>
          </p:spPr>
        </p:sp>
      </p:grpSp>
      <p:grpSp>
        <p:nvGrpSpPr>
          <p:cNvPr name="Group 38" id="38"/>
          <p:cNvGrpSpPr/>
          <p:nvPr/>
        </p:nvGrpSpPr>
        <p:grpSpPr>
          <a:xfrm rot="0">
            <a:off x="1165860" y="5280660"/>
            <a:ext cx="576072" cy="576072"/>
            <a:chOff x="0" y="0"/>
            <a:chExt cx="768096" cy="768096"/>
          </a:xfrm>
        </p:grpSpPr>
        <p:sp>
          <p:nvSpPr>
            <p:cNvPr name="Freeform 39" id="39"/>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40" id="40"/>
            <p:cNvSpPr txBox="true"/>
            <p:nvPr/>
          </p:nvSpPr>
          <p:spPr>
            <a:xfrm>
              <a:off x="0" y="-38100"/>
              <a:ext cx="768096" cy="806196"/>
            </a:xfrm>
            <a:prstGeom prst="rect">
              <a:avLst/>
            </a:prstGeom>
          </p:spPr>
          <p:txBody>
            <a:bodyPr anchor="ctr" rtlCol="false" tIns="0" lIns="0" bIns="0" rIns="0"/>
            <a:lstStyle/>
            <a:p>
              <a:pPr algn="ctr">
                <a:lnSpc>
                  <a:spcPts val="2879"/>
                </a:lnSpc>
              </a:pPr>
              <a:r>
                <a:rPr lang="en-US" sz="2400" b="true">
                  <a:solidFill>
                    <a:srgbClr val="00D1B2"/>
                  </a:solidFill>
                  <a:latin typeface="Calibri (MS) Bold"/>
                  <a:ea typeface="Calibri (MS) Bold"/>
                  <a:cs typeface="Calibri (MS) Bold"/>
                  <a:sym typeface="Calibri (MS) Bold"/>
                </a:rPr>
                <a:t>3</a:t>
              </a:r>
            </a:p>
          </p:txBody>
        </p:sp>
      </p:grpSp>
      <p:grpSp>
        <p:nvGrpSpPr>
          <p:cNvPr name="Group 41" id="41"/>
          <p:cNvGrpSpPr/>
          <p:nvPr/>
        </p:nvGrpSpPr>
        <p:grpSpPr>
          <a:xfrm rot="0">
            <a:off x="1988820" y="5212080"/>
            <a:ext cx="6377940" cy="548640"/>
            <a:chOff x="0" y="0"/>
            <a:chExt cx="8503920" cy="731520"/>
          </a:xfrm>
        </p:grpSpPr>
        <p:sp>
          <p:nvSpPr>
            <p:cNvPr name="Freeform 42" id="42"/>
            <p:cNvSpPr/>
            <p:nvPr/>
          </p:nvSpPr>
          <p:spPr>
            <a:xfrm flipH="false" flipV="false" rot="0">
              <a:off x="0" y="0"/>
              <a:ext cx="8503920" cy="731520"/>
            </a:xfrm>
            <a:custGeom>
              <a:avLst/>
              <a:gdLst/>
              <a:ahLst/>
              <a:cxnLst/>
              <a:rect r="r" b="b" t="t" l="l"/>
              <a:pathLst>
                <a:path h="731520" w="8503920">
                  <a:moveTo>
                    <a:pt x="0" y="0"/>
                  </a:moveTo>
                  <a:lnTo>
                    <a:pt x="8503920" y="0"/>
                  </a:lnTo>
                  <a:lnTo>
                    <a:pt x="8503920" y="731520"/>
                  </a:lnTo>
                  <a:lnTo>
                    <a:pt x="0" y="731520"/>
                  </a:lnTo>
                  <a:close/>
                </a:path>
              </a:pathLst>
            </a:custGeom>
            <a:blipFill>
              <a:blip r:embed="rId2">
                <a:alphaModFix amt="0"/>
              </a:blip>
              <a:stretch>
                <a:fillRect l="0" t="-176513" r="0" b="-176513"/>
              </a:stretch>
            </a:blipFill>
          </p:spPr>
        </p:sp>
        <p:sp>
          <p:nvSpPr>
            <p:cNvPr name="TextBox 43" id="43"/>
            <p:cNvSpPr txBox="true"/>
            <p:nvPr/>
          </p:nvSpPr>
          <p:spPr>
            <a:xfrm>
              <a:off x="0" y="-19050"/>
              <a:ext cx="8503920" cy="750570"/>
            </a:xfrm>
            <a:prstGeom prst="rect">
              <a:avLst/>
            </a:prstGeom>
          </p:spPr>
          <p:txBody>
            <a:bodyPr anchor="ctr" rtlCol="false" tIns="0" lIns="0" bIns="0" rIns="0"/>
            <a:lstStyle/>
            <a:p>
              <a:pPr algn="l">
                <a:lnSpc>
                  <a:spcPts val="2610"/>
                </a:lnSpc>
              </a:pPr>
              <a:r>
                <a:rPr lang="en-US" sz="2175" b="true">
                  <a:solidFill>
                    <a:srgbClr val="0E1220"/>
                  </a:solidFill>
                  <a:latin typeface="Cambria Bold"/>
                  <a:ea typeface="Cambria Bold"/>
                  <a:cs typeface="Cambria Bold"/>
                  <a:sym typeface="Cambria Bold"/>
                </a:rPr>
                <a:t>Normalización de etiquetas</a:t>
              </a:r>
            </a:p>
          </p:txBody>
        </p:sp>
      </p:grpSp>
      <p:grpSp>
        <p:nvGrpSpPr>
          <p:cNvPr name="Group 44" id="44"/>
          <p:cNvGrpSpPr/>
          <p:nvPr/>
        </p:nvGrpSpPr>
        <p:grpSpPr>
          <a:xfrm rot="0">
            <a:off x="1988820" y="5788152"/>
            <a:ext cx="6377940" cy="1097280"/>
            <a:chOff x="0" y="0"/>
            <a:chExt cx="8503920" cy="1463040"/>
          </a:xfrm>
        </p:grpSpPr>
        <p:sp>
          <p:nvSpPr>
            <p:cNvPr name="Freeform 45" id="45"/>
            <p:cNvSpPr/>
            <p:nvPr/>
          </p:nvSpPr>
          <p:spPr>
            <a:xfrm flipH="false" flipV="false" rot="0">
              <a:off x="0" y="0"/>
              <a:ext cx="8503920" cy="1463040"/>
            </a:xfrm>
            <a:custGeom>
              <a:avLst/>
              <a:gdLst/>
              <a:ahLst/>
              <a:cxnLst/>
              <a:rect r="r" b="b" t="t" l="l"/>
              <a:pathLst>
                <a:path h="1463040" w="8503920">
                  <a:moveTo>
                    <a:pt x="0" y="0"/>
                  </a:moveTo>
                  <a:lnTo>
                    <a:pt x="8503920" y="0"/>
                  </a:lnTo>
                  <a:lnTo>
                    <a:pt x="8503920" y="1463040"/>
                  </a:lnTo>
                  <a:lnTo>
                    <a:pt x="0" y="1463040"/>
                  </a:lnTo>
                  <a:close/>
                </a:path>
              </a:pathLst>
            </a:custGeom>
            <a:blipFill>
              <a:blip r:embed="rId2">
                <a:alphaModFix amt="0"/>
              </a:blip>
              <a:stretch>
                <a:fillRect l="0" t="-63256" r="0" b="-63256"/>
              </a:stretch>
            </a:blipFill>
          </p:spPr>
        </p:sp>
        <p:sp>
          <p:nvSpPr>
            <p:cNvPr name="TextBox 46" id="46"/>
            <p:cNvSpPr txBox="true"/>
            <p:nvPr/>
          </p:nvSpPr>
          <p:spPr>
            <a:xfrm>
              <a:off x="0" y="-57150"/>
              <a:ext cx="8503920" cy="1520190"/>
            </a:xfrm>
            <a:prstGeom prst="rect">
              <a:avLst/>
            </a:prstGeom>
          </p:spPr>
          <p:txBody>
            <a:bodyPr anchor="ctr" rtlCol="false" tIns="0" lIns="0" bIns="0" rIns="0"/>
            <a:lstStyle/>
            <a:p>
              <a:pPr algn="l">
                <a:lnSpc>
                  <a:spcPts val="2277"/>
                </a:lnSpc>
              </a:pPr>
              <a:r>
                <a:rPr lang="en-US" sz="1650">
                  <a:solidFill>
                    <a:srgbClr val="6B7280"/>
                  </a:solidFill>
                  <a:latin typeface="Calibri (MS)"/>
                  <a:ea typeface="Calibri (MS)"/>
                  <a:cs typeface="Calibri (MS)"/>
                  <a:sym typeface="Calibri (MS)"/>
                </a:rPr>
                <a:t>Las clases “Web Attack ...” traían un carácter corrupto (mojibake) en vez de un guion; se normalizan.</a:t>
              </a:r>
            </a:p>
          </p:txBody>
        </p:sp>
      </p:grpSp>
      <p:grpSp>
        <p:nvGrpSpPr>
          <p:cNvPr name="Group 47" id="47"/>
          <p:cNvGrpSpPr/>
          <p:nvPr/>
        </p:nvGrpSpPr>
        <p:grpSpPr>
          <a:xfrm rot="0">
            <a:off x="9248775" y="4928235"/>
            <a:ext cx="7905750" cy="2076450"/>
            <a:chOff x="0" y="0"/>
            <a:chExt cx="10541000" cy="2768600"/>
          </a:xfrm>
        </p:grpSpPr>
        <p:sp>
          <p:nvSpPr>
            <p:cNvPr name="Freeform 48" id="48"/>
            <p:cNvSpPr/>
            <p:nvPr/>
          </p:nvSpPr>
          <p:spPr>
            <a:xfrm flipH="false" flipV="false" rot="0">
              <a:off x="0" y="0"/>
              <a:ext cx="10541000" cy="2768600"/>
            </a:xfrm>
            <a:custGeom>
              <a:avLst/>
              <a:gdLst/>
              <a:ahLst/>
              <a:cxnLst/>
              <a:rect r="r" b="b" t="t" l="l"/>
              <a:pathLst>
                <a:path h="2768600" w="10541000">
                  <a:moveTo>
                    <a:pt x="0" y="147701"/>
                  </a:moveTo>
                  <a:cubicBezTo>
                    <a:pt x="0" y="66167"/>
                    <a:pt x="66167" y="0"/>
                    <a:pt x="147701" y="0"/>
                  </a:cubicBezTo>
                  <a:lnTo>
                    <a:pt x="10393299" y="0"/>
                  </a:lnTo>
                  <a:cubicBezTo>
                    <a:pt x="10474833" y="0"/>
                    <a:pt x="10541000" y="66167"/>
                    <a:pt x="10541000" y="147701"/>
                  </a:cubicBezTo>
                  <a:lnTo>
                    <a:pt x="10541000" y="2620899"/>
                  </a:lnTo>
                  <a:cubicBezTo>
                    <a:pt x="10541000" y="2702433"/>
                    <a:pt x="10474833" y="2768600"/>
                    <a:pt x="10393299" y="2768600"/>
                  </a:cubicBezTo>
                  <a:lnTo>
                    <a:pt x="147701" y="2768600"/>
                  </a:lnTo>
                  <a:cubicBezTo>
                    <a:pt x="66167" y="2768600"/>
                    <a:pt x="0" y="2702433"/>
                    <a:pt x="0" y="2620899"/>
                  </a:cubicBezTo>
                  <a:close/>
                </a:path>
              </a:pathLst>
            </a:custGeom>
            <a:solidFill>
              <a:srgbClr val="FFFFFF"/>
            </a:solidFill>
            <a:ln w="19050" cap="sq">
              <a:solidFill>
                <a:srgbClr val="E3E6F0"/>
              </a:solidFill>
              <a:prstDash val="solid"/>
              <a:miter/>
            </a:ln>
          </p:spPr>
        </p:sp>
      </p:grpSp>
      <p:grpSp>
        <p:nvGrpSpPr>
          <p:cNvPr name="Group 49" id="49"/>
          <p:cNvGrpSpPr/>
          <p:nvPr/>
        </p:nvGrpSpPr>
        <p:grpSpPr>
          <a:xfrm rot="0">
            <a:off x="9601200" y="5280660"/>
            <a:ext cx="576072" cy="576072"/>
            <a:chOff x="0" y="0"/>
            <a:chExt cx="768096" cy="768096"/>
          </a:xfrm>
        </p:grpSpPr>
        <p:sp>
          <p:nvSpPr>
            <p:cNvPr name="Freeform 50" id="5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9FBF6"/>
            </a:solidFill>
          </p:spPr>
        </p:sp>
      </p:grpSp>
      <p:grpSp>
        <p:nvGrpSpPr>
          <p:cNvPr name="Group 51" id="51"/>
          <p:cNvGrpSpPr/>
          <p:nvPr/>
        </p:nvGrpSpPr>
        <p:grpSpPr>
          <a:xfrm rot="0">
            <a:off x="9601200" y="5280660"/>
            <a:ext cx="576072" cy="576072"/>
            <a:chOff x="0" y="0"/>
            <a:chExt cx="768096" cy="768096"/>
          </a:xfrm>
        </p:grpSpPr>
        <p:sp>
          <p:nvSpPr>
            <p:cNvPr name="Freeform 52" id="52"/>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53" id="53"/>
            <p:cNvSpPr txBox="true"/>
            <p:nvPr/>
          </p:nvSpPr>
          <p:spPr>
            <a:xfrm>
              <a:off x="0" y="-38100"/>
              <a:ext cx="768096" cy="806196"/>
            </a:xfrm>
            <a:prstGeom prst="rect">
              <a:avLst/>
            </a:prstGeom>
          </p:spPr>
          <p:txBody>
            <a:bodyPr anchor="ctr" rtlCol="false" tIns="0" lIns="0" bIns="0" rIns="0"/>
            <a:lstStyle/>
            <a:p>
              <a:pPr algn="ctr">
                <a:lnSpc>
                  <a:spcPts val="2879"/>
                </a:lnSpc>
              </a:pPr>
              <a:r>
                <a:rPr lang="en-US" sz="2400" b="true">
                  <a:solidFill>
                    <a:srgbClr val="00D1B2"/>
                  </a:solidFill>
                  <a:latin typeface="Calibri (MS) Bold"/>
                  <a:ea typeface="Calibri (MS) Bold"/>
                  <a:cs typeface="Calibri (MS) Bold"/>
                  <a:sym typeface="Calibri (MS) Bold"/>
                </a:rPr>
                <a:t>4</a:t>
              </a:r>
            </a:p>
          </p:txBody>
        </p:sp>
      </p:grpSp>
      <p:grpSp>
        <p:nvGrpSpPr>
          <p:cNvPr name="Group 54" id="54"/>
          <p:cNvGrpSpPr/>
          <p:nvPr/>
        </p:nvGrpSpPr>
        <p:grpSpPr>
          <a:xfrm rot="0">
            <a:off x="10424160" y="5212080"/>
            <a:ext cx="6377940" cy="548640"/>
            <a:chOff x="0" y="0"/>
            <a:chExt cx="8503920" cy="731520"/>
          </a:xfrm>
        </p:grpSpPr>
        <p:sp>
          <p:nvSpPr>
            <p:cNvPr name="Freeform 55" id="55"/>
            <p:cNvSpPr/>
            <p:nvPr/>
          </p:nvSpPr>
          <p:spPr>
            <a:xfrm flipH="false" flipV="false" rot="0">
              <a:off x="0" y="0"/>
              <a:ext cx="8503920" cy="731520"/>
            </a:xfrm>
            <a:custGeom>
              <a:avLst/>
              <a:gdLst/>
              <a:ahLst/>
              <a:cxnLst/>
              <a:rect r="r" b="b" t="t" l="l"/>
              <a:pathLst>
                <a:path h="731520" w="8503920">
                  <a:moveTo>
                    <a:pt x="0" y="0"/>
                  </a:moveTo>
                  <a:lnTo>
                    <a:pt x="8503920" y="0"/>
                  </a:lnTo>
                  <a:lnTo>
                    <a:pt x="8503920" y="731520"/>
                  </a:lnTo>
                  <a:lnTo>
                    <a:pt x="0" y="731520"/>
                  </a:lnTo>
                  <a:close/>
                </a:path>
              </a:pathLst>
            </a:custGeom>
            <a:blipFill>
              <a:blip r:embed="rId2">
                <a:alphaModFix amt="0"/>
              </a:blip>
              <a:stretch>
                <a:fillRect l="0" t="-176513" r="0" b="-176513"/>
              </a:stretch>
            </a:blipFill>
          </p:spPr>
        </p:sp>
        <p:sp>
          <p:nvSpPr>
            <p:cNvPr name="TextBox 56" id="56"/>
            <p:cNvSpPr txBox="true"/>
            <p:nvPr/>
          </p:nvSpPr>
          <p:spPr>
            <a:xfrm>
              <a:off x="0" y="-19050"/>
              <a:ext cx="8503920" cy="750570"/>
            </a:xfrm>
            <a:prstGeom prst="rect">
              <a:avLst/>
            </a:prstGeom>
          </p:spPr>
          <p:txBody>
            <a:bodyPr anchor="ctr" rtlCol="false" tIns="0" lIns="0" bIns="0" rIns="0"/>
            <a:lstStyle/>
            <a:p>
              <a:pPr algn="l">
                <a:lnSpc>
                  <a:spcPts val="2610"/>
                </a:lnSpc>
              </a:pPr>
              <a:r>
                <a:rPr lang="en-US" sz="2175" b="true">
                  <a:solidFill>
                    <a:srgbClr val="0E1220"/>
                  </a:solidFill>
                  <a:latin typeface="Cambria Bold"/>
                  <a:ea typeface="Cambria Bold"/>
                  <a:cs typeface="Cambria Bold"/>
                  <a:sym typeface="Cambria Bold"/>
                </a:rPr>
                <a:t>Tasas indefinidas</a:t>
              </a:r>
            </a:p>
          </p:txBody>
        </p:sp>
      </p:grpSp>
      <p:grpSp>
        <p:nvGrpSpPr>
          <p:cNvPr name="Group 57" id="57"/>
          <p:cNvGrpSpPr/>
          <p:nvPr/>
        </p:nvGrpSpPr>
        <p:grpSpPr>
          <a:xfrm rot="0">
            <a:off x="10424160" y="5788152"/>
            <a:ext cx="6377940" cy="1097280"/>
            <a:chOff x="0" y="0"/>
            <a:chExt cx="8503920" cy="1463040"/>
          </a:xfrm>
        </p:grpSpPr>
        <p:sp>
          <p:nvSpPr>
            <p:cNvPr name="Freeform 58" id="58"/>
            <p:cNvSpPr/>
            <p:nvPr/>
          </p:nvSpPr>
          <p:spPr>
            <a:xfrm flipH="false" flipV="false" rot="0">
              <a:off x="0" y="0"/>
              <a:ext cx="8503920" cy="1463040"/>
            </a:xfrm>
            <a:custGeom>
              <a:avLst/>
              <a:gdLst/>
              <a:ahLst/>
              <a:cxnLst/>
              <a:rect r="r" b="b" t="t" l="l"/>
              <a:pathLst>
                <a:path h="1463040" w="8503920">
                  <a:moveTo>
                    <a:pt x="0" y="0"/>
                  </a:moveTo>
                  <a:lnTo>
                    <a:pt x="8503920" y="0"/>
                  </a:lnTo>
                  <a:lnTo>
                    <a:pt x="8503920" y="1463040"/>
                  </a:lnTo>
                  <a:lnTo>
                    <a:pt x="0" y="1463040"/>
                  </a:lnTo>
                  <a:close/>
                </a:path>
              </a:pathLst>
            </a:custGeom>
            <a:blipFill>
              <a:blip r:embed="rId2">
                <a:alphaModFix amt="0"/>
              </a:blip>
              <a:stretch>
                <a:fillRect l="0" t="-63256" r="0" b="-63256"/>
              </a:stretch>
            </a:blipFill>
          </p:spPr>
        </p:sp>
        <p:sp>
          <p:nvSpPr>
            <p:cNvPr name="TextBox 59" id="59"/>
            <p:cNvSpPr txBox="true"/>
            <p:nvPr/>
          </p:nvSpPr>
          <p:spPr>
            <a:xfrm>
              <a:off x="0" y="-57150"/>
              <a:ext cx="8503920" cy="1520190"/>
            </a:xfrm>
            <a:prstGeom prst="rect">
              <a:avLst/>
            </a:prstGeom>
          </p:spPr>
          <p:txBody>
            <a:bodyPr anchor="ctr" rtlCol="false" tIns="0" lIns="0" bIns="0" rIns="0"/>
            <a:lstStyle/>
            <a:p>
              <a:pPr algn="l">
                <a:lnSpc>
                  <a:spcPts val="2277"/>
                </a:lnSpc>
              </a:pPr>
              <a:r>
                <a:rPr lang="en-US" sz="1650">
                  <a:solidFill>
                    <a:srgbClr val="6B7280"/>
                  </a:solidFill>
                  <a:latin typeface="Calibri (MS)"/>
                  <a:ea typeface="Calibri (MS)"/>
                  <a:cs typeface="Calibri (MS)"/>
                  <a:sym typeface="Calibri (MS)"/>
                </a:rPr>
                <a:t>“Flow Bytes/s” y “Flow Packets/s” quedan en Infinity/NaN cuando la duración del flujo es ~0; se definen como 0.</a:t>
              </a:r>
            </a:p>
          </p:txBody>
        </p:sp>
      </p:grpSp>
      <p:grpSp>
        <p:nvGrpSpPr>
          <p:cNvPr name="Group 60" id="60"/>
          <p:cNvGrpSpPr/>
          <p:nvPr/>
        </p:nvGrpSpPr>
        <p:grpSpPr>
          <a:xfrm rot="0">
            <a:off x="822960" y="7543800"/>
            <a:ext cx="16322040" cy="822960"/>
            <a:chOff x="0" y="0"/>
            <a:chExt cx="21762720" cy="1097280"/>
          </a:xfrm>
        </p:grpSpPr>
        <p:sp>
          <p:nvSpPr>
            <p:cNvPr name="Freeform 61" id="61"/>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2">
                <a:alphaModFix amt="0"/>
              </a:blip>
              <a:stretch>
                <a:fillRect l="0" t="-336453" r="0" b="-336453"/>
              </a:stretch>
            </a:blipFill>
          </p:spPr>
        </p:sp>
        <p:sp>
          <p:nvSpPr>
            <p:cNvPr name="TextBox 62" id="62"/>
            <p:cNvSpPr txBox="true"/>
            <p:nvPr/>
          </p:nvSpPr>
          <p:spPr>
            <a:xfrm>
              <a:off x="0" y="-38100"/>
              <a:ext cx="21762720" cy="1135380"/>
            </a:xfrm>
            <a:prstGeom prst="rect">
              <a:avLst/>
            </a:prstGeom>
          </p:spPr>
          <p:txBody>
            <a:bodyPr anchor="ctr" rtlCol="false" tIns="0" lIns="0" bIns="0" rIns="0"/>
            <a:lstStyle/>
            <a:p>
              <a:pPr algn="l">
                <a:lnSpc>
                  <a:spcPts val="2070"/>
                </a:lnSpc>
              </a:pPr>
              <a:r>
                <a:rPr lang="en-US" sz="1725" i="true">
                  <a:solidFill>
                    <a:srgbClr val="6B7280"/>
                  </a:solidFill>
                  <a:latin typeface="Calibri (MS) Italics"/>
                  <a:ea typeface="Calibri (MS) Italics"/>
                  <a:cs typeface="Calibri (MS) Italics"/>
                  <a:sym typeface="Calibri (MS) Italics"/>
                </a:rPr>
                <a:t>En modo desarrollo rápido (fast_dev_run) se sub-muestrea por archivo y clase preservando siempre las clases minoritarias completas, el pipeline se valida end-to-end antes de correr sobre el dataset completo en Colab. Esto principalmente para ahorrarnos tiempo</a:t>
              </a:r>
            </a:p>
          </p:txBody>
        </p:sp>
      </p:grpSp>
      <p:grpSp>
        <p:nvGrpSpPr>
          <p:cNvPr name="Group 63" id="63"/>
          <p:cNvGrpSpPr/>
          <p:nvPr/>
        </p:nvGrpSpPr>
        <p:grpSpPr>
          <a:xfrm rot="0">
            <a:off x="17053103" y="9601200"/>
            <a:ext cx="822960" cy="411480"/>
            <a:chOff x="0" y="0"/>
            <a:chExt cx="1097280" cy="548640"/>
          </a:xfrm>
        </p:grpSpPr>
        <p:sp>
          <p:nvSpPr>
            <p:cNvPr name="Freeform 64" id="64"/>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65" id="65"/>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04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1 · 1.1 CONSTRUCCIÓN DEL DATASET</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Un desbalance extremo entre clases</a:t>
              </a:r>
            </a:p>
          </p:txBody>
        </p:sp>
      </p:grpSp>
      <p:grpSp>
        <p:nvGrpSpPr>
          <p:cNvPr name="Group 8" id="8"/>
          <p:cNvGrpSpPr/>
          <p:nvPr/>
        </p:nvGrpSpPr>
        <p:grpSpPr>
          <a:xfrm rot="0">
            <a:off x="822960" y="2400300"/>
            <a:ext cx="9464040" cy="6172200"/>
            <a:chOff x="0" y="0"/>
            <a:chExt cx="12618720" cy="8229600"/>
          </a:xfrm>
        </p:grpSpPr>
        <p:sp>
          <p:nvSpPr>
            <p:cNvPr name="Freeform 9" id="9" descr="/home/claude/imgs/cell12_0.png"/>
            <p:cNvSpPr/>
            <p:nvPr/>
          </p:nvSpPr>
          <p:spPr>
            <a:xfrm flipH="false" flipV="false" rot="0">
              <a:off x="0" y="0"/>
              <a:ext cx="12618720" cy="8229600"/>
            </a:xfrm>
            <a:custGeom>
              <a:avLst/>
              <a:gdLst/>
              <a:ahLst/>
              <a:cxnLst/>
              <a:rect r="r" b="b" t="t" l="l"/>
              <a:pathLst>
                <a:path h="8229600" w="12618720">
                  <a:moveTo>
                    <a:pt x="0" y="0"/>
                  </a:moveTo>
                  <a:lnTo>
                    <a:pt x="12618720" y="0"/>
                  </a:lnTo>
                  <a:lnTo>
                    <a:pt x="12618720" y="8229600"/>
                  </a:lnTo>
                  <a:lnTo>
                    <a:pt x="0" y="8229600"/>
                  </a:lnTo>
                  <a:lnTo>
                    <a:pt x="0" y="0"/>
                  </a:lnTo>
                  <a:close/>
                </a:path>
              </a:pathLst>
            </a:custGeom>
            <a:blipFill>
              <a:blip r:embed="rId3"/>
              <a:stretch>
                <a:fillRect l="-2573" t="0" r="-2573" b="0"/>
              </a:stretch>
            </a:blipFill>
          </p:spPr>
        </p:sp>
      </p:grpSp>
      <p:grpSp>
        <p:nvGrpSpPr>
          <p:cNvPr name="Group 10" id="10"/>
          <p:cNvGrpSpPr/>
          <p:nvPr/>
        </p:nvGrpSpPr>
        <p:grpSpPr>
          <a:xfrm rot="0">
            <a:off x="10757535" y="2390775"/>
            <a:ext cx="6739890" cy="6191250"/>
            <a:chOff x="0" y="0"/>
            <a:chExt cx="8986520" cy="8255000"/>
          </a:xfrm>
        </p:grpSpPr>
        <p:sp>
          <p:nvSpPr>
            <p:cNvPr name="Freeform 11" id="11"/>
            <p:cNvSpPr/>
            <p:nvPr/>
          </p:nvSpPr>
          <p:spPr>
            <a:xfrm flipH="false" flipV="false" rot="0">
              <a:off x="0" y="0"/>
              <a:ext cx="8986520" cy="8255000"/>
            </a:xfrm>
            <a:custGeom>
              <a:avLst/>
              <a:gdLst/>
              <a:ahLst/>
              <a:cxnLst/>
              <a:rect r="r" b="b" t="t" l="l"/>
              <a:pathLst>
                <a:path h="8255000" w="8986520">
                  <a:moveTo>
                    <a:pt x="0" y="183388"/>
                  </a:moveTo>
                  <a:cubicBezTo>
                    <a:pt x="0" y="82169"/>
                    <a:pt x="82169" y="0"/>
                    <a:pt x="183388" y="0"/>
                  </a:cubicBezTo>
                  <a:lnTo>
                    <a:pt x="8803132" y="0"/>
                  </a:lnTo>
                  <a:cubicBezTo>
                    <a:pt x="8904477" y="0"/>
                    <a:pt x="8986520" y="82169"/>
                    <a:pt x="8986520" y="183388"/>
                  </a:cubicBezTo>
                  <a:lnTo>
                    <a:pt x="8986520" y="8071612"/>
                  </a:lnTo>
                  <a:cubicBezTo>
                    <a:pt x="8986520" y="8172958"/>
                    <a:pt x="8904350" y="8255000"/>
                    <a:pt x="8803132" y="8255000"/>
                  </a:cubicBezTo>
                  <a:lnTo>
                    <a:pt x="183388" y="8255000"/>
                  </a:lnTo>
                  <a:cubicBezTo>
                    <a:pt x="82169" y="8255000"/>
                    <a:pt x="0" y="8172831"/>
                    <a:pt x="0" y="8071612"/>
                  </a:cubicBezTo>
                  <a:close/>
                </a:path>
              </a:pathLst>
            </a:custGeom>
            <a:solidFill>
              <a:srgbClr val="F7F8FC"/>
            </a:solidFill>
            <a:ln w="19050" cap="sq">
              <a:solidFill>
                <a:srgbClr val="E3E6F0"/>
              </a:solidFill>
              <a:prstDash val="solid"/>
              <a:miter/>
            </a:ln>
          </p:spPr>
        </p:sp>
      </p:grpSp>
      <p:grpSp>
        <p:nvGrpSpPr>
          <p:cNvPr name="Group 12" id="12"/>
          <p:cNvGrpSpPr/>
          <p:nvPr/>
        </p:nvGrpSpPr>
        <p:grpSpPr>
          <a:xfrm rot="0">
            <a:off x="11247120" y="2743200"/>
            <a:ext cx="5760720" cy="411480"/>
            <a:chOff x="0" y="0"/>
            <a:chExt cx="7680960" cy="548640"/>
          </a:xfrm>
        </p:grpSpPr>
        <p:sp>
          <p:nvSpPr>
            <p:cNvPr name="Freeform 13" id="13"/>
            <p:cNvSpPr/>
            <p:nvPr/>
          </p:nvSpPr>
          <p:spPr>
            <a:xfrm flipH="false" flipV="false" rot="0">
              <a:off x="0" y="0"/>
              <a:ext cx="7680960" cy="548640"/>
            </a:xfrm>
            <a:custGeom>
              <a:avLst/>
              <a:gdLst/>
              <a:ahLst/>
              <a:cxnLst/>
              <a:rect r="r" b="b" t="t" l="l"/>
              <a:pathLst>
                <a:path h="548640" w="7680960">
                  <a:moveTo>
                    <a:pt x="0" y="0"/>
                  </a:moveTo>
                  <a:lnTo>
                    <a:pt x="7680960" y="0"/>
                  </a:lnTo>
                  <a:lnTo>
                    <a:pt x="7680960" y="548640"/>
                  </a:lnTo>
                  <a:lnTo>
                    <a:pt x="0" y="548640"/>
                  </a:lnTo>
                  <a:close/>
                </a:path>
              </a:pathLst>
            </a:custGeom>
            <a:blipFill>
              <a:blip r:embed="rId2">
                <a:alphaModFix amt="0"/>
              </a:blip>
              <a:stretch>
                <a:fillRect l="0" t="-222790" r="0" b="-222790"/>
              </a:stretch>
            </a:blipFill>
          </p:spPr>
        </p:sp>
        <p:sp>
          <p:nvSpPr>
            <p:cNvPr name="TextBox 14" id="14"/>
            <p:cNvSpPr txBox="true"/>
            <p:nvPr/>
          </p:nvSpPr>
          <p:spPr>
            <a:xfrm>
              <a:off x="0" y="-28575"/>
              <a:ext cx="7680960" cy="577215"/>
            </a:xfrm>
            <a:prstGeom prst="rect">
              <a:avLst/>
            </a:prstGeom>
          </p:spPr>
          <p:txBody>
            <a:bodyPr anchor="ctr" rtlCol="false" tIns="0" lIns="0" bIns="0" rIns="0"/>
            <a:lstStyle/>
            <a:p>
              <a:pPr algn="l">
                <a:lnSpc>
                  <a:spcPts val="1980"/>
                </a:lnSpc>
              </a:pPr>
              <a:r>
                <a:rPr lang="en-US" b="true" sz="1650" spc="225">
                  <a:solidFill>
                    <a:srgbClr val="2F5DFF"/>
                  </a:solidFill>
                  <a:latin typeface="Calibri (MS) Bold"/>
                  <a:ea typeface="Calibri (MS) Bold"/>
                  <a:cs typeface="Calibri (MS) Bold"/>
                  <a:sym typeface="Calibri (MS) Bold"/>
                </a:rPr>
                <a:t>SPLIT ESTRATIFICADO</a:t>
              </a:r>
            </a:p>
          </p:txBody>
        </p:sp>
      </p:grpSp>
      <p:grpSp>
        <p:nvGrpSpPr>
          <p:cNvPr name="Group 15" id="15"/>
          <p:cNvGrpSpPr/>
          <p:nvPr/>
        </p:nvGrpSpPr>
        <p:grpSpPr>
          <a:xfrm rot="0">
            <a:off x="11247120" y="3154680"/>
            <a:ext cx="5760720" cy="685800"/>
            <a:chOff x="0" y="0"/>
            <a:chExt cx="7680960" cy="914400"/>
          </a:xfrm>
        </p:grpSpPr>
        <p:sp>
          <p:nvSpPr>
            <p:cNvPr name="Freeform 16" id="16"/>
            <p:cNvSpPr/>
            <p:nvPr/>
          </p:nvSpPr>
          <p:spPr>
            <a:xfrm flipH="false" flipV="false" rot="0">
              <a:off x="0" y="0"/>
              <a:ext cx="7680960" cy="914400"/>
            </a:xfrm>
            <a:custGeom>
              <a:avLst/>
              <a:gdLst/>
              <a:ahLst/>
              <a:cxnLst/>
              <a:rect r="r" b="b" t="t" l="l"/>
              <a:pathLst>
                <a:path h="914400" w="7680960">
                  <a:moveTo>
                    <a:pt x="0" y="0"/>
                  </a:moveTo>
                  <a:lnTo>
                    <a:pt x="7680960" y="0"/>
                  </a:lnTo>
                  <a:lnTo>
                    <a:pt x="7680960" y="914400"/>
                  </a:lnTo>
                  <a:lnTo>
                    <a:pt x="0" y="914400"/>
                  </a:lnTo>
                  <a:close/>
                </a:path>
              </a:pathLst>
            </a:custGeom>
            <a:blipFill>
              <a:blip r:embed="rId2">
                <a:alphaModFix amt="0"/>
              </a:blip>
              <a:stretch>
                <a:fillRect l="0" t="-113674" r="0" b="-113674"/>
              </a:stretch>
            </a:blipFill>
          </p:spPr>
        </p:sp>
        <p:sp>
          <p:nvSpPr>
            <p:cNvPr name="TextBox 17" id="17"/>
            <p:cNvSpPr txBox="true"/>
            <p:nvPr/>
          </p:nvSpPr>
          <p:spPr>
            <a:xfrm>
              <a:off x="0" y="-9525"/>
              <a:ext cx="7680960" cy="923925"/>
            </a:xfrm>
            <a:prstGeom prst="rect">
              <a:avLst/>
            </a:prstGeom>
          </p:spPr>
          <p:txBody>
            <a:bodyPr anchor="ctr" rtlCol="false" tIns="0" lIns="0" bIns="0" rIns="0"/>
            <a:lstStyle/>
            <a:p>
              <a:pPr algn="l">
                <a:lnSpc>
                  <a:spcPts val="3419"/>
                </a:lnSpc>
              </a:pPr>
              <a:r>
                <a:rPr lang="en-US" sz="2850" b="true">
                  <a:solidFill>
                    <a:srgbClr val="0E1220"/>
                  </a:solidFill>
                  <a:latin typeface="Cambria Bold"/>
                  <a:ea typeface="Cambria Bold"/>
                  <a:cs typeface="Cambria Bold"/>
                  <a:sym typeface="Cambria Bold"/>
                </a:rPr>
                <a:t>1.981.517 / 424.613 / 424.613</a:t>
              </a:r>
            </a:p>
          </p:txBody>
        </p:sp>
      </p:grpSp>
      <p:grpSp>
        <p:nvGrpSpPr>
          <p:cNvPr name="Group 18" id="18"/>
          <p:cNvGrpSpPr/>
          <p:nvPr/>
        </p:nvGrpSpPr>
        <p:grpSpPr>
          <a:xfrm rot="0">
            <a:off x="11247120" y="3813048"/>
            <a:ext cx="5760720" cy="411480"/>
            <a:chOff x="0" y="0"/>
            <a:chExt cx="7680960" cy="548640"/>
          </a:xfrm>
        </p:grpSpPr>
        <p:sp>
          <p:nvSpPr>
            <p:cNvPr name="Freeform 19" id="19"/>
            <p:cNvSpPr/>
            <p:nvPr/>
          </p:nvSpPr>
          <p:spPr>
            <a:xfrm flipH="false" flipV="false" rot="0">
              <a:off x="0" y="0"/>
              <a:ext cx="7680960" cy="548640"/>
            </a:xfrm>
            <a:custGeom>
              <a:avLst/>
              <a:gdLst/>
              <a:ahLst/>
              <a:cxnLst/>
              <a:rect r="r" b="b" t="t" l="l"/>
              <a:pathLst>
                <a:path h="548640" w="7680960">
                  <a:moveTo>
                    <a:pt x="0" y="0"/>
                  </a:moveTo>
                  <a:lnTo>
                    <a:pt x="7680960" y="0"/>
                  </a:lnTo>
                  <a:lnTo>
                    <a:pt x="7680960" y="548640"/>
                  </a:lnTo>
                  <a:lnTo>
                    <a:pt x="0" y="548640"/>
                  </a:lnTo>
                  <a:close/>
                </a:path>
              </a:pathLst>
            </a:custGeom>
            <a:blipFill>
              <a:blip r:embed="rId2">
                <a:alphaModFix amt="0"/>
              </a:blip>
              <a:stretch>
                <a:fillRect l="0" t="-222790" r="0" b="-222790"/>
              </a:stretch>
            </a:blipFill>
          </p:spPr>
        </p:sp>
        <p:sp>
          <p:nvSpPr>
            <p:cNvPr name="TextBox 20" id="20"/>
            <p:cNvSpPr txBox="true"/>
            <p:nvPr/>
          </p:nvSpPr>
          <p:spPr>
            <a:xfrm>
              <a:off x="0" y="-28575"/>
              <a:ext cx="768096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train / val / test</a:t>
              </a:r>
            </a:p>
          </p:txBody>
        </p:sp>
      </p:grpSp>
      <p:sp>
        <p:nvSpPr>
          <p:cNvPr name="AutoShape 21" id="21"/>
          <p:cNvSpPr/>
          <p:nvPr/>
        </p:nvSpPr>
        <p:spPr>
          <a:xfrm rot="11340">
            <a:off x="11237576" y="4521518"/>
            <a:ext cx="5779799" cy="0"/>
          </a:xfrm>
          <a:prstGeom prst="line">
            <a:avLst/>
          </a:prstGeom>
          <a:ln cap="rnd" w="9525">
            <a:solidFill>
              <a:srgbClr val="E3E6F0"/>
            </a:solidFill>
            <a:prstDash val="solid"/>
            <a:headEnd type="none" len="sm" w="sm"/>
            <a:tailEnd type="none" len="sm" w="sm"/>
          </a:ln>
        </p:spPr>
      </p:sp>
      <p:grpSp>
        <p:nvGrpSpPr>
          <p:cNvPr name="Group 22" id="22"/>
          <p:cNvGrpSpPr/>
          <p:nvPr/>
        </p:nvGrpSpPr>
        <p:grpSpPr>
          <a:xfrm rot="0">
            <a:off x="11247120" y="4800600"/>
            <a:ext cx="5760720" cy="1303020"/>
            <a:chOff x="0" y="0"/>
            <a:chExt cx="7680960" cy="1737360"/>
          </a:xfrm>
        </p:grpSpPr>
        <p:sp>
          <p:nvSpPr>
            <p:cNvPr name="Freeform 23" id="23"/>
            <p:cNvSpPr/>
            <p:nvPr/>
          </p:nvSpPr>
          <p:spPr>
            <a:xfrm flipH="false" flipV="false" rot="0">
              <a:off x="0" y="0"/>
              <a:ext cx="7680960" cy="1737360"/>
            </a:xfrm>
            <a:custGeom>
              <a:avLst/>
              <a:gdLst/>
              <a:ahLst/>
              <a:cxnLst/>
              <a:rect r="r" b="b" t="t" l="l"/>
              <a:pathLst>
                <a:path h="1737360" w="7680960">
                  <a:moveTo>
                    <a:pt x="0" y="0"/>
                  </a:moveTo>
                  <a:lnTo>
                    <a:pt x="7680960" y="0"/>
                  </a:lnTo>
                  <a:lnTo>
                    <a:pt x="7680960" y="1737360"/>
                  </a:lnTo>
                  <a:lnTo>
                    <a:pt x="0" y="1737360"/>
                  </a:lnTo>
                  <a:close/>
                </a:path>
              </a:pathLst>
            </a:custGeom>
            <a:blipFill>
              <a:blip r:embed="rId2">
                <a:alphaModFix amt="0"/>
              </a:blip>
              <a:stretch>
                <a:fillRect l="0" t="-36144" r="0" b="-36144"/>
              </a:stretch>
            </a:blipFill>
          </p:spPr>
        </p:sp>
        <p:sp>
          <p:nvSpPr>
            <p:cNvPr name="TextBox 24" id="24"/>
            <p:cNvSpPr txBox="true"/>
            <p:nvPr/>
          </p:nvSpPr>
          <p:spPr>
            <a:xfrm>
              <a:off x="0" y="-76200"/>
              <a:ext cx="7680960" cy="1813560"/>
            </a:xfrm>
            <a:prstGeom prst="rect">
              <a:avLst/>
            </a:prstGeom>
          </p:spPr>
          <p:txBody>
            <a:bodyPr anchor="ctr" rtlCol="false" tIns="0" lIns="0" bIns="0" rIns="0"/>
            <a:lstStyle/>
            <a:p>
              <a:pPr algn="l">
                <a:lnSpc>
                  <a:spcPts val="2592"/>
                </a:lnSpc>
              </a:pPr>
              <a:r>
                <a:rPr lang="en-US" sz="1800" b="true">
                  <a:solidFill>
                    <a:srgbClr val="FF5C5C"/>
                  </a:solidFill>
                  <a:latin typeface="Calibri (MS) Bold"/>
                  <a:ea typeface="Calibri (MS) Bold"/>
                  <a:cs typeface="Calibri (MS) Bold"/>
                  <a:sym typeface="Calibri (MS) Bold"/>
                </a:rPr>
                <a:t>Heartbleed</a:t>
              </a:r>
              <a:r>
                <a:rPr lang="en-US" sz="1800">
                  <a:solidFill>
                    <a:srgbClr val="0E1220"/>
                  </a:solidFill>
                  <a:latin typeface="Calibri (MS)"/>
                  <a:ea typeface="Calibri (MS)"/>
                  <a:cs typeface="Calibri (MS)"/>
                  <a:sym typeface="Calibri (MS)"/>
                </a:rPr>
                <a:t> tiene solo 11 filas en todo el dataset: un split aleatorio estándar puede dejar 0 muestras en validación o test.</a:t>
              </a:r>
            </a:p>
          </p:txBody>
        </p:sp>
      </p:grpSp>
      <p:grpSp>
        <p:nvGrpSpPr>
          <p:cNvPr name="Group 25" id="25"/>
          <p:cNvGrpSpPr/>
          <p:nvPr/>
        </p:nvGrpSpPr>
        <p:grpSpPr>
          <a:xfrm rot="0">
            <a:off x="11247120" y="6240780"/>
            <a:ext cx="5760720" cy="2057400"/>
            <a:chOff x="0" y="0"/>
            <a:chExt cx="7680960" cy="2743200"/>
          </a:xfrm>
        </p:grpSpPr>
        <p:sp>
          <p:nvSpPr>
            <p:cNvPr name="Freeform 26" id="26"/>
            <p:cNvSpPr/>
            <p:nvPr/>
          </p:nvSpPr>
          <p:spPr>
            <a:xfrm flipH="false" flipV="false" rot="0">
              <a:off x="0" y="0"/>
              <a:ext cx="7680960" cy="2743200"/>
            </a:xfrm>
            <a:custGeom>
              <a:avLst/>
              <a:gdLst/>
              <a:ahLst/>
              <a:cxnLst/>
              <a:rect r="r" b="b" t="t" l="l"/>
              <a:pathLst>
                <a:path h="2743200" w="7680960">
                  <a:moveTo>
                    <a:pt x="0" y="0"/>
                  </a:moveTo>
                  <a:lnTo>
                    <a:pt x="7680960" y="0"/>
                  </a:lnTo>
                  <a:lnTo>
                    <a:pt x="7680960" y="2743200"/>
                  </a:lnTo>
                  <a:lnTo>
                    <a:pt x="0" y="2743200"/>
                  </a:lnTo>
                  <a:close/>
                </a:path>
              </a:pathLst>
            </a:custGeom>
            <a:blipFill>
              <a:blip r:embed="rId2">
                <a:alphaModFix amt="0"/>
              </a:blip>
              <a:stretch>
                <a:fillRect l="0" t="-4558" r="0" b="-4558"/>
              </a:stretch>
            </a:blipFill>
          </p:spPr>
        </p:sp>
        <p:sp>
          <p:nvSpPr>
            <p:cNvPr name="TextBox 27" id="27"/>
            <p:cNvSpPr txBox="true"/>
            <p:nvPr/>
          </p:nvSpPr>
          <p:spPr>
            <a:xfrm>
              <a:off x="0" y="-95250"/>
              <a:ext cx="7680960" cy="2838450"/>
            </a:xfrm>
            <a:prstGeom prst="rect">
              <a:avLst/>
            </a:prstGeom>
          </p:spPr>
          <p:txBody>
            <a:bodyPr anchor="ctr" rtlCol="false" tIns="0" lIns="0" bIns="0" rIns="0"/>
            <a:lstStyle/>
            <a:p>
              <a:pPr algn="l">
                <a:lnSpc>
                  <a:spcPts val="2700"/>
                </a:lnSpc>
              </a:pPr>
              <a:r>
                <a:rPr lang="en-US" sz="1800">
                  <a:solidFill>
                    <a:srgbClr val="6B7280"/>
                  </a:solidFill>
                  <a:latin typeface="Calibri (MS)"/>
                  <a:ea typeface="Calibri (MS)"/>
                  <a:cs typeface="Calibri (MS)"/>
                  <a:sym typeface="Calibri (MS)"/>
                </a:rPr>
                <a:t>Se usa un split que garantiza ≥1 muestra por split cuando la clase tiene 3+ filas; con menos, todas las filas van a train (no es posible evaluar de forma confiable) y se deja constancia con un warning.</a:t>
              </a:r>
            </a:p>
          </p:txBody>
        </p:sp>
      </p:grpSp>
      <p:grpSp>
        <p:nvGrpSpPr>
          <p:cNvPr name="Group 28" id="28"/>
          <p:cNvGrpSpPr/>
          <p:nvPr/>
        </p:nvGrpSpPr>
        <p:grpSpPr>
          <a:xfrm rot="0">
            <a:off x="17053103" y="9601200"/>
            <a:ext cx="822960" cy="411480"/>
            <a:chOff x="0" y="0"/>
            <a:chExt cx="1097280" cy="548640"/>
          </a:xfrm>
        </p:grpSpPr>
        <p:sp>
          <p:nvSpPr>
            <p:cNvPr name="Freeform 29" id="29"/>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30" id="30"/>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05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1 · 1.2 BASELINE CLÁSICO</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Dos modelos clásicos como línea base</a:t>
              </a:r>
            </a:p>
          </p:txBody>
        </p:sp>
      </p:grpSp>
      <p:grpSp>
        <p:nvGrpSpPr>
          <p:cNvPr name="Group 8" id="8"/>
          <p:cNvGrpSpPr/>
          <p:nvPr/>
        </p:nvGrpSpPr>
        <p:grpSpPr>
          <a:xfrm rot="0">
            <a:off x="813435" y="2527935"/>
            <a:ext cx="7905750" cy="4202430"/>
            <a:chOff x="0" y="0"/>
            <a:chExt cx="10541000" cy="5603240"/>
          </a:xfrm>
        </p:grpSpPr>
        <p:sp>
          <p:nvSpPr>
            <p:cNvPr name="Freeform 9" id="9"/>
            <p:cNvSpPr/>
            <p:nvPr/>
          </p:nvSpPr>
          <p:spPr>
            <a:xfrm flipH="false" flipV="false" rot="0">
              <a:off x="0" y="0"/>
              <a:ext cx="10541000" cy="5603240"/>
            </a:xfrm>
            <a:custGeom>
              <a:avLst/>
              <a:gdLst/>
              <a:ahLst/>
              <a:cxnLst/>
              <a:rect r="r" b="b" t="t" l="l"/>
              <a:pathLst>
                <a:path h="5603240" w="10541000">
                  <a:moveTo>
                    <a:pt x="0" y="183769"/>
                  </a:moveTo>
                  <a:cubicBezTo>
                    <a:pt x="0" y="82296"/>
                    <a:pt x="82296" y="0"/>
                    <a:pt x="183769" y="0"/>
                  </a:cubicBezTo>
                  <a:lnTo>
                    <a:pt x="10357231" y="0"/>
                  </a:lnTo>
                  <a:cubicBezTo>
                    <a:pt x="10458704" y="0"/>
                    <a:pt x="10541000" y="82296"/>
                    <a:pt x="10541000" y="183769"/>
                  </a:cubicBezTo>
                  <a:lnTo>
                    <a:pt x="10541000" y="5419471"/>
                  </a:lnTo>
                  <a:cubicBezTo>
                    <a:pt x="10541000" y="5520944"/>
                    <a:pt x="10458704" y="5603240"/>
                    <a:pt x="10357231" y="5603240"/>
                  </a:cubicBezTo>
                  <a:lnTo>
                    <a:pt x="183769" y="5603240"/>
                  </a:lnTo>
                  <a:cubicBezTo>
                    <a:pt x="82296" y="5603240"/>
                    <a:pt x="0" y="5520944"/>
                    <a:pt x="0" y="5419471"/>
                  </a:cubicBezTo>
                  <a:close/>
                </a:path>
              </a:pathLst>
            </a:custGeom>
            <a:solidFill>
              <a:srgbClr val="FFFFFF"/>
            </a:solidFill>
            <a:ln w="19050" cap="sq">
              <a:solidFill>
                <a:srgbClr val="E3E6F0"/>
              </a:solidFill>
              <a:prstDash val="solid"/>
              <a:miter/>
            </a:ln>
          </p:spPr>
        </p:sp>
      </p:grpSp>
      <p:grpSp>
        <p:nvGrpSpPr>
          <p:cNvPr name="Group 10" id="10"/>
          <p:cNvGrpSpPr/>
          <p:nvPr/>
        </p:nvGrpSpPr>
        <p:grpSpPr>
          <a:xfrm rot="0">
            <a:off x="1303020" y="2948940"/>
            <a:ext cx="6926580" cy="685800"/>
            <a:chOff x="0" y="0"/>
            <a:chExt cx="9235440" cy="914400"/>
          </a:xfrm>
        </p:grpSpPr>
        <p:sp>
          <p:nvSpPr>
            <p:cNvPr name="Freeform 11" id="11"/>
            <p:cNvSpPr/>
            <p:nvPr/>
          </p:nvSpPr>
          <p:spPr>
            <a:xfrm flipH="false" flipV="false" rot="0">
              <a:off x="0" y="0"/>
              <a:ext cx="9235440" cy="914400"/>
            </a:xfrm>
            <a:custGeom>
              <a:avLst/>
              <a:gdLst/>
              <a:ahLst/>
              <a:cxnLst/>
              <a:rect r="r" b="b" t="t" l="l"/>
              <a:pathLst>
                <a:path h="914400" w="9235440">
                  <a:moveTo>
                    <a:pt x="0" y="0"/>
                  </a:moveTo>
                  <a:lnTo>
                    <a:pt x="9235440" y="0"/>
                  </a:lnTo>
                  <a:lnTo>
                    <a:pt x="9235440" y="914400"/>
                  </a:lnTo>
                  <a:lnTo>
                    <a:pt x="0" y="914400"/>
                  </a:lnTo>
                  <a:close/>
                </a:path>
              </a:pathLst>
            </a:custGeom>
            <a:blipFill>
              <a:blip r:embed="rId2">
                <a:alphaModFix amt="0"/>
              </a:blip>
              <a:stretch>
                <a:fillRect l="0" t="-146798" r="0" b="-146798"/>
              </a:stretch>
            </a:blipFill>
          </p:spPr>
        </p:sp>
        <p:sp>
          <p:nvSpPr>
            <p:cNvPr name="TextBox 12" id="12"/>
            <p:cNvSpPr txBox="true"/>
            <p:nvPr/>
          </p:nvSpPr>
          <p:spPr>
            <a:xfrm>
              <a:off x="0" y="-19050"/>
              <a:ext cx="9235440" cy="933450"/>
            </a:xfrm>
            <a:prstGeom prst="rect">
              <a:avLst/>
            </a:prstGeom>
          </p:spPr>
          <p:txBody>
            <a:bodyPr anchor="ctr" rtlCol="false" tIns="0" lIns="0" bIns="0" rIns="0"/>
            <a:lstStyle/>
            <a:p>
              <a:pPr algn="l">
                <a:lnSpc>
                  <a:spcPts val="3240"/>
                </a:lnSpc>
              </a:pPr>
              <a:r>
                <a:rPr lang="en-US" sz="2700" b="true">
                  <a:solidFill>
                    <a:srgbClr val="0E1220"/>
                  </a:solidFill>
                  <a:latin typeface="Cambria Bold"/>
                  <a:ea typeface="Cambria Bold"/>
                  <a:cs typeface="Cambria Bold"/>
                  <a:sym typeface="Cambria Bold"/>
                </a:rPr>
                <a:t>Regresión Logística</a:t>
              </a:r>
            </a:p>
          </p:txBody>
        </p:sp>
      </p:grpSp>
      <p:grpSp>
        <p:nvGrpSpPr>
          <p:cNvPr name="Group 13" id="13"/>
          <p:cNvGrpSpPr/>
          <p:nvPr/>
        </p:nvGrpSpPr>
        <p:grpSpPr>
          <a:xfrm rot="0">
            <a:off x="1303020" y="3703320"/>
            <a:ext cx="6926580" cy="1165860"/>
            <a:chOff x="0" y="0"/>
            <a:chExt cx="9235440" cy="1554480"/>
          </a:xfrm>
        </p:grpSpPr>
        <p:sp>
          <p:nvSpPr>
            <p:cNvPr name="Freeform 14" id="14"/>
            <p:cNvSpPr/>
            <p:nvPr/>
          </p:nvSpPr>
          <p:spPr>
            <a:xfrm flipH="false" flipV="false" rot="0">
              <a:off x="0" y="0"/>
              <a:ext cx="9235440" cy="1554480"/>
            </a:xfrm>
            <a:custGeom>
              <a:avLst/>
              <a:gdLst/>
              <a:ahLst/>
              <a:cxnLst/>
              <a:rect r="r" b="b" t="t" l="l"/>
              <a:pathLst>
                <a:path h="1554480" w="9235440">
                  <a:moveTo>
                    <a:pt x="0" y="0"/>
                  </a:moveTo>
                  <a:lnTo>
                    <a:pt x="9235440" y="0"/>
                  </a:lnTo>
                  <a:lnTo>
                    <a:pt x="9235440" y="1554480"/>
                  </a:lnTo>
                  <a:lnTo>
                    <a:pt x="0" y="1554480"/>
                  </a:lnTo>
                  <a:close/>
                </a:path>
              </a:pathLst>
            </a:custGeom>
            <a:blipFill>
              <a:blip r:embed="rId2">
                <a:alphaModFix amt="0"/>
              </a:blip>
              <a:stretch>
                <a:fillRect l="0" t="-65764" r="0" b="-65764"/>
              </a:stretch>
            </a:blipFill>
          </p:spPr>
        </p:sp>
        <p:sp>
          <p:nvSpPr>
            <p:cNvPr name="TextBox 15" id="15"/>
            <p:cNvSpPr txBox="true"/>
            <p:nvPr/>
          </p:nvSpPr>
          <p:spPr>
            <a:xfrm>
              <a:off x="0" y="-76200"/>
              <a:ext cx="9235440" cy="1630680"/>
            </a:xfrm>
            <a:prstGeom prst="rect">
              <a:avLst/>
            </a:prstGeom>
          </p:spPr>
          <p:txBody>
            <a:bodyPr anchor="ctr" rtlCol="false" tIns="0" lIns="0" bIns="0" rIns="0"/>
            <a:lstStyle/>
            <a:p>
              <a:pPr algn="l">
                <a:lnSpc>
                  <a:spcPts val="2484"/>
                </a:lnSpc>
              </a:pPr>
              <a:r>
                <a:rPr lang="en-US" sz="1725">
                  <a:solidFill>
                    <a:srgbClr val="6B7280"/>
                  </a:solidFill>
                  <a:latin typeface="Calibri (MS)"/>
                  <a:ea typeface="Calibri (MS)"/>
                  <a:cs typeface="Calibri (MS)"/>
                  <a:sym typeface="Calibri (MS)"/>
                </a:rPr>
                <a:t>class_weight="balanced" · entrenada sobre todo el train (1.98M filas)</a:t>
              </a:r>
            </a:p>
          </p:txBody>
        </p:sp>
      </p:grpSp>
      <p:grpSp>
        <p:nvGrpSpPr>
          <p:cNvPr name="Group 16" id="16"/>
          <p:cNvGrpSpPr/>
          <p:nvPr/>
        </p:nvGrpSpPr>
        <p:grpSpPr>
          <a:xfrm rot="0">
            <a:off x="1303020" y="4937760"/>
            <a:ext cx="3291840" cy="1028700"/>
            <a:chOff x="0" y="0"/>
            <a:chExt cx="4389120" cy="1371600"/>
          </a:xfrm>
        </p:grpSpPr>
        <p:sp>
          <p:nvSpPr>
            <p:cNvPr name="Freeform 17" id="17"/>
            <p:cNvSpPr/>
            <p:nvPr/>
          </p:nvSpPr>
          <p:spPr>
            <a:xfrm flipH="false" flipV="false" rot="0">
              <a:off x="0" y="0"/>
              <a:ext cx="4389120" cy="1371600"/>
            </a:xfrm>
            <a:custGeom>
              <a:avLst/>
              <a:gdLst/>
              <a:ahLst/>
              <a:cxnLst/>
              <a:rect r="r" b="b" t="t" l="l"/>
              <a:pathLst>
                <a:path h="1371600" w="4389120">
                  <a:moveTo>
                    <a:pt x="0" y="0"/>
                  </a:moveTo>
                  <a:lnTo>
                    <a:pt x="4389120" y="0"/>
                  </a:lnTo>
                  <a:lnTo>
                    <a:pt x="4389120" y="1371600"/>
                  </a:lnTo>
                  <a:lnTo>
                    <a:pt x="0" y="1371600"/>
                  </a:lnTo>
                  <a:close/>
                </a:path>
              </a:pathLst>
            </a:custGeom>
            <a:blipFill>
              <a:blip r:embed="rId2">
                <a:alphaModFix amt="0"/>
              </a:blip>
              <a:stretch>
                <a:fillRect l="0" t="-12352" r="0" b="-12352"/>
              </a:stretch>
            </a:blipFill>
          </p:spPr>
        </p:sp>
        <p:sp>
          <p:nvSpPr>
            <p:cNvPr name="TextBox 18" id="18"/>
            <p:cNvSpPr txBox="true"/>
            <p:nvPr/>
          </p:nvSpPr>
          <p:spPr>
            <a:xfrm>
              <a:off x="0" y="-9525"/>
              <a:ext cx="4389120" cy="1381125"/>
            </a:xfrm>
            <a:prstGeom prst="rect">
              <a:avLst/>
            </a:prstGeom>
          </p:spPr>
          <p:txBody>
            <a:bodyPr anchor="ctr" rtlCol="false" tIns="0" lIns="0" bIns="0" rIns="0"/>
            <a:lstStyle/>
            <a:p>
              <a:pPr algn="l">
                <a:lnSpc>
                  <a:spcPts val="6120"/>
                </a:lnSpc>
              </a:pPr>
              <a:r>
                <a:rPr lang="en-US" sz="5100" b="true">
                  <a:solidFill>
                    <a:srgbClr val="2F5DFF"/>
                  </a:solidFill>
                  <a:latin typeface="Cambria Bold"/>
                  <a:ea typeface="Cambria Bold"/>
                  <a:cs typeface="Cambria Bold"/>
                  <a:sym typeface="Cambria Bold"/>
                </a:rPr>
                <a:t>0.4156</a:t>
              </a:r>
            </a:p>
          </p:txBody>
        </p:sp>
      </p:grpSp>
      <p:grpSp>
        <p:nvGrpSpPr>
          <p:cNvPr name="Group 19" id="19"/>
          <p:cNvGrpSpPr/>
          <p:nvPr/>
        </p:nvGrpSpPr>
        <p:grpSpPr>
          <a:xfrm rot="0">
            <a:off x="1303020" y="5939028"/>
            <a:ext cx="3291840" cy="411480"/>
            <a:chOff x="0" y="0"/>
            <a:chExt cx="4389120" cy="548640"/>
          </a:xfrm>
        </p:grpSpPr>
        <p:sp>
          <p:nvSpPr>
            <p:cNvPr name="Freeform 20" id="20"/>
            <p:cNvSpPr/>
            <p:nvPr/>
          </p:nvSpPr>
          <p:spPr>
            <a:xfrm flipH="false" flipV="false" rot="0">
              <a:off x="0" y="0"/>
              <a:ext cx="4389120" cy="548640"/>
            </a:xfrm>
            <a:custGeom>
              <a:avLst/>
              <a:gdLst/>
              <a:ahLst/>
              <a:cxnLst/>
              <a:rect r="r" b="b" t="t" l="l"/>
              <a:pathLst>
                <a:path h="548640" w="4389120">
                  <a:moveTo>
                    <a:pt x="0" y="0"/>
                  </a:moveTo>
                  <a:lnTo>
                    <a:pt x="4389120" y="0"/>
                  </a:lnTo>
                  <a:lnTo>
                    <a:pt x="4389120" y="548640"/>
                  </a:lnTo>
                  <a:lnTo>
                    <a:pt x="0" y="548640"/>
                  </a:lnTo>
                  <a:close/>
                </a:path>
              </a:pathLst>
            </a:custGeom>
            <a:blipFill>
              <a:blip r:embed="rId2">
                <a:alphaModFix amt="0"/>
              </a:blip>
              <a:stretch>
                <a:fillRect l="0" t="-105880" r="0" b="-105880"/>
              </a:stretch>
            </a:blipFill>
          </p:spPr>
        </p:sp>
        <p:sp>
          <p:nvSpPr>
            <p:cNvPr name="TextBox 21" id="21"/>
            <p:cNvSpPr txBox="true"/>
            <p:nvPr/>
          </p:nvSpPr>
          <p:spPr>
            <a:xfrm>
              <a:off x="0" y="-28575"/>
              <a:ext cx="438912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macro-F1</a:t>
              </a:r>
            </a:p>
          </p:txBody>
        </p:sp>
      </p:grpSp>
      <p:grpSp>
        <p:nvGrpSpPr>
          <p:cNvPr name="Group 22" id="22"/>
          <p:cNvGrpSpPr/>
          <p:nvPr/>
        </p:nvGrpSpPr>
        <p:grpSpPr>
          <a:xfrm rot="0">
            <a:off x="4800600" y="5280660"/>
            <a:ext cx="3497580" cy="822960"/>
            <a:chOff x="0" y="0"/>
            <a:chExt cx="4663440" cy="1097280"/>
          </a:xfrm>
        </p:grpSpPr>
        <p:sp>
          <p:nvSpPr>
            <p:cNvPr name="Freeform 23" id="23"/>
            <p:cNvSpPr/>
            <p:nvPr/>
          </p:nvSpPr>
          <p:spPr>
            <a:xfrm flipH="false" flipV="false" rot="0">
              <a:off x="0" y="0"/>
              <a:ext cx="4663440" cy="1097280"/>
            </a:xfrm>
            <a:custGeom>
              <a:avLst/>
              <a:gdLst/>
              <a:ahLst/>
              <a:cxnLst/>
              <a:rect r="r" b="b" t="t" l="l"/>
              <a:pathLst>
                <a:path h="1097280" w="4663440">
                  <a:moveTo>
                    <a:pt x="0" y="0"/>
                  </a:moveTo>
                  <a:lnTo>
                    <a:pt x="4663440" y="0"/>
                  </a:lnTo>
                  <a:lnTo>
                    <a:pt x="4663440" y="1097280"/>
                  </a:lnTo>
                  <a:lnTo>
                    <a:pt x="0" y="1097280"/>
                  </a:lnTo>
                  <a:close/>
                </a:path>
              </a:pathLst>
            </a:custGeom>
            <a:blipFill>
              <a:blip r:embed="rId2">
                <a:alphaModFix amt="0"/>
              </a:blip>
              <a:stretch>
                <a:fillRect l="0" t="-32811" r="0" b="-32811"/>
              </a:stretch>
            </a:blipFill>
          </p:spPr>
        </p:sp>
        <p:sp>
          <p:nvSpPr>
            <p:cNvPr name="TextBox 24" id="24"/>
            <p:cNvSpPr txBox="true"/>
            <p:nvPr/>
          </p:nvSpPr>
          <p:spPr>
            <a:xfrm>
              <a:off x="0" y="-19050"/>
              <a:ext cx="4663440" cy="1116330"/>
            </a:xfrm>
            <a:prstGeom prst="rect">
              <a:avLst/>
            </a:prstGeom>
          </p:spPr>
          <p:txBody>
            <a:bodyPr anchor="b" rtlCol="false" tIns="0" lIns="0" bIns="0" rIns="0"/>
            <a:lstStyle/>
            <a:p>
              <a:pPr algn="r">
                <a:lnSpc>
                  <a:spcPts val="1889"/>
                </a:lnSpc>
              </a:pPr>
              <a:r>
                <a:rPr lang="en-US" sz="1575" i="true">
                  <a:solidFill>
                    <a:srgbClr val="6B7280"/>
                  </a:solidFill>
                  <a:latin typeface="Calibri (MS) Italics"/>
                  <a:ea typeface="Calibri (MS) Italics"/>
                  <a:cs typeface="Calibri (MS) Italics"/>
                  <a:sym typeface="Calibri (MS) Italics"/>
                </a:rPr>
                <a:t>1.981.517 filas de train</a:t>
              </a:r>
            </a:p>
          </p:txBody>
        </p:sp>
      </p:grpSp>
      <p:grpSp>
        <p:nvGrpSpPr>
          <p:cNvPr name="Group 25" id="25"/>
          <p:cNvGrpSpPr/>
          <p:nvPr/>
        </p:nvGrpSpPr>
        <p:grpSpPr>
          <a:xfrm rot="0">
            <a:off x="9248775" y="2527935"/>
            <a:ext cx="7905750" cy="4202430"/>
            <a:chOff x="0" y="0"/>
            <a:chExt cx="10541000" cy="5603240"/>
          </a:xfrm>
        </p:grpSpPr>
        <p:sp>
          <p:nvSpPr>
            <p:cNvPr name="Freeform 26" id="26"/>
            <p:cNvSpPr/>
            <p:nvPr/>
          </p:nvSpPr>
          <p:spPr>
            <a:xfrm flipH="false" flipV="false" rot="0">
              <a:off x="0" y="0"/>
              <a:ext cx="10541000" cy="5603240"/>
            </a:xfrm>
            <a:custGeom>
              <a:avLst/>
              <a:gdLst/>
              <a:ahLst/>
              <a:cxnLst/>
              <a:rect r="r" b="b" t="t" l="l"/>
              <a:pathLst>
                <a:path h="5603240" w="10541000">
                  <a:moveTo>
                    <a:pt x="0" y="183769"/>
                  </a:moveTo>
                  <a:cubicBezTo>
                    <a:pt x="0" y="82296"/>
                    <a:pt x="82296" y="0"/>
                    <a:pt x="183769" y="0"/>
                  </a:cubicBezTo>
                  <a:lnTo>
                    <a:pt x="10357231" y="0"/>
                  </a:lnTo>
                  <a:cubicBezTo>
                    <a:pt x="10458704" y="0"/>
                    <a:pt x="10541000" y="82296"/>
                    <a:pt x="10541000" y="183769"/>
                  </a:cubicBezTo>
                  <a:lnTo>
                    <a:pt x="10541000" y="5419471"/>
                  </a:lnTo>
                  <a:cubicBezTo>
                    <a:pt x="10541000" y="5520944"/>
                    <a:pt x="10458704" y="5603240"/>
                    <a:pt x="10357231" y="5603240"/>
                  </a:cubicBezTo>
                  <a:lnTo>
                    <a:pt x="183769" y="5603240"/>
                  </a:lnTo>
                  <a:cubicBezTo>
                    <a:pt x="82296" y="5603240"/>
                    <a:pt x="0" y="5520944"/>
                    <a:pt x="0" y="5419471"/>
                  </a:cubicBezTo>
                  <a:close/>
                </a:path>
              </a:pathLst>
            </a:custGeom>
            <a:solidFill>
              <a:srgbClr val="FFFFFF"/>
            </a:solidFill>
            <a:ln w="19050" cap="sq">
              <a:solidFill>
                <a:srgbClr val="E3E6F0"/>
              </a:solidFill>
              <a:prstDash val="solid"/>
              <a:miter/>
            </a:ln>
          </p:spPr>
        </p:sp>
      </p:grpSp>
      <p:grpSp>
        <p:nvGrpSpPr>
          <p:cNvPr name="Group 27" id="27"/>
          <p:cNvGrpSpPr/>
          <p:nvPr/>
        </p:nvGrpSpPr>
        <p:grpSpPr>
          <a:xfrm rot="0">
            <a:off x="9738360" y="2948940"/>
            <a:ext cx="6926580" cy="685800"/>
            <a:chOff x="0" y="0"/>
            <a:chExt cx="9235440" cy="914400"/>
          </a:xfrm>
        </p:grpSpPr>
        <p:sp>
          <p:nvSpPr>
            <p:cNvPr name="Freeform 28" id="28"/>
            <p:cNvSpPr/>
            <p:nvPr/>
          </p:nvSpPr>
          <p:spPr>
            <a:xfrm flipH="false" flipV="false" rot="0">
              <a:off x="0" y="0"/>
              <a:ext cx="9235440" cy="914400"/>
            </a:xfrm>
            <a:custGeom>
              <a:avLst/>
              <a:gdLst/>
              <a:ahLst/>
              <a:cxnLst/>
              <a:rect r="r" b="b" t="t" l="l"/>
              <a:pathLst>
                <a:path h="914400" w="9235440">
                  <a:moveTo>
                    <a:pt x="0" y="0"/>
                  </a:moveTo>
                  <a:lnTo>
                    <a:pt x="9235440" y="0"/>
                  </a:lnTo>
                  <a:lnTo>
                    <a:pt x="9235440" y="914400"/>
                  </a:lnTo>
                  <a:lnTo>
                    <a:pt x="0" y="914400"/>
                  </a:lnTo>
                  <a:close/>
                </a:path>
              </a:pathLst>
            </a:custGeom>
            <a:blipFill>
              <a:blip r:embed="rId2">
                <a:alphaModFix amt="0"/>
              </a:blip>
              <a:stretch>
                <a:fillRect l="0" t="-146798" r="0" b="-146798"/>
              </a:stretch>
            </a:blipFill>
          </p:spPr>
        </p:sp>
        <p:sp>
          <p:nvSpPr>
            <p:cNvPr name="TextBox 29" id="29"/>
            <p:cNvSpPr txBox="true"/>
            <p:nvPr/>
          </p:nvSpPr>
          <p:spPr>
            <a:xfrm>
              <a:off x="0" y="-19050"/>
              <a:ext cx="9235440" cy="933450"/>
            </a:xfrm>
            <a:prstGeom prst="rect">
              <a:avLst/>
            </a:prstGeom>
          </p:spPr>
          <p:txBody>
            <a:bodyPr anchor="ctr" rtlCol="false" tIns="0" lIns="0" bIns="0" rIns="0"/>
            <a:lstStyle/>
            <a:p>
              <a:pPr algn="l">
                <a:lnSpc>
                  <a:spcPts val="3240"/>
                </a:lnSpc>
              </a:pPr>
              <a:r>
                <a:rPr lang="en-US" sz="2700" b="true">
                  <a:solidFill>
                    <a:srgbClr val="0E1220"/>
                  </a:solidFill>
                  <a:latin typeface="Cambria Bold"/>
                  <a:ea typeface="Cambria Bold"/>
                  <a:cs typeface="Cambria Bold"/>
                  <a:sym typeface="Cambria Bold"/>
                </a:rPr>
                <a:t>SVM (kernel RBF)</a:t>
              </a:r>
            </a:p>
          </p:txBody>
        </p:sp>
      </p:grpSp>
      <p:grpSp>
        <p:nvGrpSpPr>
          <p:cNvPr name="Group 30" id="30"/>
          <p:cNvGrpSpPr/>
          <p:nvPr/>
        </p:nvGrpSpPr>
        <p:grpSpPr>
          <a:xfrm rot="0">
            <a:off x="9738360" y="3703320"/>
            <a:ext cx="6926580" cy="1165860"/>
            <a:chOff x="0" y="0"/>
            <a:chExt cx="9235440" cy="1554480"/>
          </a:xfrm>
        </p:grpSpPr>
        <p:sp>
          <p:nvSpPr>
            <p:cNvPr name="Freeform 31" id="31"/>
            <p:cNvSpPr/>
            <p:nvPr/>
          </p:nvSpPr>
          <p:spPr>
            <a:xfrm flipH="false" flipV="false" rot="0">
              <a:off x="0" y="0"/>
              <a:ext cx="9235440" cy="1554480"/>
            </a:xfrm>
            <a:custGeom>
              <a:avLst/>
              <a:gdLst/>
              <a:ahLst/>
              <a:cxnLst/>
              <a:rect r="r" b="b" t="t" l="l"/>
              <a:pathLst>
                <a:path h="1554480" w="9235440">
                  <a:moveTo>
                    <a:pt x="0" y="0"/>
                  </a:moveTo>
                  <a:lnTo>
                    <a:pt x="9235440" y="0"/>
                  </a:lnTo>
                  <a:lnTo>
                    <a:pt x="9235440" y="1554480"/>
                  </a:lnTo>
                  <a:lnTo>
                    <a:pt x="0" y="1554480"/>
                  </a:lnTo>
                  <a:close/>
                </a:path>
              </a:pathLst>
            </a:custGeom>
            <a:blipFill>
              <a:blip r:embed="rId2">
                <a:alphaModFix amt="0"/>
              </a:blip>
              <a:stretch>
                <a:fillRect l="0" t="-65764" r="0" b="-65764"/>
              </a:stretch>
            </a:blipFill>
          </p:spPr>
        </p:sp>
        <p:sp>
          <p:nvSpPr>
            <p:cNvPr name="TextBox 32" id="32"/>
            <p:cNvSpPr txBox="true"/>
            <p:nvPr/>
          </p:nvSpPr>
          <p:spPr>
            <a:xfrm>
              <a:off x="0" y="-76200"/>
              <a:ext cx="9235440" cy="1630680"/>
            </a:xfrm>
            <a:prstGeom prst="rect">
              <a:avLst/>
            </a:prstGeom>
          </p:spPr>
          <p:txBody>
            <a:bodyPr anchor="ctr" rtlCol="false" tIns="0" lIns="0" bIns="0" rIns="0"/>
            <a:lstStyle/>
            <a:p>
              <a:pPr algn="l">
                <a:lnSpc>
                  <a:spcPts val="2484"/>
                </a:lnSpc>
              </a:pPr>
              <a:r>
                <a:rPr lang="en-US" sz="1725">
                  <a:solidFill>
                    <a:srgbClr val="6B7280"/>
                  </a:solidFill>
                  <a:latin typeface="Calibri (MS)"/>
                  <a:ea typeface="Calibri (MS)"/>
                  <a:cs typeface="Calibri (MS)"/>
                  <a:sym typeface="Calibri (MS)"/>
                </a:rPr>
                <a:t>O(n²)-O(n³): inviable en el dataset completo → submuestra de 4.000 filas</a:t>
              </a:r>
            </a:p>
          </p:txBody>
        </p:sp>
      </p:grpSp>
      <p:grpSp>
        <p:nvGrpSpPr>
          <p:cNvPr name="Group 33" id="33"/>
          <p:cNvGrpSpPr/>
          <p:nvPr/>
        </p:nvGrpSpPr>
        <p:grpSpPr>
          <a:xfrm rot="0">
            <a:off x="9738360" y="4937760"/>
            <a:ext cx="3291840" cy="1028700"/>
            <a:chOff x="0" y="0"/>
            <a:chExt cx="4389120" cy="1371600"/>
          </a:xfrm>
        </p:grpSpPr>
        <p:sp>
          <p:nvSpPr>
            <p:cNvPr name="Freeform 34" id="34"/>
            <p:cNvSpPr/>
            <p:nvPr/>
          </p:nvSpPr>
          <p:spPr>
            <a:xfrm flipH="false" flipV="false" rot="0">
              <a:off x="0" y="0"/>
              <a:ext cx="4389120" cy="1371600"/>
            </a:xfrm>
            <a:custGeom>
              <a:avLst/>
              <a:gdLst/>
              <a:ahLst/>
              <a:cxnLst/>
              <a:rect r="r" b="b" t="t" l="l"/>
              <a:pathLst>
                <a:path h="1371600" w="4389120">
                  <a:moveTo>
                    <a:pt x="0" y="0"/>
                  </a:moveTo>
                  <a:lnTo>
                    <a:pt x="4389120" y="0"/>
                  </a:lnTo>
                  <a:lnTo>
                    <a:pt x="4389120" y="1371600"/>
                  </a:lnTo>
                  <a:lnTo>
                    <a:pt x="0" y="1371600"/>
                  </a:lnTo>
                  <a:close/>
                </a:path>
              </a:pathLst>
            </a:custGeom>
            <a:blipFill>
              <a:blip r:embed="rId2">
                <a:alphaModFix amt="0"/>
              </a:blip>
              <a:stretch>
                <a:fillRect l="0" t="-12352" r="0" b="-12352"/>
              </a:stretch>
            </a:blipFill>
          </p:spPr>
        </p:sp>
        <p:sp>
          <p:nvSpPr>
            <p:cNvPr name="TextBox 35" id="35"/>
            <p:cNvSpPr txBox="true"/>
            <p:nvPr/>
          </p:nvSpPr>
          <p:spPr>
            <a:xfrm>
              <a:off x="0" y="-9525"/>
              <a:ext cx="4389120" cy="1381125"/>
            </a:xfrm>
            <a:prstGeom prst="rect">
              <a:avLst/>
            </a:prstGeom>
          </p:spPr>
          <p:txBody>
            <a:bodyPr anchor="ctr" rtlCol="false" tIns="0" lIns="0" bIns="0" rIns="0"/>
            <a:lstStyle/>
            <a:p>
              <a:pPr algn="l">
                <a:lnSpc>
                  <a:spcPts val="6120"/>
                </a:lnSpc>
              </a:pPr>
              <a:r>
                <a:rPr lang="en-US" sz="5100" b="true">
                  <a:solidFill>
                    <a:srgbClr val="FF5C5C"/>
                  </a:solidFill>
                  <a:latin typeface="Cambria Bold"/>
                  <a:ea typeface="Cambria Bold"/>
                  <a:cs typeface="Cambria Bold"/>
                  <a:sym typeface="Cambria Bold"/>
                </a:rPr>
                <a:t>0.3612</a:t>
              </a:r>
            </a:p>
          </p:txBody>
        </p:sp>
      </p:grpSp>
      <p:grpSp>
        <p:nvGrpSpPr>
          <p:cNvPr name="Group 36" id="36"/>
          <p:cNvGrpSpPr/>
          <p:nvPr/>
        </p:nvGrpSpPr>
        <p:grpSpPr>
          <a:xfrm rot="0">
            <a:off x="9738360" y="5939028"/>
            <a:ext cx="3291840" cy="411480"/>
            <a:chOff x="0" y="0"/>
            <a:chExt cx="4389120" cy="548640"/>
          </a:xfrm>
        </p:grpSpPr>
        <p:sp>
          <p:nvSpPr>
            <p:cNvPr name="Freeform 37" id="37"/>
            <p:cNvSpPr/>
            <p:nvPr/>
          </p:nvSpPr>
          <p:spPr>
            <a:xfrm flipH="false" flipV="false" rot="0">
              <a:off x="0" y="0"/>
              <a:ext cx="4389120" cy="548640"/>
            </a:xfrm>
            <a:custGeom>
              <a:avLst/>
              <a:gdLst/>
              <a:ahLst/>
              <a:cxnLst/>
              <a:rect r="r" b="b" t="t" l="l"/>
              <a:pathLst>
                <a:path h="548640" w="4389120">
                  <a:moveTo>
                    <a:pt x="0" y="0"/>
                  </a:moveTo>
                  <a:lnTo>
                    <a:pt x="4389120" y="0"/>
                  </a:lnTo>
                  <a:lnTo>
                    <a:pt x="4389120" y="548640"/>
                  </a:lnTo>
                  <a:lnTo>
                    <a:pt x="0" y="548640"/>
                  </a:lnTo>
                  <a:close/>
                </a:path>
              </a:pathLst>
            </a:custGeom>
            <a:blipFill>
              <a:blip r:embed="rId2">
                <a:alphaModFix amt="0"/>
              </a:blip>
              <a:stretch>
                <a:fillRect l="0" t="-105880" r="0" b="-105880"/>
              </a:stretch>
            </a:blipFill>
          </p:spPr>
        </p:sp>
        <p:sp>
          <p:nvSpPr>
            <p:cNvPr name="TextBox 38" id="38"/>
            <p:cNvSpPr txBox="true"/>
            <p:nvPr/>
          </p:nvSpPr>
          <p:spPr>
            <a:xfrm>
              <a:off x="0" y="-28575"/>
              <a:ext cx="4389120" cy="577215"/>
            </a:xfrm>
            <a:prstGeom prst="rect">
              <a:avLst/>
            </a:prstGeom>
          </p:spPr>
          <p:txBody>
            <a:bodyPr anchor="ctr" rtlCol="false" tIns="0" lIns="0" bIns="0" rIns="0"/>
            <a:lstStyle/>
            <a:p>
              <a:pPr algn="l">
                <a:lnSpc>
                  <a:spcPts val="1980"/>
                </a:lnSpc>
              </a:pPr>
              <a:r>
                <a:rPr lang="en-US" sz="1650">
                  <a:solidFill>
                    <a:srgbClr val="6B7280"/>
                  </a:solidFill>
                  <a:latin typeface="Calibri (MS)"/>
                  <a:ea typeface="Calibri (MS)"/>
                  <a:cs typeface="Calibri (MS)"/>
                  <a:sym typeface="Calibri (MS)"/>
                </a:rPr>
                <a:t>macro-F1</a:t>
              </a:r>
            </a:p>
          </p:txBody>
        </p:sp>
      </p:grpSp>
      <p:grpSp>
        <p:nvGrpSpPr>
          <p:cNvPr name="Group 39" id="39"/>
          <p:cNvGrpSpPr/>
          <p:nvPr/>
        </p:nvGrpSpPr>
        <p:grpSpPr>
          <a:xfrm rot="0">
            <a:off x="13235940" y="5280660"/>
            <a:ext cx="3497580" cy="822960"/>
            <a:chOff x="0" y="0"/>
            <a:chExt cx="4663440" cy="1097280"/>
          </a:xfrm>
        </p:grpSpPr>
        <p:sp>
          <p:nvSpPr>
            <p:cNvPr name="Freeform 40" id="40"/>
            <p:cNvSpPr/>
            <p:nvPr/>
          </p:nvSpPr>
          <p:spPr>
            <a:xfrm flipH="false" flipV="false" rot="0">
              <a:off x="0" y="0"/>
              <a:ext cx="4663440" cy="1097280"/>
            </a:xfrm>
            <a:custGeom>
              <a:avLst/>
              <a:gdLst/>
              <a:ahLst/>
              <a:cxnLst/>
              <a:rect r="r" b="b" t="t" l="l"/>
              <a:pathLst>
                <a:path h="1097280" w="4663440">
                  <a:moveTo>
                    <a:pt x="0" y="0"/>
                  </a:moveTo>
                  <a:lnTo>
                    <a:pt x="4663440" y="0"/>
                  </a:lnTo>
                  <a:lnTo>
                    <a:pt x="4663440" y="1097280"/>
                  </a:lnTo>
                  <a:lnTo>
                    <a:pt x="0" y="1097280"/>
                  </a:lnTo>
                  <a:close/>
                </a:path>
              </a:pathLst>
            </a:custGeom>
            <a:blipFill>
              <a:blip r:embed="rId2">
                <a:alphaModFix amt="0"/>
              </a:blip>
              <a:stretch>
                <a:fillRect l="0" t="-32811" r="0" b="-32811"/>
              </a:stretch>
            </a:blipFill>
          </p:spPr>
        </p:sp>
        <p:sp>
          <p:nvSpPr>
            <p:cNvPr name="TextBox 41" id="41"/>
            <p:cNvSpPr txBox="true"/>
            <p:nvPr/>
          </p:nvSpPr>
          <p:spPr>
            <a:xfrm>
              <a:off x="0" y="-19050"/>
              <a:ext cx="4663440" cy="1116330"/>
            </a:xfrm>
            <a:prstGeom prst="rect">
              <a:avLst/>
            </a:prstGeom>
          </p:spPr>
          <p:txBody>
            <a:bodyPr anchor="b" rtlCol="false" tIns="0" lIns="0" bIns="0" rIns="0"/>
            <a:lstStyle/>
            <a:p>
              <a:pPr algn="r">
                <a:lnSpc>
                  <a:spcPts val="1889"/>
                </a:lnSpc>
              </a:pPr>
              <a:r>
                <a:rPr lang="en-US" sz="1575" i="true">
                  <a:solidFill>
                    <a:srgbClr val="6B7280"/>
                  </a:solidFill>
                  <a:latin typeface="Calibri (MS) Italics"/>
                  <a:ea typeface="Calibri (MS) Italics"/>
                  <a:cs typeface="Calibri (MS) Italics"/>
                  <a:sym typeface="Calibri (MS) Italics"/>
                </a:rPr>
                <a:t>4.000 filas de train</a:t>
              </a:r>
            </a:p>
          </p:txBody>
        </p:sp>
      </p:grpSp>
      <p:grpSp>
        <p:nvGrpSpPr>
          <p:cNvPr name="Group 42" id="42"/>
          <p:cNvGrpSpPr/>
          <p:nvPr/>
        </p:nvGrpSpPr>
        <p:grpSpPr>
          <a:xfrm rot="0">
            <a:off x="822960" y="7063740"/>
            <a:ext cx="7680960" cy="480060"/>
            <a:chOff x="0" y="0"/>
            <a:chExt cx="10241280" cy="640080"/>
          </a:xfrm>
        </p:grpSpPr>
        <p:sp>
          <p:nvSpPr>
            <p:cNvPr name="Freeform 43" id="43"/>
            <p:cNvSpPr/>
            <p:nvPr/>
          </p:nvSpPr>
          <p:spPr>
            <a:xfrm flipH="false" flipV="false" rot="0">
              <a:off x="0" y="0"/>
              <a:ext cx="10241280" cy="640080"/>
            </a:xfrm>
            <a:custGeom>
              <a:avLst/>
              <a:gdLst/>
              <a:ahLst/>
              <a:cxnLst/>
              <a:rect r="r" b="b" t="t" l="l"/>
              <a:pathLst>
                <a:path h="640080" w="10241280">
                  <a:moveTo>
                    <a:pt x="0" y="0"/>
                  </a:moveTo>
                  <a:lnTo>
                    <a:pt x="10241280" y="0"/>
                  </a:lnTo>
                  <a:lnTo>
                    <a:pt x="10241280" y="640080"/>
                  </a:lnTo>
                  <a:lnTo>
                    <a:pt x="0" y="640080"/>
                  </a:lnTo>
                  <a:close/>
                </a:path>
              </a:pathLst>
            </a:custGeom>
            <a:blipFill>
              <a:blip r:embed="rId2">
                <a:alphaModFix amt="0"/>
              </a:blip>
              <a:stretch>
                <a:fillRect l="0" t="-261760" r="0" b="-261760"/>
              </a:stretch>
            </a:blipFill>
          </p:spPr>
        </p:sp>
        <p:sp>
          <p:nvSpPr>
            <p:cNvPr name="TextBox 44" id="44"/>
            <p:cNvSpPr txBox="true"/>
            <p:nvPr/>
          </p:nvSpPr>
          <p:spPr>
            <a:xfrm>
              <a:off x="0" y="-38100"/>
              <a:ext cx="10241280" cy="678180"/>
            </a:xfrm>
            <a:prstGeom prst="rect">
              <a:avLst/>
            </a:prstGeom>
          </p:spPr>
          <p:txBody>
            <a:bodyPr anchor="ctr" rtlCol="false" tIns="0" lIns="0" bIns="0" rIns="0"/>
            <a:lstStyle/>
            <a:p>
              <a:pPr algn="l">
                <a:lnSpc>
                  <a:spcPts val="2250"/>
                </a:lnSpc>
              </a:pPr>
              <a:r>
                <a:rPr lang="en-US" sz="1875" b="true">
                  <a:solidFill>
                    <a:srgbClr val="0E1220"/>
                  </a:solidFill>
                  <a:latin typeface="Calibri (MS) Bold"/>
                  <a:ea typeface="Calibri (MS) Bold"/>
                  <a:cs typeface="Calibri (MS) Bold"/>
                  <a:sym typeface="Calibri (MS) Bold"/>
                </a:rPr>
                <a:t>¿Por qué RBF y no un SVM lineal?</a:t>
              </a:r>
            </a:p>
          </p:txBody>
        </p:sp>
      </p:grpSp>
      <p:grpSp>
        <p:nvGrpSpPr>
          <p:cNvPr name="Group 45" id="45"/>
          <p:cNvGrpSpPr/>
          <p:nvPr/>
        </p:nvGrpSpPr>
        <p:grpSpPr>
          <a:xfrm rot="0">
            <a:off x="822960" y="7543800"/>
            <a:ext cx="7680960" cy="822960"/>
            <a:chOff x="0" y="0"/>
            <a:chExt cx="10241280" cy="1097280"/>
          </a:xfrm>
        </p:grpSpPr>
        <p:sp>
          <p:nvSpPr>
            <p:cNvPr name="Freeform 46" id="46"/>
            <p:cNvSpPr/>
            <p:nvPr/>
          </p:nvSpPr>
          <p:spPr>
            <a:xfrm flipH="false" flipV="false" rot="0">
              <a:off x="0" y="0"/>
              <a:ext cx="10241280" cy="1097280"/>
            </a:xfrm>
            <a:custGeom>
              <a:avLst/>
              <a:gdLst/>
              <a:ahLst/>
              <a:cxnLst/>
              <a:rect r="r" b="b" t="t" l="l"/>
              <a:pathLst>
                <a:path h="1097280" w="10241280">
                  <a:moveTo>
                    <a:pt x="0" y="0"/>
                  </a:moveTo>
                  <a:lnTo>
                    <a:pt x="10241280" y="0"/>
                  </a:lnTo>
                  <a:lnTo>
                    <a:pt x="10241280" y="1097280"/>
                  </a:lnTo>
                  <a:lnTo>
                    <a:pt x="0" y="1097280"/>
                  </a:lnTo>
                  <a:close/>
                </a:path>
              </a:pathLst>
            </a:custGeom>
            <a:blipFill>
              <a:blip r:embed="rId2">
                <a:alphaModFix amt="0"/>
              </a:blip>
              <a:stretch>
                <a:fillRect l="0" t="-131860" r="0" b="-131860"/>
              </a:stretch>
            </a:blipFill>
          </p:spPr>
        </p:sp>
        <p:sp>
          <p:nvSpPr>
            <p:cNvPr name="TextBox 47" id="47"/>
            <p:cNvSpPr txBox="true"/>
            <p:nvPr/>
          </p:nvSpPr>
          <p:spPr>
            <a:xfrm>
              <a:off x="0" y="-76200"/>
              <a:ext cx="10241280" cy="1173480"/>
            </a:xfrm>
            <a:prstGeom prst="rect">
              <a:avLst/>
            </a:prstGeom>
          </p:spPr>
          <p:txBody>
            <a:bodyPr anchor="ctr" rtlCol="false" tIns="0" lIns="0" bIns="0" rIns="0"/>
            <a:lstStyle/>
            <a:p>
              <a:pPr algn="l">
                <a:lnSpc>
                  <a:spcPts val="2484"/>
                </a:lnSpc>
              </a:pPr>
              <a:r>
                <a:rPr lang="en-US" sz="1725">
                  <a:solidFill>
                    <a:srgbClr val="6B7280"/>
                  </a:solidFill>
                  <a:latin typeface="Calibri (MS)"/>
                  <a:ea typeface="Calibri (MS)"/>
                  <a:cs typeface="Calibri (MS)"/>
                  <a:sym typeface="Calibri (MS)"/>
                </a:rPr>
                <a:t>El objetivo es evidenciar relaciones no lineales; un kernel lineal las ocultaría por diseño.</a:t>
              </a:r>
            </a:p>
          </p:txBody>
        </p:sp>
      </p:grpSp>
      <p:grpSp>
        <p:nvGrpSpPr>
          <p:cNvPr name="Group 48" id="48"/>
          <p:cNvGrpSpPr/>
          <p:nvPr/>
        </p:nvGrpSpPr>
        <p:grpSpPr>
          <a:xfrm rot="0">
            <a:off x="9258300" y="7063740"/>
            <a:ext cx="7680960" cy="480060"/>
            <a:chOff x="0" y="0"/>
            <a:chExt cx="10241280" cy="640080"/>
          </a:xfrm>
        </p:grpSpPr>
        <p:sp>
          <p:nvSpPr>
            <p:cNvPr name="Freeform 49" id="49"/>
            <p:cNvSpPr/>
            <p:nvPr/>
          </p:nvSpPr>
          <p:spPr>
            <a:xfrm flipH="false" flipV="false" rot="0">
              <a:off x="0" y="0"/>
              <a:ext cx="10241280" cy="640080"/>
            </a:xfrm>
            <a:custGeom>
              <a:avLst/>
              <a:gdLst/>
              <a:ahLst/>
              <a:cxnLst/>
              <a:rect r="r" b="b" t="t" l="l"/>
              <a:pathLst>
                <a:path h="640080" w="10241280">
                  <a:moveTo>
                    <a:pt x="0" y="0"/>
                  </a:moveTo>
                  <a:lnTo>
                    <a:pt x="10241280" y="0"/>
                  </a:lnTo>
                  <a:lnTo>
                    <a:pt x="10241280" y="640080"/>
                  </a:lnTo>
                  <a:lnTo>
                    <a:pt x="0" y="640080"/>
                  </a:lnTo>
                  <a:close/>
                </a:path>
              </a:pathLst>
            </a:custGeom>
            <a:blipFill>
              <a:blip r:embed="rId2">
                <a:alphaModFix amt="0"/>
              </a:blip>
              <a:stretch>
                <a:fillRect l="0" t="-261760" r="0" b="-261760"/>
              </a:stretch>
            </a:blipFill>
          </p:spPr>
        </p:sp>
        <p:sp>
          <p:nvSpPr>
            <p:cNvPr name="TextBox 50" id="50"/>
            <p:cNvSpPr txBox="true"/>
            <p:nvPr/>
          </p:nvSpPr>
          <p:spPr>
            <a:xfrm>
              <a:off x="0" y="-38100"/>
              <a:ext cx="10241280" cy="678180"/>
            </a:xfrm>
            <a:prstGeom prst="rect">
              <a:avLst/>
            </a:prstGeom>
          </p:spPr>
          <p:txBody>
            <a:bodyPr anchor="ctr" rtlCol="false" tIns="0" lIns="0" bIns="0" rIns="0"/>
            <a:lstStyle/>
            <a:p>
              <a:pPr algn="l">
                <a:lnSpc>
                  <a:spcPts val="2250"/>
                </a:lnSpc>
              </a:pPr>
              <a:r>
                <a:rPr lang="en-US" sz="1875" b="true">
                  <a:solidFill>
                    <a:srgbClr val="0E1220"/>
                  </a:solidFill>
                  <a:latin typeface="Calibri (MS) Bold"/>
                  <a:ea typeface="Calibri (MS) Bold"/>
                  <a:cs typeface="Calibri (MS) Bold"/>
                  <a:sym typeface="Calibri (MS) Bold"/>
                </a:rPr>
                <a:t>¿Por qué macro-F1 y no accuracy?</a:t>
              </a:r>
            </a:p>
          </p:txBody>
        </p:sp>
      </p:grpSp>
      <p:grpSp>
        <p:nvGrpSpPr>
          <p:cNvPr name="Group 51" id="51"/>
          <p:cNvGrpSpPr/>
          <p:nvPr/>
        </p:nvGrpSpPr>
        <p:grpSpPr>
          <a:xfrm rot="0">
            <a:off x="9258300" y="7543800"/>
            <a:ext cx="7680960" cy="822960"/>
            <a:chOff x="0" y="0"/>
            <a:chExt cx="10241280" cy="1097280"/>
          </a:xfrm>
        </p:grpSpPr>
        <p:sp>
          <p:nvSpPr>
            <p:cNvPr name="Freeform 52" id="52"/>
            <p:cNvSpPr/>
            <p:nvPr/>
          </p:nvSpPr>
          <p:spPr>
            <a:xfrm flipH="false" flipV="false" rot="0">
              <a:off x="0" y="0"/>
              <a:ext cx="10241280" cy="1097280"/>
            </a:xfrm>
            <a:custGeom>
              <a:avLst/>
              <a:gdLst/>
              <a:ahLst/>
              <a:cxnLst/>
              <a:rect r="r" b="b" t="t" l="l"/>
              <a:pathLst>
                <a:path h="1097280" w="10241280">
                  <a:moveTo>
                    <a:pt x="0" y="0"/>
                  </a:moveTo>
                  <a:lnTo>
                    <a:pt x="10241280" y="0"/>
                  </a:lnTo>
                  <a:lnTo>
                    <a:pt x="10241280" y="1097280"/>
                  </a:lnTo>
                  <a:lnTo>
                    <a:pt x="0" y="1097280"/>
                  </a:lnTo>
                  <a:close/>
                </a:path>
              </a:pathLst>
            </a:custGeom>
            <a:blipFill>
              <a:blip r:embed="rId2">
                <a:alphaModFix amt="0"/>
              </a:blip>
              <a:stretch>
                <a:fillRect l="0" t="-131860" r="0" b="-131860"/>
              </a:stretch>
            </a:blipFill>
          </p:spPr>
        </p:sp>
        <p:sp>
          <p:nvSpPr>
            <p:cNvPr name="TextBox 53" id="53"/>
            <p:cNvSpPr txBox="true"/>
            <p:nvPr/>
          </p:nvSpPr>
          <p:spPr>
            <a:xfrm>
              <a:off x="0" y="-76200"/>
              <a:ext cx="10241280" cy="1173480"/>
            </a:xfrm>
            <a:prstGeom prst="rect">
              <a:avLst/>
            </a:prstGeom>
          </p:spPr>
          <p:txBody>
            <a:bodyPr anchor="ctr" rtlCol="false" tIns="0" lIns="0" bIns="0" rIns="0"/>
            <a:lstStyle/>
            <a:p>
              <a:pPr algn="l">
                <a:lnSpc>
                  <a:spcPts val="2484"/>
                </a:lnSpc>
              </a:pPr>
              <a:r>
                <a:rPr lang="en-US" sz="1725">
                  <a:solidFill>
                    <a:srgbClr val="6B7280"/>
                  </a:solidFill>
                  <a:latin typeface="Calibri (MS)"/>
                  <a:ea typeface="Calibri (MS)"/>
                  <a:cs typeface="Calibri (MS)"/>
                  <a:sym typeface="Calibri (MS)"/>
                </a:rPr>
                <a:t>Con este desbalance, predecir casi siempre BENIGN da accuracy alta pero es inútil para detectar ataques raros.</a:t>
              </a:r>
            </a:p>
          </p:txBody>
        </p:sp>
      </p:grpSp>
      <p:grpSp>
        <p:nvGrpSpPr>
          <p:cNvPr name="Group 54" id="54"/>
          <p:cNvGrpSpPr/>
          <p:nvPr/>
        </p:nvGrpSpPr>
        <p:grpSpPr>
          <a:xfrm rot="0">
            <a:off x="17053103" y="9601200"/>
            <a:ext cx="822960" cy="411480"/>
            <a:chOff x="0" y="0"/>
            <a:chExt cx="1097280" cy="548640"/>
          </a:xfrm>
        </p:grpSpPr>
        <p:sp>
          <p:nvSpPr>
            <p:cNvPr name="Freeform 55" id="55"/>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56" id="56"/>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06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1 · 1.2 LIMITACIONES DEL BASELINE</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Tres piezas de evidencia experimental</a:t>
              </a:r>
            </a:p>
          </p:txBody>
        </p:sp>
      </p:grpSp>
      <p:grpSp>
        <p:nvGrpSpPr>
          <p:cNvPr name="Group 8" id="8"/>
          <p:cNvGrpSpPr/>
          <p:nvPr/>
        </p:nvGrpSpPr>
        <p:grpSpPr>
          <a:xfrm rot="0">
            <a:off x="822960" y="2468880"/>
            <a:ext cx="6240780" cy="4869180"/>
            <a:chOff x="0" y="0"/>
            <a:chExt cx="8321040" cy="6492240"/>
          </a:xfrm>
        </p:grpSpPr>
        <p:sp>
          <p:nvSpPr>
            <p:cNvPr name="Freeform 9" id="9" descr="/home/claude/imgs/cell21_1.png"/>
            <p:cNvSpPr/>
            <p:nvPr/>
          </p:nvSpPr>
          <p:spPr>
            <a:xfrm flipH="false" flipV="false" rot="0">
              <a:off x="0" y="0"/>
              <a:ext cx="8321040" cy="6492240"/>
            </a:xfrm>
            <a:custGeom>
              <a:avLst/>
              <a:gdLst/>
              <a:ahLst/>
              <a:cxnLst/>
              <a:rect r="r" b="b" t="t" l="l"/>
              <a:pathLst>
                <a:path h="6492240" w="8321040">
                  <a:moveTo>
                    <a:pt x="0" y="0"/>
                  </a:moveTo>
                  <a:lnTo>
                    <a:pt x="8321040" y="0"/>
                  </a:lnTo>
                  <a:lnTo>
                    <a:pt x="8321040" y="6492240"/>
                  </a:lnTo>
                  <a:lnTo>
                    <a:pt x="0" y="6492240"/>
                  </a:lnTo>
                  <a:lnTo>
                    <a:pt x="0" y="0"/>
                  </a:lnTo>
                  <a:close/>
                </a:path>
              </a:pathLst>
            </a:custGeom>
            <a:blipFill>
              <a:blip r:embed="rId3"/>
              <a:stretch>
                <a:fillRect l="-9016" t="0" r="-9016" b="0"/>
              </a:stretch>
            </a:blipFill>
          </p:spPr>
        </p:sp>
      </p:grpSp>
      <p:grpSp>
        <p:nvGrpSpPr>
          <p:cNvPr name="Group 10" id="10"/>
          <p:cNvGrpSpPr/>
          <p:nvPr/>
        </p:nvGrpSpPr>
        <p:grpSpPr>
          <a:xfrm rot="0">
            <a:off x="7338060" y="2468880"/>
            <a:ext cx="5966460" cy="4869180"/>
            <a:chOff x="0" y="0"/>
            <a:chExt cx="7955280" cy="6492240"/>
          </a:xfrm>
        </p:grpSpPr>
        <p:sp>
          <p:nvSpPr>
            <p:cNvPr name="Freeform 11" id="11" descr="/home/claude/imgs/cell22_0.png"/>
            <p:cNvSpPr/>
            <p:nvPr/>
          </p:nvSpPr>
          <p:spPr>
            <a:xfrm flipH="false" flipV="false" rot="0">
              <a:off x="0" y="0"/>
              <a:ext cx="7955280" cy="6492240"/>
            </a:xfrm>
            <a:custGeom>
              <a:avLst/>
              <a:gdLst/>
              <a:ahLst/>
              <a:cxnLst/>
              <a:rect r="r" b="b" t="t" l="l"/>
              <a:pathLst>
                <a:path h="6492240" w="7955280">
                  <a:moveTo>
                    <a:pt x="0" y="0"/>
                  </a:moveTo>
                  <a:lnTo>
                    <a:pt x="7955280" y="0"/>
                  </a:lnTo>
                  <a:lnTo>
                    <a:pt x="7955280" y="6492240"/>
                  </a:lnTo>
                  <a:lnTo>
                    <a:pt x="0" y="6492240"/>
                  </a:lnTo>
                  <a:lnTo>
                    <a:pt x="0" y="0"/>
                  </a:lnTo>
                  <a:close/>
                </a:path>
              </a:pathLst>
            </a:custGeom>
            <a:blipFill>
              <a:blip r:embed="rId4"/>
              <a:stretch>
                <a:fillRect l="0" t="-883" r="0" b="-883"/>
              </a:stretch>
            </a:blipFill>
          </p:spPr>
        </p:sp>
      </p:grpSp>
      <p:grpSp>
        <p:nvGrpSpPr>
          <p:cNvPr name="Group 12" id="12"/>
          <p:cNvGrpSpPr/>
          <p:nvPr/>
        </p:nvGrpSpPr>
        <p:grpSpPr>
          <a:xfrm rot="0">
            <a:off x="13578840" y="2468880"/>
            <a:ext cx="3909060" cy="4869180"/>
            <a:chOff x="0" y="0"/>
            <a:chExt cx="5212080" cy="6492240"/>
          </a:xfrm>
        </p:grpSpPr>
        <p:sp>
          <p:nvSpPr>
            <p:cNvPr name="Freeform 13" id="13"/>
            <p:cNvSpPr/>
            <p:nvPr/>
          </p:nvSpPr>
          <p:spPr>
            <a:xfrm flipH="false" flipV="false" rot="0">
              <a:off x="0" y="0"/>
              <a:ext cx="5212080" cy="6492240"/>
            </a:xfrm>
            <a:custGeom>
              <a:avLst/>
              <a:gdLst/>
              <a:ahLst/>
              <a:cxnLst/>
              <a:rect r="r" b="b" t="t" l="l"/>
              <a:pathLst>
                <a:path h="6492240" w="5212080">
                  <a:moveTo>
                    <a:pt x="0" y="182880"/>
                  </a:moveTo>
                  <a:cubicBezTo>
                    <a:pt x="0" y="81915"/>
                    <a:pt x="81915" y="0"/>
                    <a:pt x="182880" y="0"/>
                  </a:cubicBezTo>
                  <a:lnTo>
                    <a:pt x="5029200" y="0"/>
                  </a:lnTo>
                  <a:cubicBezTo>
                    <a:pt x="5130165" y="0"/>
                    <a:pt x="5212080" y="81915"/>
                    <a:pt x="5212080" y="182880"/>
                  </a:cubicBezTo>
                  <a:lnTo>
                    <a:pt x="5212080" y="6309360"/>
                  </a:lnTo>
                  <a:cubicBezTo>
                    <a:pt x="5212080" y="6410325"/>
                    <a:pt x="5130165" y="6492240"/>
                    <a:pt x="5029200" y="6492240"/>
                  </a:cubicBezTo>
                  <a:lnTo>
                    <a:pt x="182880" y="6492240"/>
                  </a:lnTo>
                  <a:cubicBezTo>
                    <a:pt x="81915" y="6492240"/>
                    <a:pt x="0" y="6410325"/>
                    <a:pt x="0" y="6309360"/>
                  </a:cubicBezTo>
                  <a:close/>
                </a:path>
              </a:pathLst>
            </a:custGeom>
            <a:solidFill>
              <a:srgbClr val="10162B"/>
            </a:solidFill>
          </p:spPr>
        </p:sp>
      </p:grpSp>
      <p:grpSp>
        <p:nvGrpSpPr>
          <p:cNvPr name="Group 14" id="14"/>
          <p:cNvGrpSpPr/>
          <p:nvPr/>
        </p:nvGrpSpPr>
        <p:grpSpPr>
          <a:xfrm rot="0">
            <a:off x="13921740" y="2743200"/>
            <a:ext cx="3223260" cy="822960"/>
            <a:chOff x="0" y="0"/>
            <a:chExt cx="4297680" cy="1097280"/>
          </a:xfrm>
        </p:grpSpPr>
        <p:sp>
          <p:nvSpPr>
            <p:cNvPr name="Freeform 15" id="15"/>
            <p:cNvSpPr/>
            <p:nvPr/>
          </p:nvSpPr>
          <p:spPr>
            <a:xfrm flipH="false" flipV="false" rot="0">
              <a:off x="0" y="0"/>
              <a:ext cx="4297680" cy="1097280"/>
            </a:xfrm>
            <a:custGeom>
              <a:avLst/>
              <a:gdLst/>
              <a:ahLst/>
              <a:cxnLst/>
              <a:rect r="r" b="b" t="t" l="l"/>
              <a:pathLst>
                <a:path h="1097280" w="4297680">
                  <a:moveTo>
                    <a:pt x="0" y="0"/>
                  </a:moveTo>
                  <a:lnTo>
                    <a:pt x="4297680" y="0"/>
                  </a:lnTo>
                  <a:lnTo>
                    <a:pt x="4297680" y="1097280"/>
                  </a:lnTo>
                  <a:lnTo>
                    <a:pt x="0" y="1097280"/>
                  </a:lnTo>
                  <a:close/>
                </a:path>
              </a:pathLst>
            </a:custGeom>
            <a:blipFill>
              <a:blip r:embed="rId2">
                <a:alphaModFix amt="0"/>
              </a:blip>
              <a:stretch>
                <a:fillRect l="0" t="-26316" r="0" b="-26316"/>
              </a:stretch>
            </a:blipFill>
          </p:spPr>
        </p:sp>
        <p:sp>
          <p:nvSpPr>
            <p:cNvPr name="TextBox 16" id="16"/>
            <p:cNvSpPr txBox="true"/>
            <p:nvPr/>
          </p:nvSpPr>
          <p:spPr>
            <a:xfrm>
              <a:off x="0" y="-66675"/>
              <a:ext cx="4297680" cy="1163955"/>
            </a:xfrm>
            <a:prstGeom prst="rect">
              <a:avLst/>
            </a:prstGeom>
          </p:spPr>
          <p:txBody>
            <a:bodyPr anchor="ctr" rtlCol="false" tIns="0" lIns="0" bIns="0" rIns="0"/>
            <a:lstStyle/>
            <a:p>
              <a:pPr algn="l">
                <a:lnSpc>
                  <a:spcPts val="2380"/>
                </a:lnSpc>
              </a:pPr>
              <a:r>
                <a:rPr lang="en-US" sz="1725" b="true">
                  <a:solidFill>
                    <a:srgbClr val="00D1B2"/>
                  </a:solidFill>
                  <a:latin typeface="Calibri (MS) Bold"/>
                  <a:ea typeface="Calibri (MS) Bold"/>
                  <a:cs typeface="Calibri (MS) Bold"/>
                  <a:sym typeface="Calibri (MS) Bold"/>
                </a:rPr>
                <a:t>Gradient Boosting vs. LR (misma submuestra)</a:t>
              </a:r>
            </a:p>
          </p:txBody>
        </p:sp>
      </p:grpSp>
      <p:grpSp>
        <p:nvGrpSpPr>
          <p:cNvPr name="Group 17" id="17"/>
          <p:cNvGrpSpPr/>
          <p:nvPr/>
        </p:nvGrpSpPr>
        <p:grpSpPr>
          <a:xfrm rot="0">
            <a:off x="13921740" y="3634740"/>
            <a:ext cx="3223260" cy="822960"/>
            <a:chOff x="0" y="0"/>
            <a:chExt cx="4297680" cy="1097280"/>
          </a:xfrm>
        </p:grpSpPr>
        <p:sp>
          <p:nvSpPr>
            <p:cNvPr name="Freeform 18" id="18"/>
            <p:cNvSpPr/>
            <p:nvPr/>
          </p:nvSpPr>
          <p:spPr>
            <a:xfrm flipH="false" flipV="false" rot="0">
              <a:off x="0" y="0"/>
              <a:ext cx="4297680" cy="1097280"/>
            </a:xfrm>
            <a:custGeom>
              <a:avLst/>
              <a:gdLst/>
              <a:ahLst/>
              <a:cxnLst/>
              <a:rect r="r" b="b" t="t" l="l"/>
              <a:pathLst>
                <a:path h="1097280" w="4297680">
                  <a:moveTo>
                    <a:pt x="0" y="0"/>
                  </a:moveTo>
                  <a:lnTo>
                    <a:pt x="4297680" y="0"/>
                  </a:lnTo>
                  <a:lnTo>
                    <a:pt x="4297680" y="1097280"/>
                  </a:lnTo>
                  <a:lnTo>
                    <a:pt x="0" y="1097280"/>
                  </a:lnTo>
                  <a:close/>
                </a:path>
              </a:pathLst>
            </a:custGeom>
            <a:blipFill>
              <a:blip r:embed="rId2">
                <a:alphaModFix amt="0"/>
              </a:blip>
              <a:stretch>
                <a:fillRect l="0" t="-26316" r="0" b="-26316"/>
              </a:stretch>
            </a:blipFill>
          </p:spPr>
        </p:sp>
        <p:sp>
          <p:nvSpPr>
            <p:cNvPr name="TextBox 19" id="19"/>
            <p:cNvSpPr txBox="true"/>
            <p:nvPr/>
          </p:nvSpPr>
          <p:spPr>
            <a:xfrm>
              <a:off x="0" y="-19050"/>
              <a:ext cx="4297680" cy="1116330"/>
            </a:xfrm>
            <a:prstGeom prst="rect">
              <a:avLst/>
            </a:prstGeom>
          </p:spPr>
          <p:txBody>
            <a:bodyPr anchor="ctr" rtlCol="false" tIns="0" lIns="0" bIns="0" rIns="0"/>
            <a:lstStyle/>
            <a:p>
              <a:pPr algn="l">
                <a:lnSpc>
                  <a:spcPts val="5400"/>
                </a:lnSpc>
              </a:pPr>
              <a:r>
                <a:rPr lang="en-US" sz="4500" b="true">
                  <a:solidFill>
                    <a:srgbClr val="FFFFFF"/>
                  </a:solidFill>
                  <a:latin typeface="Cambria Bold"/>
                  <a:ea typeface="Cambria Bold"/>
                  <a:cs typeface="Cambria Bold"/>
                  <a:sym typeface="Cambria Bold"/>
                </a:rPr>
                <a:t>0.60</a:t>
              </a:r>
            </a:p>
          </p:txBody>
        </p:sp>
      </p:grpSp>
      <p:grpSp>
        <p:nvGrpSpPr>
          <p:cNvPr name="Group 20" id="20"/>
          <p:cNvGrpSpPr/>
          <p:nvPr/>
        </p:nvGrpSpPr>
        <p:grpSpPr>
          <a:xfrm rot="0">
            <a:off x="13921740" y="4457700"/>
            <a:ext cx="3223260" cy="822960"/>
            <a:chOff x="0" y="0"/>
            <a:chExt cx="4297680" cy="1097280"/>
          </a:xfrm>
        </p:grpSpPr>
        <p:sp>
          <p:nvSpPr>
            <p:cNvPr name="Freeform 21" id="21"/>
            <p:cNvSpPr/>
            <p:nvPr/>
          </p:nvSpPr>
          <p:spPr>
            <a:xfrm flipH="false" flipV="false" rot="0">
              <a:off x="0" y="0"/>
              <a:ext cx="4297680" cy="1097280"/>
            </a:xfrm>
            <a:custGeom>
              <a:avLst/>
              <a:gdLst/>
              <a:ahLst/>
              <a:cxnLst/>
              <a:rect r="r" b="b" t="t" l="l"/>
              <a:pathLst>
                <a:path h="1097280" w="4297680">
                  <a:moveTo>
                    <a:pt x="0" y="0"/>
                  </a:moveTo>
                  <a:lnTo>
                    <a:pt x="4297680" y="0"/>
                  </a:lnTo>
                  <a:lnTo>
                    <a:pt x="4297680" y="1097280"/>
                  </a:lnTo>
                  <a:lnTo>
                    <a:pt x="0" y="1097280"/>
                  </a:lnTo>
                  <a:close/>
                </a:path>
              </a:pathLst>
            </a:custGeom>
            <a:blipFill>
              <a:blip r:embed="rId2">
                <a:alphaModFix amt="0"/>
              </a:blip>
              <a:stretch>
                <a:fillRect l="0" t="-26316" r="0" b="-26316"/>
              </a:stretch>
            </a:blipFill>
          </p:spPr>
        </p:sp>
        <p:sp>
          <p:nvSpPr>
            <p:cNvPr name="TextBox 22" id="22"/>
            <p:cNvSpPr txBox="true"/>
            <p:nvPr/>
          </p:nvSpPr>
          <p:spPr>
            <a:xfrm>
              <a:off x="0" y="-57150"/>
              <a:ext cx="4297680" cy="1154430"/>
            </a:xfrm>
            <a:prstGeom prst="rect">
              <a:avLst/>
            </a:prstGeom>
          </p:spPr>
          <p:txBody>
            <a:bodyPr anchor="ctr" rtlCol="false" tIns="0" lIns="0" bIns="0" rIns="0"/>
            <a:lstStyle/>
            <a:p>
              <a:pPr algn="l">
                <a:lnSpc>
                  <a:spcPts val="2268"/>
                </a:lnSpc>
              </a:pPr>
              <a:r>
                <a:rPr lang="en-US" sz="1575">
                  <a:solidFill>
                    <a:srgbClr val="B9C0E0"/>
                  </a:solidFill>
                  <a:latin typeface="Calibri (MS)"/>
                  <a:ea typeface="Calibri (MS)"/>
                  <a:cs typeface="Calibri (MS)"/>
                  <a:sym typeface="Calibri (MS)"/>
                </a:rPr>
                <a:t>macro-F1 del GBM  vs.  0.416 de la Regresión Logística</a:t>
              </a:r>
            </a:p>
          </p:txBody>
        </p:sp>
      </p:grpSp>
      <p:grpSp>
        <p:nvGrpSpPr>
          <p:cNvPr name="Group 23" id="23"/>
          <p:cNvGrpSpPr/>
          <p:nvPr/>
        </p:nvGrpSpPr>
        <p:grpSpPr>
          <a:xfrm rot="0">
            <a:off x="13921740" y="5417820"/>
            <a:ext cx="3223260" cy="548640"/>
            <a:chOff x="0" y="0"/>
            <a:chExt cx="4297680" cy="731520"/>
          </a:xfrm>
        </p:grpSpPr>
        <p:sp>
          <p:nvSpPr>
            <p:cNvPr name="Freeform 24" id="24"/>
            <p:cNvSpPr/>
            <p:nvPr/>
          </p:nvSpPr>
          <p:spPr>
            <a:xfrm flipH="false" flipV="false" rot="0">
              <a:off x="0" y="0"/>
              <a:ext cx="4297680" cy="731520"/>
            </a:xfrm>
            <a:custGeom>
              <a:avLst/>
              <a:gdLst/>
              <a:ahLst/>
              <a:cxnLst/>
              <a:rect r="r" b="b" t="t" l="l"/>
              <a:pathLst>
                <a:path h="731520" w="4297680">
                  <a:moveTo>
                    <a:pt x="0" y="0"/>
                  </a:moveTo>
                  <a:lnTo>
                    <a:pt x="4297680" y="0"/>
                  </a:lnTo>
                  <a:lnTo>
                    <a:pt x="4297680" y="731520"/>
                  </a:lnTo>
                  <a:lnTo>
                    <a:pt x="0" y="731520"/>
                  </a:lnTo>
                  <a:close/>
                </a:path>
              </a:pathLst>
            </a:custGeom>
            <a:blipFill>
              <a:blip r:embed="rId2">
                <a:alphaModFix amt="0"/>
              </a:blip>
              <a:stretch>
                <a:fillRect l="0" t="-64474" r="0" b="-64474"/>
              </a:stretch>
            </a:blipFill>
          </p:spPr>
        </p:sp>
        <p:sp>
          <p:nvSpPr>
            <p:cNvPr name="TextBox 25" id="25"/>
            <p:cNvSpPr txBox="true"/>
            <p:nvPr/>
          </p:nvSpPr>
          <p:spPr>
            <a:xfrm>
              <a:off x="0" y="-19050"/>
              <a:ext cx="4297680" cy="750570"/>
            </a:xfrm>
            <a:prstGeom prst="rect">
              <a:avLst/>
            </a:prstGeom>
          </p:spPr>
          <p:txBody>
            <a:bodyPr anchor="ctr" rtlCol="false" tIns="0" lIns="0" bIns="0" rIns="0"/>
            <a:lstStyle/>
            <a:p>
              <a:pPr algn="l">
                <a:lnSpc>
                  <a:spcPts val="2700"/>
                </a:lnSpc>
              </a:pPr>
              <a:r>
                <a:rPr lang="en-US" sz="2250" b="true">
                  <a:solidFill>
                    <a:srgbClr val="FF5C5C"/>
                  </a:solidFill>
                  <a:latin typeface="Cambria Bold"/>
                  <a:ea typeface="Cambria Bold"/>
                  <a:cs typeface="Cambria Bold"/>
                  <a:sym typeface="Cambria Bold"/>
                </a:rPr>
                <a:t>Δ = +0.185</a:t>
              </a:r>
            </a:p>
          </p:txBody>
        </p:sp>
      </p:grpSp>
      <p:grpSp>
        <p:nvGrpSpPr>
          <p:cNvPr name="Group 26" id="26"/>
          <p:cNvGrpSpPr/>
          <p:nvPr/>
        </p:nvGrpSpPr>
        <p:grpSpPr>
          <a:xfrm rot="0">
            <a:off x="13921740" y="5966460"/>
            <a:ext cx="3223260" cy="1234440"/>
            <a:chOff x="0" y="0"/>
            <a:chExt cx="4297680" cy="1645920"/>
          </a:xfrm>
        </p:grpSpPr>
        <p:sp>
          <p:nvSpPr>
            <p:cNvPr name="Freeform 27" id="27"/>
            <p:cNvSpPr/>
            <p:nvPr/>
          </p:nvSpPr>
          <p:spPr>
            <a:xfrm flipH="false" flipV="false" rot="0">
              <a:off x="0" y="0"/>
              <a:ext cx="4297680" cy="1645920"/>
            </a:xfrm>
            <a:custGeom>
              <a:avLst/>
              <a:gdLst/>
              <a:ahLst/>
              <a:cxnLst/>
              <a:rect r="r" b="b" t="t" l="l"/>
              <a:pathLst>
                <a:path h="1645920" w="4297680">
                  <a:moveTo>
                    <a:pt x="0" y="0"/>
                  </a:moveTo>
                  <a:lnTo>
                    <a:pt x="4297680" y="0"/>
                  </a:lnTo>
                  <a:lnTo>
                    <a:pt x="4297680" y="1645920"/>
                  </a:lnTo>
                  <a:lnTo>
                    <a:pt x="0" y="1645920"/>
                  </a:lnTo>
                  <a:close/>
                </a:path>
              </a:pathLst>
            </a:custGeom>
            <a:blipFill>
              <a:blip r:embed="rId2">
                <a:alphaModFix amt="0"/>
              </a:blip>
              <a:stretch>
                <a:fillRect l="0" t="-877" r="0" b="-877"/>
              </a:stretch>
            </a:blipFill>
          </p:spPr>
        </p:sp>
        <p:sp>
          <p:nvSpPr>
            <p:cNvPr name="TextBox 28" id="28"/>
            <p:cNvSpPr txBox="true"/>
            <p:nvPr/>
          </p:nvSpPr>
          <p:spPr>
            <a:xfrm>
              <a:off x="0" y="-66675"/>
              <a:ext cx="4297680" cy="1712595"/>
            </a:xfrm>
            <a:prstGeom prst="rect">
              <a:avLst/>
            </a:prstGeom>
          </p:spPr>
          <p:txBody>
            <a:bodyPr anchor="ctr" rtlCol="false" tIns="0" lIns="0" bIns="0" rIns="0"/>
            <a:lstStyle/>
            <a:p>
              <a:pPr algn="l">
                <a:lnSpc>
                  <a:spcPts val="2160"/>
                </a:lnSpc>
              </a:pPr>
              <a:r>
                <a:rPr lang="en-US" sz="1500" i="true">
                  <a:solidFill>
                    <a:srgbClr val="8A93B8"/>
                  </a:solidFill>
                  <a:latin typeface="Calibri (MS) Italics"/>
                  <a:ea typeface="Calibri (MS) Italics"/>
                  <a:cs typeface="Calibri (MS) Italics"/>
                  <a:sym typeface="Calibri (MS) Italics"/>
                </a:rPr>
                <a:t>evidencia de no linealidad</a:t>
              </a:r>
            </a:p>
          </p:txBody>
        </p:sp>
      </p:grpSp>
      <p:grpSp>
        <p:nvGrpSpPr>
          <p:cNvPr name="Group 29" id="29"/>
          <p:cNvGrpSpPr/>
          <p:nvPr/>
        </p:nvGrpSpPr>
        <p:grpSpPr>
          <a:xfrm rot="0">
            <a:off x="822960" y="7612380"/>
            <a:ext cx="12481560" cy="1783080"/>
            <a:chOff x="0" y="0"/>
            <a:chExt cx="16642080" cy="2377440"/>
          </a:xfrm>
        </p:grpSpPr>
        <p:sp>
          <p:nvSpPr>
            <p:cNvPr name="Freeform 30" id="30"/>
            <p:cNvSpPr/>
            <p:nvPr/>
          </p:nvSpPr>
          <p:spPr>
            <a:xfrm flipH="false" flipV="false" rot="0">
              <a:off x="0" y="0"/>
              <a:ext cx="16642080" cy="2377440"/>
            </a:xfrm>
            <a:custGeom>
              <a:avLst/>
              <a:gdLst/>
              <a:ahLst/>
              <a:cxnLst/>
              <a:rect r="r" b="b" t="t" l="l"/>
              <a:pathLst>
                <a:path h="2377440" w="16642080">
                  <a:moveTo>
                    <a:pt x="0" y="0"/>
                  </a:moveTo>
                  <a:lnTo>
                    <a:pt x="16642080" y="0"/>
                  </a:lnTo>
                  <a:lnTo>
                    <a:pt x="16642080" y="2377440"/>
                  </a:lnTo>
                  <a:lnTo>
                    <a:pt x="0" y="2377440"/>
                  </a:lnTo>
                  <a:close/>
                </a:path>
              </a:pathLst>
            </a:custGeom>
            <a:blipFill>
              <a:blip r:embed="rId2">
                <a:alphaModFix amt="0"/>
              </a:blip>
              <a:stretch>
                <a:fillRect l="0" t="-86395" r="0" b="-86395"/>
              </a:stretch>
            </a:blipFill>
          </p:spPr>
        </p:sp>
        <p:sp>
          <p:nvSpPr>
            <p:cNvPr name="TextBox 31" id="31"/>
            <p:cNvSpPr txBox="true"/>
            <p:nvPr/>
          </p:nvSpPr>
          <p:spPr>
            <a:xfrm>
              <a:off x="0" y="-85725"/>
              <a:ext cx="16642080" cy="2463165"/>
            </a:xfrm>
            <a:prstGeom prst="rect">
              <a:avLst/>
            </a:prstGeom>
          </p:spPr>
          <p:txBody>
            <a:bodyPr anchor="ctr" rtlCol="false" tIns="0" lIns="0" bIns="0" rIns="0"/>
            <a:lstStyle/>
            <a:p>
              <a:pPr algn="l">
                <a:lnSpc>
                  <a:spcPts val="2587"/>
                </a:lnSpc>
              </a:pPr>
              <a:r>
                <a:rPr lang="en-US" sz="1725" b="true">
                  <a:solidFill>
                    <a:srgbClr val="0E1220"/>
                  </a:solidFill>
                  <a:latin typeface="Calibri (MS) Bold"/>
                  <a:ea typeface="Calibri (MS) Bold"/>
                  <a:cs typeface="Calibri (MS) Bold"/>
                  <a:sym typeface="Calibri (MS) Bold"/>
                </a:rPr>
                <a:t>Curva de aprendizaje (izq.): </a:t>
              </a:r>
              <a:r>
                <a:rPr lang="en-US" sz="1725">
                  <a:solidFill>
                    <a:srgbClr val="6B7280"/>
                  </a:solidFill>
                  <a:latin typeface="Calibri (MS)"/>
                  <a:ea typeface="Calibri (MS)"/>
                  <a:cs typeface="Calibri (MS)"/>
                  <a:sym typeface="Calibri (MS)"/>
                </a:rPr>
                <a:t>el gap train/val no se cierra al agregar más datos → el límite es la capacidad del modelo lineal, no la falta de datos.   </a:t>
              </a:r>
              <a:r>
                <a:rPr lang="en-US" sz="1725" b="true">
                  <a:solidFill>
                    <a:srgbClr val="0E1220"/>
                  </a:solidFill>
                  <a:latin typeface="Calibri (MS) Bold"/>
                  <a:ea typeface="Calibri (MS) Bold"/>
                  <a:cs typeface="Calibri (MS) Bold"/>
                  <a:sym typeface="Calibri (MS) Bold"/>
                </a:rPr>
                <a:t>Errores en PCA 2D (centro): </a:t>
              </a:r>
              <a:r>
                <a:rPr lang="en-US" sz="1725">
                  <a:solidFill>
                    <a:srgbClr val="6B7280"/>
                  </a:solidFill>
                  <a:latin typeface="Calibri (MS)"/>
                  <a:ea typeface="Calibri (MS)"/>
                  <a:cs typeface="Calibri (MS)"/>
                  <a:sym typeface="Calibri (MS)"/>
                </a:rPr>
                <a:t>los errores de la Regresión Logística se concentran densamente, sin separarse linealmente en el espacio proyectado.</a:t>
              </a:r>
            </a:p>
          </p:txBody>
        </p:sp>
      </p:grpSp>
      <p:grpSp>
        <p:nvGrpSpPr>
          <p:cNvPr name="Group 32" id="32"/>
          <p:cNvGrpSpPr/>
          <p:nvPr/>
        </p:nvGrpSpPr>
        <p:grpSpPr>
          <a:xfrm rot="0">
            <a:off x="17053103" y="9601200"/>
            <a:ext cx="822960" cy="411480"/>
            <a:chOff x="0" y="0"/>
            <a:chExt cx="1097280" cy="548640"/>
          </a:xfrm>
        </p:grpSpPr>
        <p:sp>
          <p:nvSpPr>
            <p:cNvPr name="Freeform 33" id="33"/>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34" id="34"/>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07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1 · 1.3 DISEÑO DE LA DNN</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Cada decisión de diseño responde a la evidencia previa</a:t>
              </a:r>
            </a:p>
          </p:txBody>
        </p:sp>
      </p:grpSp>
      <p:grpSp>
        <p:nvGrpSpPr>
          <p:cNvPr name="Group 8" id="8"/>
          <p:cNvGrpSpPr/>
          <p:nvPr/>
        </p:nvGrpSpPr>
        <p:grpSpPr>
          <a:xfrm rot="0">
            <a:off x="813435" y="2527935"/>
            <a:ext cx="16615410" cy="1363218"/>
            <a:chOff x="0" y="0"/>
            <a:chExt cx="22153880" cy="1817624"/>
          </a:xfrm>
        </p:grpSpPr>
        <p:sp>
          <p:nvSpPr>
            <p:cNvPr name="Freeform 9" id="9"/>
            <p:cNvSpPr/>
            <p:nvPr/>
          </p:nvSpPr>
          <p:spPr>
            <a:xfrm flipH="false" flipV="false" rot="0">
              <a:off x="0" y="0"/>
              <a:ext cx="22153880" cy="1817624"/>
            </a:xfrm>
            <a:custGeom>
              <a:avLst/>
              <a:gdLst/>
              <a:ahLst/>
              <a:cxnLst/>
              <a:rect r="r" b="b" t="t" l="l"/>
              <a:pathLst>
                <a:path h="1817624" w="22153880">
                  <a:moveTo>
                    <a:pt x="0" y="148336"/>
                  </a:moveTo>
                  <a:cubicBezTo>
                    <a:pt x="0" y="66421"/>
                    <a:pt x="66421" y="0"/>
                    <a:pt x="148336" y="0"/>
                  </a:cubicBezTo>
                  <a:lnTo>
                    <a:pt x="22005544" y="0"/>
                  </a:lnTo>
                  <a:cubicBezTo>
                    <a:pt x="22087458" y="0"/>
                    <a:pt x="22153880" y="66421"/>
                    <a:pt x="22153880" y="148336"/>
                  </a:cubicBezTo>
                  <a:lnTo>
                    <a:pt x="22153880" y="1669288"/>
                  </a:lnTo>
                  <a:cubicBezTo>
                    <a:pt x="22153880" y="1751203"/>
                    <a:pt x="22087458" y="1817624"/>
                    <a:pt x="22005544" y="1817624"/>
                  </a:cubicBezTo>
                  <a:lnTo>
                    <a:pt x="148336" y="1817624"/>
                  </a:lnTo>
                  <a:cubicBezTo>
                    <a:pt x="66421" y="1817624"/>
                    <a:pt x="0" y="1751203"/>
                    <a:pt x="0" y="1669288"/>
                  </a:cubicBezTo>
                  <a:close/>
                </a:path>
              </a:pathLst>
            </a:custGeom>
            <a:solidFill>
              <a:srgbClr val="FFFFFF"/>
            </a:solidFill>
            <a:ln w="19050" cap="sq">
              <a:solidFill>
                <a:srgbClr val="E3E6F0"/>
              </a:solidFill>
              <a:prstDash val="solid"/>
              <a:miter/>
            </a:ln>
          </p:spPr>
        </p:sp>
      </p:grpSp>
      <p:grpSp>
        <p:nvGrpSpPr>
          <p:cNvPr name="Group 10" id="10"/>
          <p:cNvGrpSpPr/>
          <p:nvPr/>
        </p:nvGrpSpPr>
        <p:grpSpPr>
          <a:xfrm rot="0">
            <a:off x="822960" y="2537460"/>
            <a:ext cx="123444" cy="1344168"/>
            <a:chOff x="0" y="0"/>
            <a:chExt cx="164592" cy="1792224"/>
          </a:xfrm>
        </p:grpSpPr>
        <p:sp>
          <p:nvSpPr>
            <p:cNvPr name="Freeform 11" id="11"/>
            <p:cNvSpPr/>
            <p:nvPr/>
          </p:nvSpPr>
          <p:spPr>
            <a:xfrm flipH="false" flipV="false" rot="0">
              <a:off x="0" y="0"/>
              <a:ext cx="164592" cy="1792224"/>
            </a:xfrm>
            <a:custGeom>
              <a:avLst/>
              <a:gdLst/>
              <a:ahLst/>
              <a:cxnLst/>
              <a:rect r="r" b="b" t="t" l="l"/>
              <a:pathLst>
                <a:path h="1792224" w="164592">
                  <a:moveTo>
                    <a:pt x="0" y="27432"/>
                  </a:moveTo>
                  <a:cubicBezTo>
                    <a:pt x="0" y="12319"/>
                    <a:pt x="12319" y="0"/>
                    <a:pt x="27432" y="0"/>
                  </a:cubicBezTo>
                  <a:lnTo>
                    <a:pt x="137160" y="0"/>
                  </a:lnTo>
                  <a:cubicBezTo>
                    <a:pt x="152273" y="0"/>
                    <a:pt x="164592" y="12319"/>
                    <a:pt x="164592" y="27432"/>
                  </a:cubicBezTo>
                  <a:lnTo>
                    <a:pt x="164592" y="1764792"/>
                  </a:lnTo>
                  <a:cubicBezTo>
                    <a:pt x="164592" y="1779905"/>
                    <a:pt x="152273" y="1792224"/>
                    <a:pt x="137160" y="1792224"/>
                  </a:cubicBezTo>
                  <a:lnTo>
                    <a:pt x="27432" y="1792224"/>
                  </a:lnTo>
                  <a:cubicBezTo>
                    <a:pt x="12319" y="1792224"/>
                    <a:pt x="0" y="1779905"/>
                    <a:pt x="0" y="1764792"/>
                  </a:cubicBezTo>
                  <a:close/>
                </a:path>
              </a:pathLst>
            </a:custGeom>
            <a:solidFill>
              <a:srgbClr val="00D1B2"/>
            </a:solidFill>
          </p:spPr>
        </p:sp>
      </p:grpSp>
      <p:grpSp>
        <p:nvGrpSpPr>
          <p:cNvPr name="Group 12" id="12"/>
          <p:cNvGrpSpPr/>
          <p:nvPr/>
        </p:nvGrpSpPr>
        <p:grpSpPr>
          <a:xfrm rot="0">
            <a:off x="1440180" y="2647188"/>
            <a:ext cx="4937760" cy="1124712"/>
            <a:chOff x="0" y="0"/>
            <a:chExt cx="6583680" cy="1499616"/>
          </a:xfrm>
        </p:grpSpPr>
        <p:sp>
          <p:nvSpPr>
            <p:cNvPr name="Freeform 13" id="13"/>
            <p:cNvSpPr/>
            <p:nvPr/>
          </p:nvSpPr>
          <p:spPr>
            <a:xfrm flipH="false" flipV="false" rot="0">
              <a:off x="0" y="0"/>
              <a:ext cx="6583680" cy="1499616"/>
            </a:xfrm>
            <a:custGeom>
              <a:avLst/>
              <a:gdLst/>
              <a:ahLst/>
              <a:cxnLst/>
              <a:rect r="r" b="b" t="t" l="l"/>
              <a:pathLst>
                <a:path h="1499616" w="6583680">
                  <a:moveTo>
                    <a:pt x="0" y="0"/>
                  </a:moveTo>
                  <a:lnTo>
                    <a:pt x="6583680" y="0"/>
                  </a:lnTo>
                  <a:lnTo>
                    <a:pt x="6583680" y="1499616"/>
                  </a:lnTo>
                  <a:lnTo>
                    <a:pt x="0" y="1499616"/>
                  </a:lnTo>
                  <a:close/>
                </a:path>
              </a:pathLst>
            </a:custGeom>
            <a:blipFill>
              <a:blip r:embed="rId2">
                <a:alphaModFix amt="0"/>
              </a:blip>
              <a:stretch>
                <a:fillRect l="0" t="-35544" r="0" b="-35544"/>
              </a:stretch>
            </a:blipFill>
          </p:spPr>
        </p:sp>
        <p:sp>
          <p:nvSpPr>
            <p:cNvPr name="TextBox 14" id="14"/>
            <p:cNvSpPr txBox="true"/>
            <p:nvPr/>
          </p:nvSpPr>
          <p:spPr>
            <a:xfrm>
              <a:off x="0" y="-9525"/>
              <a:ext cx="6583680" cy="1509141"/>
            </a:xfrm>
            <a:prstGeom prst="rect">
              <a:avLst/>
            </a:prstGeom>
          </p:spPr>
          <p:txBody>
            <a:bodyPr anchor="ctr" rtlCol="false" tIns="0" lIns="0" bIns="0" rIns="0"/>
            <a:lstStyle/>
            <a:p>
              <a:pPr algn="l">
                <a:lnSpc>
                  <a:spcPts val="2430"/>
                </a:lnSpc>
              </a:pPr>
              <a:r>
                <a:rPr lang="en-US" sz="2025" b="true">
                  <a:solidFill>
                    <a:srgbClr val="0E1220"/>
                  </a:solidFill>
                  <a:latin typeface="Cambria Bold"/>
                  <a:ea typeface="Cambria Bold"/>
                  <a:cs typeface="Cambria Bold"/>
                  <a:sym typeface="Cambria Bold"/>
                </a:rPr>
                <a:t>MLP no lineal (ReLU)</a:t>
              </a:r>
            </a:p>
          </p:txBody>
        </p:sp>
      </p:grpSp>
      <p:grpSp>
        <p:nvGrpSpPr>
          <p:cNvPr name="Group 15" id="15"/>
          <p:cNvGrpSpPr/>
          <p:nvPr/>
        </p:nvGrpSpPr>
        <p:grpSpPr>
          <a:xfrm rot="0">
            <a:off x="6515100" y="2647188"/>
            <a:ext cx="10629900" cy="1124712"/>
            <a:chOff x="0" y="0"/>
            <a:chExt cx="14173200" cy="1499616"/>
          </a:xfrm>
        </p:grpSpPr>
        <p:sp>
          <p:nvSpPr>
            <p:cNvPr name="Freeform 16" id="16"/>
            <p:cNvSpPr/>
            <p:nvPr/>
          </p:nvSpPr>
          <p:spPr>
            <a:xfrm flipH="false" flipV="false" rot="0">
              <a:off x="0" y="0"/>
              <a:ext cx="14173200" cy="1499616"/>
            </a:xfrm>
            <a:custGeom>
              <a:avLst/>
              <a:gdLst/>
              <a:ahLst/>
              <a:cxnLst/>
              <a:rect r="r" b="b" t="t" l="l"/>
              <a:pathLst>
                <a:path h="1499616" w="14173200">
                  <a:moveTo>
                    <a:pt x="0" y="0"/>
                  </a:moveTo>
                  <a:lnTo>
                    <a:pt x="14173200" y="0"/>
                  </a:lnTo>
                  <a:lnTo>
                    <a:pt x="14173200" y="1499616"/>
                  </a:lnTo>
                  <a:lnTo>
                    <a:pt x="0" y="1499616"/>
                  </a:lnTo>
                  <a:close/>
                </a:path>
              </a:pathLst>
            </a:custGeom>
            <a:blipFill>
              <a:blip r:embed="rId2">
                <a:alphaModFix amt="0"/>
              </a:blip>
              <a:stretch>
                <a:fillRect l="0" t="-134157" r="0" b="-134157"/>
              </a:stretch>
            </a:blipFill>
          </p:spPr>
        </p:sp>
        <p:sp>
          <p:nvSpPr>
            <p:cNvPr name="TextBox 17" id="17"/>
            <p:cNvSpPr txBox="true"/>
            <p:nvPr/>
          </p:nvSpPr>
          <p:spPr>
            <a:xfrm>
              <a:off x="0" y="-66675"/>
              <a:ext cx="14173200" cy="1566291"/>
            </a:xfrm>
            <a:prstGeom prst="rect">
              <a:avLst/>
            </a:prstGeom>
          </p:spPr>
          <p:txBody>
            <a:bodyPr anchor="ctr" rtlCol="false" tIns="0" lIns="0" bIns="0" rIns="0"/>
            <a:lstStyle/>
            <a:p>
              <a:pPr algn="l">
                <a:lnSpc>
                  <a:spcPts val="2380"/>
                </a:lnSpc>
              </a:pPr>
              <a:r>
                <a:rPr lang="en-US" sz="1725">
                  <a:solidFill>
                    <a:srgbClr val="6B7280"/>
                  </a:solidFill>
                  <a:latin typeface="Calibri (MS)"/>
                  <a:ea typeface="Calibri (MS)"/>
                  <a:cs typeface="Calibri (MS)"/>
                  <a:sym typeface="Calibri (MS)"/>
                </a:rPr>
                <a:t>El GBM superó claramente a la Regresión Logística con los mismos datos → hay interacciones que un modelo lineal no representa.</a:t>
              </a:r>
            </a:p>
          </p:txBody>
        </p:sp>
      </p:grpSp>
      <p:grpSp>
        <p:nvGrpSpPr>
          <p:cNvPr name="Group 18" id="18"/>
          <p:cNvGrpSpPr/>
          <p:nvPr/>
        </p:nvGrpSpPr>
        <p:grpSpPr>
          <a:xfrm rot="0">
            <a:off x="813435" y="4077843"/>
            <a:ext cx="16615410" cy="1363218"/>
            <a:chOff x="0" y="0"/>
            <a:chExt cx="22153880" cy="1817624"/>
          </a:xfrm>
        </p:grpSpPr>
        <p:sp>
          <p:nvSpPr>
            <p:cNvPr name="Freeform 19" id="19"/>
            <p:cNvSpPr/>
            <p:nvPr/>
          </p:nvSpPr>
          <p:spPr>
            <a:xfrm flipH="false" flipV="false" rot="0">
              <a:off x="0" y="0"/>
              <a:ext cx="22153880" cy="1817624"/>
            </a:xfrm>
            <a:custGeom>
              <a:avLst/>
              <a:gdLst/>
              <a:ahLst/>
              <a:cxnLst/>
              <a:rect r="r" b="b" t="t" l="l"/>
              <a:pathLst>
                <a:path h="1817624" w="22153880">
                  <a:moveTo>
                    <a:pt x="0" y="148336"/>
                  </a:moveTo>
                  <a:cubicBezTo>
                    <a:pt x="0" y="66421"/>
                    <a:pt x="66421" y="0"/>
                    <a:pt x="148336" y="0"/>
                  </a:cubicBezTo>
                  <a:lnTo>
                    <a:pt x="22005544" y="0"/>
                  </a:lnTo>
                  <a:cubicBezTo>
                    <a:pt x="22087458" y="0"/>
                    <a:pt x="22153880" y="66421"/>
                    <a:pt x="22153880" y="148336"/>
                  </a:cubicBezTo>
                  <a:lnTo>
                    <a:pt x="22153880" y="1669288"/>
                  </a:lnTo>
                  <a:cubicBezTo>
                    <a:pt x="22153880" y="1751203"/>
                    <a:pt x="22087458" y="1817624"/>
                    <a:pt x="22005544" y="1817624"/>
                  </a:cubicBezTo>
                  <a:lnTo>
                    <a:pt x="148336" y="1817624"/>
                  </a:lnTo>
                  <a:cubicBezTo>
                    <a:pt x="66421" y="1817624"/>
                    <a:pt x="0" y="1751203"/>
                    <a:pt x="0" y="1669288"/>
                  </a:cubicBezTo>
                  <a:close/>
                </a:path>
              </a:pathLst>
            </a:custGeom>
            <a:solidFill>
              <a:srgbClr val="FFFFFF"/>
            </a:solidFill>
            <a:ln w="19050" cap="sq">
              <a:solidFill>
                <a:srgbClr val="E3E6F0"/>
              </a:solidFill>
              <a:prstDash val="solid"/>
              <a:miter/>
            </a:ln>
          </p:spPr>
        </p:sp>
      </p:grpSp>
      <p:grpSp>
        <p:nvGrpSpPr>
          <p:cNvPr name="Group 20" id="20"/>
          <p:cNvGrpSpPr/>
          <p:nvPr/>
        </p:nvGrpSpPr>
        <p:grpSpPr>
          <a:xfrm rot="0">
            <a:off x="822960" y="4087368"/>
            <a:ext cx="123444" cy="1344168"/>
            <a:chOff x="0" y="0"/>
            <a:chExt cx="164592" cy="1792224"/>
          </a:xfrm>
        </p:grpSpPr>
        <p:sp>
          <p:nvSpPr>
            <p:cNvPr name="Freeform 21" id="21"/>
            <p:cNvSpPr/>
            <p:nvPr/>
          </p:nvSpPr>
          <p:spPr>
            <a:xfrm flipH="false" flipV="false" rot="0">
              <a:off x="0" y="0"/>
              <a:ext cx="164592" cy="1792224"/>
            </a:xfrm>
            <a:custGeom>
              <a:avLst/>
              <a:gdLst/>
              <a:ahLst/>
              <a:cxnLst/>
              <a:rect r="r" b="b" t="t" l="l"/>
              <a:pathLst>
                <a:path h="1792224" w="164592">
                  <a:moveTo>
                    <a:pt x="0" y="27432"/>
                  </a:moveTo>
                  <a:cubicBezTo>
                    <a:pt x="0" y="12319"/>
                    <a:pt x="12319" y="0"/>
                    <a:pt x="27432" y="0"/>
                  </a:cubicBezTo>
                  <a:lnTo>
                    <a:pt x="137160" y="0"/>
                  </a:lnTo>
                  <a:cubicBezTo>
                    <a:pt x="152273" y="0"/>
                    <a:pt x="164592" y="12319"/>
                    <a:pt x="164592" y="27432"/>
                  </a:cubicBezTo>
                  <a:lnTo>
                    <a:pt x="164592" y="1764792"/>
                  </a:lnTo>
                  <a:cubicBezTo>
                    <a:pt x="164592" y="1779905"/>
                    <a:pt x="152273" y="1792224"/>
                    <a:pt x="137160" y="1792224"/>
                  </a:cubicBezTo>
                  <a:lnTo>
                    <a:pt x="27432" y="1792224"/>
                  </a:lnTo>
                  <a:cubicBezTo>
                    <a:pt x="12319" y="1792224"/>
                    <a:pt x="0" y="1779905"/>
                    <a:pt x="0" y="1764792"/>
                  </a:cubicBezTo>
                  <a:close/>
                </a:path>
              </a:pathLst>
            </a:custGeom>
            <a:solidFill>
              <a:srgbClr val="00D1B2"/>
            </a:solidFill>
          </p:spPr>
        </p:sp>
      </p:grpSp>
      <p:grpSp>
        <p:nvGrpSpPr>
          <p:cNvPr name="Group 22" id="22"/>
          <p:cNvGrpSpPr/>
          <p:nvPr/>
        </p:nvGrpSpPr>
        <p:grpSpPr>
          <a:xfrm rot="0">
            <a:off x="1440180" y="4197096"/>
            <a:ext cx="4937760" cy="1124712"/>
            <a:chOff x="0" y="0"/>
            <a:chExt cx="6583680" cy="1499616"/>
          </a:xfrm>
        </p:grpSpPr>
        <p:sp>
          <p:nvSpPr>
            <p:cNvPr name="Freeform 23" id="23"/>
            <p:cNvSpPr/>
            <p:nvPr/>
          </p:nvSpPr>
          <p:spPr>
            <a:xfrm flipH="false" flipV="false" rot="0">
              <a:off x="0" y="0"/>
              <a:ext cx="6583680" cy="1499616"/>
            </a:xfrm>
            <a:custGeom>
              <a:avLst/>
              <a:gdLst/>
              <a:ahLst/>
              <a:cxnLst/>
              <a:rect r="r" b="b" t="t" l="l"/>
              <a:pathLst>
                <a:path h="1499616" w="6583680">
                  <a:moveTo>
                    <a:pt x="0" y="0"/>
                  </a:moveTo>
                  <a:lnTo>
                    <a:pt x="6583680" y="0"/>
                  </a:lnTo>
                  <a:lnTo>
                    <a:pt x="6583680" y="1499616"/>
                  </a:lnTo>
                  <a:lnTo>
                    <a:pt x="0" y="1499616"/>
                  </a:lnTo>
                  <a:close/>
                </a:path>
              </a:pathLst>
            </a:custGeom>
            <a:blipFill>
              <a:blip r:embed="rId2">
                <a:alphaModFix amt="0"/>
              </a:blip>
              <a:stretch>
                <a:fillRect l="0" t="-35544" r="0" b="-35544"/>
              </a:stretch>
            </a:blipFill>
          </p:spPr>
        </p:sp>
        <p:sp>
          <p:nvSpPr>
            <p:cNvPr name="TextBox 24" id="24"/>
            <p:cNvSpPr txBox="true"/>
            <p:nvPr/>
          </p:nvSpPr>
          <p:spPr>
            <a:xfrm>
              <a:off x="0" y="-9525"/>
              <a:ext cx="6583680" cy="1509141"/>
            </a:xfrm>
            <a:prstGeom prst="rect">
              <a:avLst/>
            </a:prstGeom>
          </p:spPr>
          <p:txBody>
            <a:bodyPr anchor="ctr" rtlCol="false" tIns="0" lIns="0" bIns="0" rIns="0"/>
            <a:lstStyle/>
            <a:p>
              <a:pPr algn="l">
                <a:lnSpc>
                  <a:spcPts val="2430"/>
                </a:lnSpc>
              </a:pPr>
              <a:r>
                <a:rPr lang="en-US" sz="2025" b="true">
                  <a:solidFill>
                    <a:srgbClr val="0E1220"/>
                  </a:solidFill>
                  <a:latin typeface="Cambria Bold"/>
                  <a:ea typeface="Cambria Bold"/>
                  <a:cs typeface="Cambria Bold"/>
                  <a:sym typeface="Cambria Bold"/>
                </a:rPr>
                <a:t>BatchNorm + Dropout</a:t>
              </a:r>
            </a:p>
          </p:txBody>
        </p:sp>
      </p:grpSp>
      <p:grpSp>
        <p:nvGrpSpPr>
          <p:cNvPr name="Group 25" id="25"/>
          <p:cNvGrpSpPr/>
          <p:nvPr/>
        </p:nvGrpSpPr>
        <p:grpSpPr>
          <a:xfrm rot="0">
            <a:off x="6515100" y="4197096"/>
            <a:ext cx="10629900" cy="1124712"/>
            <a:chOff x="0" y="0"/>
            <a:chExt cx="14173200" cy="1499616"/>
          </a:xfrm>
        </p:grpSpPr>
        <p:sp>
          <p:nvSpPr>
            <p:cNvPr name="Freeform 26" id="26"/>
            <p:cNvSpPr/>
            <p:nvPr/>
          </p:nvSpPr>
          <p:spPr>
            <a:xfrm flipH="false" flipV="false" rot="0">
              <a:off x="0" y="0"/>
              <a:ext cx="14173200" cy="1499616"/>
            </a:xfrm>
            <a:custGeom>
              <a:avLst/>
              <a:gdLst/>
              <a:ahLst/>
              <a:cxnLst/>
              <a:rect r="r" b="b" t="t" l="l"/>
              <a:pathLst>
                <a:path h="1499616" w="14173200">
                  <a:moveTo>
                    <a:pt x="0" y="0"/>
                  </a:moveTo>
                  <a:lnTo>
                    <a:pt x="14173200" y="0"/>
                  </a:lnTo>
                  <a:lnTo>
                    <a:pt x="14173200" y="1499616"/>
                  </a:lnTo>
                  <a:lnTo>
                    <a:pt x="0" y="1499616"/>
                  </a:lnTo>
                  <a:close/>
                </a:path>
              </a:pathLst>
            </a:custGeom>
            <a:blipFill>
              <a:blip r:embed="rId2">
                <a:alphaModFix amt="0"/>
              </a:blip>
              <a:stretch>
                <a:fillRect l="0" t="-134157" r="0" b="-134157"/>
              </a:stretch>
            </a:blipFill>
          </p:spPr>
        </p:sp>
        <p:sp>
          <p:nvSpPr>
            <p:cNvPr name="TextBox 27" id="27"/>
            <p:cNvSpPr txBox="true"/>
            <p:nvPr/>
          </p:nvSpPr>
          <p:spPr>
            <a:xfrm>
              <a:off x="0" y="-66675"/>
              <a:ext cx="14173200" cy="1566291"/>
            </a:xfrm>
            <a:prstGeom prst="rect">
              <a:avLst/>
            </a:prstGeom>
          </p:spPr>
          <p:txBody>
            <a:bodyPr anchor="ctr" rtlCol="false" tIns="0" lIns="0" bIns="0" rIns="0"/>
            <a:lstStyle/>
            <a:p>
              <a:pPr algn="l">
                <a:lnSpc>
                  <a:spcPts val="2380"/>
                </a:lnSpc>
              </a:pPr>
              <a:r>
                <a:rPr lang="en-US" sz="1725">
                  <a:solidFill>
                    <a:srgbClr val="6B7280"/>
                  </a:solidFill>
                  <a:latin typeface="Calibri (MS)"/>
                  <a:ea typeface="Calibri (MS)"/>
                  <a:cs typeface="Calibri (MS)"/>
                  <a:sym typeface="Calibri (MS)"/>
                </a:rPr>
                <a:t>Features en escalas muy distintas (duraciones, bytes, conteos) y clases con pocas muestras: BatchNorm estabiliza, Dropout reduce sobreajuste.</a:t>
              </a:r>
            </a:p>
          </p:txBody>
        </p:sp>
      </p:grpSp>
      <p:grpSp>
        <p:nvGrpSpPr>
          <p:cNvPr name="Group 28" id="28"/>
          <p:cNvGrpSpPr/>
          <p:nvPr/>
        </p:nvGrpSpPr>
        <p:grpSpPr>
          <a:xfrm rot="0">
            <a:off x="813435" y="5627751"/>
            <a:ext cx="16615410" cy="1363218"/>
            <a:chOff x="0" y="0"/>
            <a:chExt cx="22153880" cy="1817624"/>
          </a:xfrm>
        </p:grpSpPr>
        <p:sp>
          <p:nvSpPr>
            <p:cNvPr name="Freeform 29" id="29"/>
            <p:cNvSpPr/>
            <p:nvPr/>
          </p:nvSpPr>
          <p:spPr>
            <a:xfrm flipH="false" flipV="false" rot="0">
              <a:off x="0" y="0"/>
              <a:ext cx="22153880" cy="1817624"/>
            </a:xfrm>
            <a:custGeom>
              <a:avLst/>
              <a:gdLst/>
              <a:ahLst/>
              <a:cxnLst/>
              <a:rect r="r" b="b" t="t" l="l"/>
              <a:pathLst>
                <a:path h="1817624" w="22153880">
                  <a:moveTo>
                    <a:pt x="0" y="148336"/>
                  </a:moveTo>
                  <a:cubicBezTo>
                    <a:pt x="0" y="66421"/>
                    <a:pt x="66421" y="0"/>
                    <a:pt x="148336" y="0"/>
                  </a:cubicBezTo>
                  <a:lnTo>
                    <a:pt x="22005544" y="0"/>
                  </a:lnTo>
                  <a:cubicBezTo>
                    <a:pt x="22087458" y="0"/>
                    <a:pt x="22153880" y="66421"/>
                    <a:pt x="22153880" y="148336"/>
                  </a:cubicBezTo>
                  <a:lnTo>
                    <a:pt x="22153880" y="1669288"/>
                  </a:lnTo>
                  <a:cubicBezTo>
                    <a:pt x="22153880" y="1751203"/>
                    <a:pt x="22087458" y="1817624"/>
                    <a:pt x="22005544" y="1817624"/>
                  </a:cubicBezTo>
                  <a:lnTo>
                    <a:pt x="148336" y="1817624"/>
                  </a:lnTo>
                  <a:cubicBezTo>
                    <a:pt x="66421" y="1817624"/>
                    <a:pt x="0" y="1751203"/>
                    <a:pt x="0" y="1669288"/>
                  </a:cubicBezTo>
                  <a:close/>
                </a:path>
              </a:pathLst>
            </a:custGeom>
            <a:solidFill>
              <a:srgbClr val="FFFFFF"/>
            </a:solidFill>
            <a:ln w="19050" cap="sq">
              <a:solidFill>
                <a:srgbClr val="E3E6F0"/>
              </a:solidFill>
              <a:prstDash val="solid"/>
              <a:miter/>
            </a:ln>
          </p:spPr>
        </p:sp>
      </p:grpSp>
      <p:grpSp>
        <p:nvGrpSpPr>
          <p:cNvPr name="Group 30" id="30"/>
          <p:cNvGrpSpPr/>
          <p:nvPr/>
        </p:nvGrpSpPr>
        <p:grpSpPr>
          <a:xfrm rot="0">
            <a:off x="822960" y="5637276"/>
            <a:ext cx="123444" cy="1344168"/>
            <a:chOff x="0" y="0"/>
            <a:chExt cx="164592" cy="1792224"/>
          </a:xfrm>
        </p:grpSpPr>
        <p:sp>
          <p:nvSpPr>
            <p:cNvPr name="Freeform 31" id="31"/>
            <p:cNvSpPr/>
            <p:nvPr/>
          </p:nvSpPr>
          <p:spPr>
            <a:xfrm flipH="false" flipV="false" rot="0">
              <a:off x="0" y="0"/>
              <a:ext cx="164592" cy="1792224"/>
            </a:xfrm>
            <a:custGeom>
              <a:avLst/>
              <a:gdLst/>
              <a:ahLst/>
              <a:cxnLst/>
              <a:rect r="r" b="b" t="t" l="l"/>
              <a:pathLst>
                <a:path h="1792224" w="164592">
                  <a:moveTo>
                    <a:pt x="0" y="27432"/>
                  </a:moveTo>
                  <a:cubicBezTo>
                    <a:pt x="0" y="12319"/>
                    <a:pt x="12319" y="0"/>
                    <a:pt x="27432" y="0"/>
                  </a:cubicBezTo>
                  <a:lnTo>
                    <a:pt x="137160" y="0"/>
                  </a:lnTo>
                  <a:cubicBezTo>
                    <a:pt x="152273" y="0"/>
                    <a:pt x="164592" y="12319"/>
                    <a:pt x="164592" y="27432"/>
                  </a:cubicBezTo>
                  <a:lnTo>
                    <a:pt x="164592" y="1764792"/>
                  </a:lnTo>
                  <a:cubicBezTo>
                    <a:pt x="164592" y="1779905"/>
                    <a:pt x="152273" y="1792224"/>
                    <a:pt x="137160" y="1792224"/>
                  </a:cubicBezTo>
                  <a:lnTo>
                    <a:pt x="27432" y="1792224"/>
                  </a:lnTo>
                  <a:cubicBezTo>
                    <a:pt x="12319" y="1792224"/>
                    <a:pt x="0" y="1779905"/>
                    <a:pt x="0" y="1764792"/>
                  </a:cubicBezTo>
                  <a:close/>
                </a:path>
              </a:pathLst>
            </a:custGeom>
            <a:solidFill>
              <a:srgbClr val="00D1B2"/>
            </a:solidFill>
          </p:spPr>
        </p:sp>
      </p:grpSp>
      <p:grpSp>
        <p:nvGrpSpPr>
          <p:cNvPr name="Group 32" id="32"/>
          <p:cNvGrpSpPr/>
          <p:nvPr/>
        </p:nvGrpSpPr>
        <p:grpSpPr>
          <a:xfrm rot="0">
            <a:off x="1440180" y="5747004"/>
            <a:ext cx="4937760" cy="1124712"/>
            <a:chOff x="0" y="0"/>
            <a:chExt cx="6583680" cy="1499616"/>
          </a:xfrm>
        </p:grpSpPr>
        <p:sp>
          <p:nvSpPr>
            <p:cNvPr name="Freeform 33" id="33"/>
            <p:cNvSpPr/>
            <p:nvPr/>
          </p:nvSpPr>
          <p:spPr>
            <a:xfrm flipH="false" flipV="false" rot="0">
              <a:off x="0" y="0"/>
              <a:ext cx="6583680" cy="1499616"/>
            </a:xfrm>
            <a:custGeom>
              <a:avLst/>
              <a:gdLst/>
              <a:ahLst/>
              <a:cxnLst/>
              <a:rect r="r" b="b" t="t" l="l"/>
              <a:pathLst>
                <a:path h="1499616" w="6583680">
                  <a:moveTo>
                    <a:pt x="0" y="0"/>
                  </a:moveTo>
                  <a:lnTo>
                    <a:pt x="6583680" y="0"/>
                  </a:lnTo>
                  <a:lnTo>
                    <a:pt x="6583680" y="1499616"/>
                  </a:lnTo>
                  <a:lnTo>
                    <a:pt x="0" y="1499616"/>
                  </a:lnTo>
                  <a:close/>
                </a:path>
              </a:pathLst>
            </a:custGeom>
            <a:blipFill>
              <a:blip r:embed="rId2">
                <a:alphaModFix amt="0"/>
              </a:blip>
              <a:stretch>
                <a:fillRect l="0" t="-35544" r="0" b="-35544"/>
              </a:stretch>
            </a:blipFill>
          </p:spPr>
        </p:sp>
        <p:sp>
          <p:nvSpPr>
            <p:cNvPr name="TextBox 34" id="34"/>
            <p:cNvSpPr txBox="true"/>
            <p:nvPr/>
          </p:nvSpPr>
          <p:spPr>
            <a:xfrm>
              <a:off x="0" y="-9525"/>
              <a:ext cx="6583680" cy="1509141"/>
            </a:xfrm>
            <a:prstGeom prst="rect">
              <a:avLst/>
            </a:prstGeom>
          </p:spPr>
          <p:txBody>
            <a:bodyPr anchor="ctr" rtlCol="false" tIns="0" lIns="0" bIns="0" rIns="0"/>
            <a:lstStyle/>
            <a:p>
              <a:pPr algn="l">
                <a:lnSpc>
                  <a:spcPts val="2430"/>
                </a:lnSpc>
              </a:pPr>
              <a:r>
                <a:rPr lang="en-US" sz="2025" b="true">
                  <a:solidFill>
                    <a:srgbClr val="0E1220"/>
                  </a:solidFill>
                  <a:latin typeface="Cambria Bold"/>
                  <a:ea typeface="Cambria Bold"/>
                  <a:cs typeface="Cambria Bold"/>
                  <a:sym typeface="Cambria Bold"/>
                </a:rPr>
                <a:t>Loss ponderada por clase</a:t>
              </a:r>
            </a:p>
          </p:txBody>
        </p:sp>
      </p:grpSp>
      <p:grpSp>
        <p:nvGrpSpPr>
          <p:cNvPr name="Group 35" id="35"/>
          <p:cNvGrpSpPr/>
          <p:nvPr/>
        </p:nvGrpSpPr>
        <p:grpSpPr>
          <a:xfrm rot="0">
            <a:off x="6515100" y="5747004"/>
            <a:ext cx="10629900" cy="1124712"/>
            <a:chOff x="0" y="0"/>
            <a:chExt cx="14173200" cy="1499616"/>
          </a:xfrm>
        </p:grpSpPr>
        <p:sp>
          <p:nvSpPr>
            <p:cNvPr name="Freeform 36" id="36"/>
            <p:cNvSpPr/>
            <p:nvPr/>
          </p:nvSpPr>
          <p:spPr>
            <a:xfrm flipH="false" flipV="false" rot="0">
              <a:off x="0" y="0"/>
              <a:ext cx="14173200" cy="1499616"/>
            </a:xfrm>
            <a:custGeom>
              <a:avLst/>
              <a:gdLst/>
              <a:ahLst/>
              <a:cxnLst/>
              <a:rect r="r" b="b" t="t" l="l"/>
              <a:pathLst>
                <a:path h="1499616" w="14173200">
                  <a:moveTo>
                    <a:pt x="0" y="0"/>
                  </a:moveTo>
                  <a:lnTo>
                    <a:pt x="14173200" y="0"/>
                  </a:lnTo>
                  <a:lnTo>
                    <a:pt x="14173200" y="1499616"/>
                  </a:lnTo>
                  <a:lnTo>
                    <a:pt x="0" y="1499616"/>
                  </a:lnTo>
                  <a:close/>
                </a:path>
              </a:pathLst>
            </a:custGeom>
            <a:blipFill>
              <a:blip r:embed="rId2">
                <a:alphaModFix amt="0"/>
              </a:blip>
              <a:stretch>
                <a:fillRect l="0" t="-134157" r="0" b="-134157"/>
              </a:stretch>
            </a:blipFill>
          </p:spPr>
        </p:sp>
        <p:sp>
          <p:nvSpPr>
            <p:cNvPr name="TextBox 37" id="37"/>
            <p:cNvSpPr txBox="true"/>
            <p:nvPr/>
          </p:nvSpPr>
          <p:spPr>
            <a:xfrm>
              <a:off x="0" y="-66675"/>
              <a:ext cx="14173200" cy="1566291"/>
            </a:xfrm>
            <a:prstGeom prst="rect">
              <a:avLst/>
            </a:prstGeom>
          </p:spPr>
          <p:txBody>
            <a:bodyPr anchor="ctr" rtlCol="false" tIns="0" lIns="0" bIns="0" rIns="0"/>
            <a:lstStyle/>
            <a:p>
              <a:pPr algn="l">
                <a:lnSpc>
                  <a:spcPts val="2380"/>
                </a:lnSpc>
              </a:pPr>
              <a:r>
                <a:rPr lang="en-US" sz="1725">
                  <a:solidFill>
                    <a:srgbClr val="6B7280"/>
                  </a:solidFill>
                  <a:latin typeface="Calibri (MS)"/>
                  <a:ea typeface="Calibri (MS)"/>
                  <a:cs typeface="Calibri (MS)"/>
                  <a:sym typeface="Calibri (MS)"/>
                </a:rPr>
                <a:t>Mismo problema de desbalance extremo que en el baseline (class_weight vía compute_class_weight).</a:t>
              </a:r>
            </a:p>
          </p:txBody>
        </p:sp>
      </p:grpSp>
      <p:grpSp>
        <p:nvGrpSpPr>
          <p:cNvPr name="Group 38" id="38"/>
          <p:cNvGrpSpPr/>
          <p:nvPr/>
        </p:nvGrpSpPr>
        <p:grpSpPr>
          <a:xfrm rot="0">
            <a:off x="813435" y="7177659"/>
            <a:ext cx="16615410" cy="1363218"/>
            <a:chOff x="0" y="0"/>
            <a:chExt cx="22153880" cy="1817624"/>
          </a:xfrm>
        </p:grpSpPr>
        <p:sp>
          <p:nvSpPr>
            <p:cNvPr name="Freeform 39" id="39"/>
            <p:cNvSpPr/>
            <p:nvPr/>
          </p:nvSpPr>
          <p:spPr>
            <a:xfrm flipH="false" flipV="false" rot="0">
              <a:off x="0" y="0"/>
              <a:ext cx="22153880" cy="1817624"/>
            </a:xfrm>
            <a:custGeom>
              <a:avLst/>
              <a:gdLst/>
              <a:ahLst/>
              <a:cxnLst/>
              <a:rect r="r" b="b" t="t" l="l"/>
              <a:pathLst>
                <a:path h="1817624" w="22153880">
                  <a:moveTo>
                    <a:pt x="0" y="148336"/>
                  </a:moveTo>
                  <a:cubicBezTo>
                    <a:pt x="0" y="66421"/>
                    <a:pt x="66421" y="0"/>
                    <a:pt x="148336" y="0"/>
                  </a:cubicBezTo>
                  <a:lnTo>
                    <a:pt x="22005544" y="0"/>
                  </a:lnTo>
                  <a:cubicBezTo>
                    <a:pt x="22087458" y="0"/>
                    <a:pt x="22153880" y="66421"/>
                    <a:pt x="22153880" y="148336"/>
                  </a:cubicBezTo>
                  <a:lnTo>
                    <a:pt x="22153880" y="1669288"/>
                  </a:lnTo>
                  <a:cubicBezTo>
                    <a:pt x="22153880" y="1751203"/>
                    <a:pt x="22087458" y="1817624"/>
                    <a:pt x="22005544" y="1817624"/>
                  </a:cubicBezTo>
                  <a:lnTo>
                    <a:pt x="148336" y="1817624"/>
                  </a:lnTo>
                  <a:cubicBezTo>
                    <a:pt x="66421" y="1817624"/>
                    <a:pt x="0" y="1751203"/>
                    <a:pt x="0" y="1669288"/>
                  </a:cubicBezTo>
                  <a:close/>
                </a:path>
              </a:pathLst>
            </a:custGeom>
            <a:solidFill>
              <a:srgbClr val="FFFFFF"/>
            </a:solidFill>
            <a:ln w="19050" cap="sq">
              <a:solidFill>
                <a:srgbClr val="E3E6F0"/>
              </a:solidFill>
              <a:prstDash val="solid"/>
              <a:miter/>
            </a:ln>
          </p:spPr>
        </p:sp>
      </p:grpSp>
      <p:grpSp>
        <p:nvGrpSpPr>
          <p:cNvPr name="Group 40" id="40"/>
          <p:cNvGrpSpPr/>
          <p:nvPr/>
        </p:nvGrpSpPr>
        <p:grpSpPr>
          <a:xfrm rot="0">
            <a:off x="822960" y="7187184"/>
            <a:ext cx="123444" cy="1344168"/>
            <a:chOff x="0" y="0"/>
            <a:chExt cx="164592" cy="1792224"/>
          </a:xfrm>
        </p:grpSpPr>
        <p:sp>
          <p:nvSpPr>
            <p:cNvPr name="Freeform 41" id="41"/>
            <p:cNvSpPr/>
            <p:nvPr/>
          </p:nvSpPr>
          <p:spPr>
            <a:xfrm flipH="false" flipV="false" rot="0">
              <a:off x="0" y="0"/>
              <a:ext cx="164592" cy="1792224"/>
            </a:xfrm>
            <a:custGeom>
              <a:avLst/>
              <a:gdLst/>
              <a:ahLst/>
              <a:cxnLst/>
              <a:rect r="r" b="b" t="t" l="l"/>
              <a:pathLst>
                <a:path h="1792224" w="164592">
                  <a:moveTo>
                    <a:pt x="0" y="27432"/>
                  </a:moveTo>
                  <a:cubicBezTo>
                    <a:pt x="0" y="12319"/>
                    <a:pt x="12319" y="0"/>
                    <a:pt x="27432" y="0"/>
                  </a:cubicBezTo>
                  <a:lnTo>
                    <a:pt x="137160" y="0"/>
                  </a:lnTo>
                  <a:cubicBezTo>
                    <a:pt x="152273" y="0"/>
                    <a:pt x="164592" y="12319"/>
                    <a:pt x="164592" y="27432"/>
                  </a:cubicBezTo>
                  <a:lnTo>
                    <a:pt x="164592" y="1764792"/>
                  </a:lnTo>
                  <a:cubicBezTo>
                    <a:pt x="164592" y="1779905"/>
                    <a:pt x="152273" y="1792224"/>
                    <a:pt x="137160" y="1792224"/>
                  </a:cubicBezTo>
                  <a:lnTo>
                    <a:pt x="27432" y="1792224"/>
                  </a:lnTo>
                  <a:cubicBezTo>
                    <a:pt x="12319" y="1792224"/>
                    <a:pt x="0" y="1779905"/>
                    <a:pt x="0" y="1764792"/>
                  </a:cubicBezTo>
                  <a:close/>
                </a:path>
              </a:pathLst>
            </a:custGeom>
            <a:solidFill>
              <a:srgbClr val="00D1B2"/>
            </a:solidFill>
          </p:spPr>
        </p:sp>
      </p:grpSp>
      <p:grpSp>
        <p:nvGrpSpPr>
          <p:cNvPr name="Group 42" id="42"/>
          <p:cNvGrpSpPr/>
          <p:nvPr/>
        </p:nvGrpSpPr>
        <p:grpSpPr>
          <a:xfrm rot="0">
            <a:off x="1440180" y="7296912"/>
            <a:ext cx="4937760" cy="1124712"/>
            <a:chOff x="0" y="0"/>
            <a:chExt cx="6583680" cy="1499616"/>
          </a:xfrm>
        </p:grpSpPr>
        <p:sp>
          <p:nvSpPr>
            <p:cNvPr name="Freeform 43" id="43"/>
            <p:cNvSpPr/>
            <p:nvPr/>
          </p:nvSpPr>
          <p:spPr>
            <a:xfrm flipH="false" flipV="false" rot="0">
              <a:off x="0" y="0"/>
              <a:ext cx="6583680" cy="1499616"/>
            </a:xfrm>
            <a:custGeom>
              <a:avLst/>
              <a:gdLst/>
              <a:ahLst/>
              <a:cxnLst/>
              <a:rect r="r" b="b" t="t" l="l"/>
              <a:pathLst>
                <a:path h="1499616" w="6583680">
                  <a:moveTo>
                    <a:pt x="0" y="0"/>
                  </a:moveTo>
                  <a:lnTo>
                    <a:pt x="6583680" y="0"/>
                  </a:lnTo>
                  <a:lnTo>
                    <a:pt x="6583680" y="1499616"/>
                  </a:lnTo>
                  <a:lnTo>
                    <a:pt x="0" y="1499616"/>
                  </a:lnTo>
                  <a:close/>
                </a:path>
              </a:pathLst>
            </a:custGeom>
            <a:blipFill>
              <a:blip r:embed="rId2">
                <a:alphaModFix amt="0"/>
              </a:blip>
              <a:stretch>
                <a:fillRect l="0" t="-35544" r="0" b="-35544"/>
              </a:stretch>
            </a:blipFill>
          </p:spPr>
        </p:sp>
        <p:sp>
          <p:nvSpPr>
            <p:cNvPr name="TextBox 44" id="44"/>
            <p:cNvSpPr txBox="true"/>
            <p:nvPr/>
          </p:nvSpPr>
          <p:spPr>
            <a:xfrm>
              <a:off x="0" y="-9525"/>
              <a:ext cx="6583680" cy="1509141"/>
            </a:xfrm>
            <a:prstGeom prst="rect">
              <a:avLst/>
            </a:prstGeom>
          </p:spPr>
          <p:txBody>
            <a:bodyPr anchor="ctr" rtlCol="false" tIns="0" lIns="0" bIns="0" rIns="0"/>
            <a:lstStyle/>
            <a:p>
              <a:pPr algn="l">
                <a:lnSpc>
                  <a:spcPts val="2430"/>
                </a:lnSpc>
              </a:pPr>
              <a:r>
                <a:rPr lang="en-US" sz="2025" b="true">
                  <a:solidFill>
                    <a:srgbClr val="0E1220"/>
                  </a:solidFill>
                  <a:latin typeface="Cambria Bold"/>
                  <a:ea typeface="Cambria Bold"/>
                  <a:cs typeface="Cambria Bold"/>
                  <a:sym typeface="Cambria Bold"/>
                </a:rPr>
                <a:t>Early stopping sobre macro-F1 de validación</a:t>
              </a:r>
            </a:p>
          </p:txBody>
        </p:sp>
      </p:grpSp>
      <p:grpSp>
        <p:nvGrpSpPr>
          <p:cNvPr name="Group 45" id="45"/>
          <p:cNvGrpSpPr/>
          <p:nvPr/>
        </p:nvGrpSpPr>
        <p:grpSpPr>
          <a:xfrm rot="0">
            <a:off x="6515100" y="7296912"/>
            <a:ext cx="10629900" cy="1124712"/>
            <a:chOff x="0" y="0"/>
            <a:chExt cx="14173200" cy="1499616"/>
          </a:xfrm>
        </p:grpSpPr>
        <p:sp>
          <p:nvSpPr>
            <p:cNvPr name="Freeform 46" id="46"/>
            <p:cNvSpPr/>
            <p:nvPr/>
          </p:nvSpPr>
          <p:spPr>
            <a:xfrm flipH="false" flipV="false" rot="0">
              <a:off x="0" y="0"/>
              <a:ext cx="14173200" cy="1499616"/>
            </a:xfrm>
            <a:custGeom>
              <a:avLst/>
              <a:gdLst/>
              <a:ahLst/>
              <a:cxnLst/>
              <a:rect r="r" b="b" t="t" l="l"/>
              <a:pathLst>
                <a:path h="1499616" w="14173200">
                  <a:moveTo>
                    <a:pt x="0" y="0"/>
                  </a:moveTo>
                  <a:lnTo>
                    <a:pt x="14173200" y="0"/>
                  </a:lnTo>
                  <a:lnTo>
                    <a:pt x="14173200" y="1499616"/>
                  </a:lnTo>
                  <a:lnTo>
                    <a:pt x="0" y="1499616"/>
                  </a:lnTo>
                  <a:close/>
                </a:path>
              </a:pathLst>
            </a:custGeom>
            <a:blipFill>
              <a:blip r:embed="rId2">
                <a:alphaModFix amt="0"/>
              </a:blip>
              <a:stretch>
                <a:fillRect l="0" t="-134157" r="0" b="-134157"/>
              </a:stretch>
            </a:blipFill>
          </p:spPr>
        </p:sp>
        <p:sp>
          <p:nvSpPr>
            <p:cNvPr name="TextBox 47" id="47"/>
            <p:cNvSpPr txBox="true"/>
            <p:nvPr/>
          </p:nvSpPr>
          <p:spPr>
            <a:xfrm>
              <a:off x="0" y="-66675"/>
              <a:ext cx="14173200" cy="1566291"/>
            </a:xfrm>
            <a:prstGeom prst="rect">
              <a:avLst/>
            </a:prstGeom>
          </p:spPr>
          <p:txBody>
            <a:bodyPr anchor="ctr" rtlCol="false" tIns="0" lIns="0" bIns="0" rIns="0"/>
            <a:lstStyle/>
            <a:p>
              <a:pPr algn="l">
                <a:lnSpc>
                  <a:spcPts val="2380"/>
                </a:lnSpc>
              </a:pPr>
              <a:r>
                <a:rPr lang="en-US" sz="1725">
                  <a:solidFill>
                    <a:srgbClr val="6B7280"/>
                  </a:solidFill>
                  <a:latin typeface="Calibri (MS)"/>
                  <a:ea typeface="Calibri (MS)"/>
                  <a:cs typeface="Calibri (MS)"/>
                  <a:sym typeface="Calibri (MS)"/>
                </a:rPr>
                <a:t>Evita sobreajuste y acota el costo de entrenamiento, relevante para la comparación de costos en la Parte 2.</a:t>
              </a:r>
            </a:p>
          </p:txBody>
        </p:sp>
      </p:grpSp>
      <p:grpSp>
        <p:nvGrpSpPr>
          <p:cNvPr name="Group 48" id="48"/>
          <p:cNvGrpSpPr/>
          <p:nvPr/>
        </p:nvGrpSpPr>
        <p:grpSpPr>
          <a:xfrm rot="0">
            <a:off x="17053103" y="9601200"/>
            <a:ext cx="822960" cy="411480"/>
            <a:chOff x="0" y="0"/>
            <a:chExt cx="1097280" cy="548640"/>
          </a:xfrm>
        </p:grpSpPr>
        <p:sp>
          <p:nvSpPr>
            <p:cNvPr name="Freeform 49" id="49"/>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50" id="50"/>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08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1 · 1.4 ENTRENAMIENTO Y CONVERGENCIA</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Curvas de convergencia de la DNN manual</a:t>
              </a:r>
            </a:p>
          </p:txBody>
        </p:sp>
      </p:grpSp>
      <p:grpSp>
        <p:nvGrpSpPr>
          <p:cNvPr name="Group 8" id="8"/>
          <p:cNvGrpSpPr/>
          <p:nvPr/>
        </p:nvGrpSpPr>
        <p:grpSpPr>
          <a:xfrm rot="0">
            <a:off x="11727180" y="2468880"/>
            <a:ext cx="5760720" cy="5280660"/>
            <a:chOff x="0" y="0"/>
            <a:chExt cx="7680960" cy="7040880"/>
          </a:xfrm>
        </p:grpSpPr>
        <p:sp>
          <p:nvSpPr>
            <p:cNvPr name="Freeform 9" id="9"/>
            <p:cNvSpPr/>
            <p:nvPr/>
          </p:nvSpPr>
          <p:spPr>
            <a:xfrm flipH="false" flipV="false" rot="0">
              <a:off x="0" y="0"/>
              <a:ext cx="7680960" cy="7040880"/>
            </a:xfrm>
            <a:custGeom>
              <a:avLst/>
              <a:gdLst/>
              <a:ahLst/>
              <a:cxnLst/>
              <a:rect r="r" b="b" t="t" l="l"/>
              <a:pathLst>
                <a:path h="7040880" w="7680960">
                  <a:moveTo>
                    <a:pt x="0" y="182880"/>
                  </a:moveTo>
                  <a:cubicBezTo>
                    <a:pt x="0" y="81915"/>
                    <a:pt x="81915" y="0"/>
                    <a:pt x="182880" y="0"/>
                  </a:cubicBezTo>
                  <a:lnTo>
                    <a:pt x="7498080" y="0"/>
                  </a:lnTo>
                  <a:cubicBezTo>
                    <a:pt x="7599045" y="0"/>
                    <a:pt x="7680960" y="81915"/>
                    <a:pt x="7680960" y="182880"/>
                  </a:cubicBezTo>
                  <a:lnTo>
                    <a:pt x="7680960" y="6858000"/>
                  </a:lnTo>
                  <a:cubicBezTo>
                    <a:pt x="7680960" y="6958965"/>
                    <a:pt x="7599045" y="7040880"/>
                    <a:pt x="7498080" y="7040880"/>
                  </a:cubicBezTo>
                  <a:lnTo>
                    <a:pt x="182880" y="7040880"/>
                  </a:lnTo>
                  <a:cubicBezTo>
                    <a:pt x="81915" y="7040880"/>
                    <a:pt x="0" y="6958965"/>
                    <a:pt x="0" y="6858000"/>
                  </a:cubicBezTo>
                  <a:close/>
                </a:path>
              </a:pathLst>
            </a:custGeom>
            <a:solidFill>
              <a:srgbClr val="10162B"/>
            </a:solidFill>
          </p:spPr>
        </p:sp>
      </p:grpSp>
      <p:grpSp>
        <p:nvGrpSpPr>
          <p:cNvPr name="Group 10" id="10"/>
          <p:cNvGrpSpPr/>
          <p:nvPr/>
        </p:nvGrpSpPr>
        <p:grpSpPr>
          <a:xfrm rot="0">
            <a:off x="12138660" y="2743200"/>
            <a:ext cx="4937760" cy="411480"/>
            <a:chOff x="0" y="0"/>
            <a:chExt cx="6583680" cy="548640"/>
          </a:xfrm>
        </p:grpSpPr>
        <p:sp>
          <p:nvSpPr>
            <p:cNvPr name="Freeform 11" id="11"/>
            <p:cNvSpPr/>
            <p:nvPr/>
          </p:nvSpPr>
          <p:spPr>
            <a:xfrm flipH="false" flipV="false" rot="0">
              <a:off x="0" y="0"/>
              <a:ext cx="6583680" cy="548640"/>
            </a:xfrm>
            <a:custGeom>
              <a:avLst/>
              <a:gdLst/>
              <a:ahLst/>
              <a:cxnLst/>
              <a:rect r="r" b="b" t="t" l="l"/>
              <a:pathLst>
                <a:path h="548640" w="6583680">
                  <a:moveTo>
                    <a:pt x="0" y="0"/>
                  </a:moveTo>
                  <a:lnTo>
                    <a:pt x="6583680" y="0"/>
                  </a:lnTo>
                  <a:lnTo>
                    <a:pt x="6583680" y="548640"/>
                  </a:lnTo>
                  <a:lnTo>
                    <a:pt x="0" y="548640"/>
                  </a:lnTo>
                  <a:close/>
                </a:path>
              </a:pathLst>
            </a:custGeom>
            <a:blipFill>
              <a:blip r:embed="rId2">
                <a:alphaModFix amt="0"/>
              </a:blip>
              <a:stretch>
                <a:fillRect l="0" t="-183820" r="0" b="-183820"/>
              </a:stretch>
            </a:blipFill>
          </p:spPr>
        </p:sp>
        <p:sp>
          <p:nvSpPr>
            <p:cNvPr name="TextBox 12" id="12"/>
            <p:cNvSpPr txBox="true"/>
            <p:nvPr/>
          </p:nvSpPr>
          <p:spPr>
            <a:xfrm>
              <a:off x="0" y="-19050"/>
              <a:ext cx="6583680" cy="567690"/>
            </a:xfrm>
            <a:prstGeom prst="rect">
              <a:avLst/>
            </a:prstGeom>
          </p:spPr>
          <p:txBody>
            <a:bodyPr anchor="ctr" rtlCol="false" tIns="0" lIns="0" bIns="0" rIns="0"/>
            <a:lstStyle/>
            <a:p>
              <a:pPr algn="l">
                <a:lnSpc>
                  <a:spcPts val="1889"/>
                </a:lnSpc>
              </a:pPr>
              <a:r>
                <a:rPr lang="en-US" b="true" sz="1575" spc="224">
                  <a:solidFill>
                    <a:srgbClr val="00D1B2"/>
                  </a:solidFill>
                  <a:latin typeface="Calibri (MS) Bold"/>
                  <a:ea typeface="Calibri (MS) Bold"/>
                  <a:cs typeface="Calibri (MS) Bold"/>
                  <a:sym typeface="Calibri (MS) Bold"/>
                </a:rPr>
                <a:t>DNN MANUAL — TEST</a:t>
              </a:r>
            </a:p>
          </p:txBody>
        </p:sp>
      </p:grpSp>
      <p:grpSp>
        <p:nvGrpSpPr>
          <p:cNvPr name="Group 13" id="13"/>
          <p:cNvGrpSpPr/>
          <p:nvPr/>
        </p:nvGrpSpPr>
        <p:grpSpPr>
          <a:xfrm rot="0">
            <a:off x="12138660" y="3154680"/>
            <a:ext cx="3017520" cy="822960"/>
            <a:chOff x="0" y="0"/>
            <a:chExt cx="4023360" cy="1097280"/>
          </a:xfrm>
        </p:grpSpPr>
        <p:sp>
          <p:nvSpPr>
            <p:cNvPr name="Freeform 14" id="14"/>
            <p:cNvSpPr/>
            <p:nvPr/>
          </p:nvSpPr>
          <p:spPr>
            <a:xfrm flipH="false" flipV="false" rot="0">
              <a:off x="0" y="0"/>
              <a:ext cx="4023360" cy="1097280"/>
            </a:xfrm>
            <a:custGeom>
              <a:avLst/>
              <a:gdLst/>
              <a:ahLst/>
              <a:cxnLst/>
              <a:rect r="r" b="b" t="t" l="l"/>
              <a:pathLst>
                <a:path h="1097280" w="4023360">
                  <a:moveTo>
                    <a:pt x="0" y="0"/>
                  </a:moveTo>
                  <a:lnTo>
                    <a:pt x="4023360" y="0"/>
                  </a:lnTo>
                  <a:lnTo>
                    <a:pt x="4023360" y="1097280"/>
                  </a:lnTo>
                  <a:lnTo>
                    <a:pt x="0" y="1097280"/>
                  </a:lnTo>
                  <a:close/>
                </a:path>
              </a:pathLst>
            </a:custGeom>
            <a:blipFill>
              <a:blip r:embed="rId2">
                <a:alphaModFix amt="0"/>
              </a:blip>
              <a:stretch>
                <a:fillRect l="0" t="-21445" r="0" b="-21445"/>
              </a:stretch>
            </a:blipFill>
          </p:spPr>
        </p:sp>
        <p:sp>
          <p:nvSpPr>
            <p:cNvPr name="TextBox 15" id="15"/>
            <p:cNvSpPr txBox="true"/>
            <p:nvPr/>
          </p:nvSpPr>
          <p:spPr>
            <a:xfrm>
              <a:off x="0" y="-19050"/>
              <a:ext cx="4023360" cy="1116330"/>
            </a:xfrm>
            <a:prstGeom prst="rect">
              <a:avLst/>
            </a:prstGeom>
          </p:spPr>
          <p:txBody>
            <a:bodyPr anchor="ctr" rtlCol="false" tIns="0" lIns="0" bIns="0" rIns="0"/>
            <a:lstStyle/>
            <a:p>
              <a:pPr algn="l">
                <a:lnSpc>
                  <a:spcPts val="5400"/>
                </a:lnSpc>
              </a:pPr>
              <a:r>
                <a:rPr lang="en-US" sz="4500" b="true">
                  <a:solidFill>
                    <a:srgbClr val="FFFFFF"/>
                  </a:solidFill>
                  <a:latin typeface="Cambria Bold"/>
                  <a:ea typeface="Cambria Bold"/>
                  <a:cs typeface="Cambria Bold"/>
                  <a:sym typeface="Cambria Bold"/>
                </a:rPr>
                <a:t>0.604</a:t>
              </a:r>
            </a:p>
          </p:txBody>
        </p:sp>
      </p:grpSp>
      <p:grpSp>
        <p:nvGrpSpPr>
          <p:cNvPr name="Group 16" id="16"/>
          <p:cNvGrpSpPr/>
          <p:nvPr/>
        </p:nvGrpSpPr>
        <p:grpSpPr>
          <a:xfrm rot="0">
            <a:off x="12138660" y="3977640"/>
            <a:ext cx="3017520" cy="411480"/>
            <a:chOff x="0" y="0"/>
            <a:chExt cx="4023360" cy="548640"/>
          </a:xfrm>
        </p:grpSpPr>
        <p:sp>
          <p:nvSpPr>
            <p:cNvPr name="Freeform 17" id="17"/>
            <p:cNvSpPr/>
            <p:nvPr/>
          </p:nvSpPr>
          <p:spPr>
            <a:xfrm flipH="false" flipV="false" rot="0">
              <a:off x="0" y="0"/>
              <a:ext cx="4023360" cy="548640"/>
            </a:xfrm>
            <a:custGeom>
              <a:avLst/>
              <a:gdLst/>
              <a:ahLst/>
              <a:cxnLst/>
              <a:rect r="r" b="b" t="t" l="l"/>
              <a:pathLst>
                <a:path h="548640" w="4023360">
                  <a:moveTo>
                    <a:pt x="0" y="0"/>
                  </a:moveTo>
                  <a:lnTo>
                    <a:pt x="4023360" y="0"/>
                  </a:lnTo>
                  <a:lnTo>
                    <a:pt x="4023360" y="548640"/>
                  </a:lnTo>
                  <a:lnTo>
                    <a:pt x="0" y="548640"/>
                  </a:lnTo>
                  <a:close/>
                </a:path>
              </a:pathLst>
            </a:custGeom>
            <a:blipFill>
              <a:blip r:embed="rId2">
                <a:alphaModFix amt="0"/>
              </a:blip>
              <a:stretch>
                <a:fillRect l="0" t="-92890" r="0" b="-92890"/>
              </a:stretch>
            </a:blipFill>
          </p:spPr>
        </p:sp>
        <p:sp>
          <p:nvSpPr>
            <p:cNvPr name="TextBox 18" id="18"/>
            <p:cNvSpPr txBox="true"/>
            <p:nvPr/>
          </p:nvSpPr>
          <p:spPr>
            <a:xfrm>
              <a:off x="0" y="-19050"/>
              <a:ext cx="4023360" cy="567690"/>
            </a:xfrm>
            <a:prstGeom prst="rect">
              <a:avLst/>
            </a:prstGeom>
          </p:spPr>
          <p:txBody>
            <a:bodyPr anchor="ctr" rtlCol="false" tIns="0" lIns="0" bIns="0" rIns="0"/>
            <a:lstStyle/>
            <a:p>
              <a:pPr algn="l">
                <a:lnSpc>
                  <a:spcPts val="1889"/>
                </a:lnSpc>
              </a:pPr>
              <a:r>
                <a:rPr lang="en-US" sz="1575">
                  <a:solidFill>
                    <a:srgbClr val="B9C0E0"/>
                  </a:solidFill>
                  <a:latin typeface="Calibri (MS)"/>
                  <a:ea typeface="Calibri (MS)"/>
                  <a:cs typeface="Calibri (MS)"/>
                  <a:sym typeface="Calibri (MS)"/>
                </a:rPr>
                <a:t>macro-F1</a:t>
              </a:r>
            </a:p>
          </p:txBody>
        </p:sp>
      </p:grpSp>
      <p:grpSp>
        <p:nvGrpSpPr>
          <p:cNvPr name="Group 19" id="19"/>
          <p:cNvGrpSpPr/>
          <p:nvPr/>
        </p:nvGrpSpPr>
        <p:grpSpPr>
          <a:xfrm rot="0">
            <a:off x="12138660" y="4594860"/>
            <a:ext cx="2743200" cy="438912"/>
            <a:chOff x="0" y="0"/>
            <a:chExt cx="3657600" cy="585216"/>
          </a:xfrm>
        </p:grpSpPr>
        <p:sp>
          <p:nvSpPr>
            <p:cNvPr name="Freeform 20" id="20"/>
            <p:cNvSpPr/>
            <p:nvPr/>
          </p:nvSpPr>
          <p:spPr>
            <a:xfrm flipH="false" flipV="false" rot="0">
              <a:off x="0" y="0"/>
              <a:ext cx="3657600" cy="585216"/>
            </a:xfrm>
            <a:custGeom>
              <a:avLst/>
              <a:gdLst/>
              <a:ahLst/>
              <a:cxnLst/>
              <a:rect r="r" b="b" t="t" l="l"/>
              <a:pathLst>
                <a:path h="585216" w="3657600">
                  <a:moveTo>
                    <a:pt x="0" y="0"/>
                  </a:moveTo>
                  <a:lnTo>
                    <a:pt x="3657600" y="0"/>
                  </a:lnTo>
                  <a:lnTo>
                    <a:pt x="3657600" y="585216"/>
                  </a:lnTo>
                  <a:lnTo>
                    <a:pt x="0" y="585216"/>
                  </a:lnTo>
                  <a:close/>
                </a:path>
              </a:pathLst>
            </a:custGeom>
            <a:blipFill>
              <a:blip r:embed="rId2">
                <a:alphaModFix amt="0"/>
              </a:blip>
              <a:stretch>
                <a:fillRect l="0" t="-71781" r="0" b="-71781"/>
              </a:stretch>
            </a:blipFill>
          </p:spPr>
        </p:sp>
        <p:sp>
          <p:nvSpPr>
            <p:cNvPr name="TextBox 21" id="21"/>
            <p:cNvSpPr txBox="true"/>
            <p:nvPr/>
          </p:nvSpPr>
          <p:spPr>
            <a:xfrm>
              <a:off x="0" y="-19050"/>
              <a:ext cx="3657600" cy="604266"/>
            </a:xfrm>
            <a:prstGeom prst="rect">
              <a:avLst/>
            </a:prstGeom>
          </p:spPr>
          <p:txBody>
            <a:bodyPr anchor="ctr" rtlCol="false" tIns="0" lIns="0" bIns="0" rIns="0"/>
            <a:lstStyle/>
            <a:p>
              <a:pPr algn="l">
                <a:lnSpc>
                  <a:spcPts val="1889"/>
                </a:lnSpc>
              </a:pPr>
              <a:r>
                <a:rPr lang="en-US" sz="1575">
                  <a:solidFill>
                    <a:srgbClr val="8A93B8"/>
                  </a:solidFill>
                  <a:latin typeface="Calibri (MS)"/>
                  <a:ea typeface="Calibri (MS)"/>
                  <a:cs typeface="Calibri (MS)"/>
                  <a:sym typeface="Calibri (MS)"/>
                </a:rPr>
                <a:t>Parámetros</a:t>
              </a:r>
            </a:p>
          </p:txBody>
        </p:sp>
      </p:grpSp>
      <p:grpSp>
        <p:nvGrpSpPr>
          <p:cNvPr name="Group 22" id="22"/>
          <p:cNvGrpSpPr/>
          <p:nvPr/>
        </p:nvGrpSpPr>
        <p:grpSpPr>
          <a:xfrm rot="0">
            <a:off x="14744700" y="4594860"/>
            <a:ext cx="2331720" cy="438912"/>
            <a:chOff x="0" y="0"/>
            <a:chExt cx="3108960" cy="585216"/>
          </a:xfrm>
        </p:grpSpPr>
        <p:sp>
          <p:nvSpPr>
            <p:cNvPr name="Freeform 23" id="23"/>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2">
                <a:alphaModFix amt="0"/>
              </a:blip>
              <a:stretch>
                <a:fillRect l="0" t="-53514" r="0" b="-53514"/>
              </a:stretch>
            </a:blipFill>
          </p:spPr>
        </p:sp>
        <p:sp>
          <p:nvSpPr>
            <p:cNvPr name="TextBox 24" id="24"/>
            <p:cNvSpPr txBox="true"/>
            <p:nvPr/>
          </p:nvSpPr>
          <p:spPr>
            <a:xfrm>
              <a:off x="0" y="-19050"/>
              <a:ext cx="3108960" cy="604266"/>
            </a:xfrm>
            <a:prstGeom prst="rect">
              <a:avLst/>
            </a:prstGeom>
          </p:spPr>
          <p:txBody>
            <a:bodyPr anchor="ctr" rtlCol="false" tIns="0" lIns="0" bIns="0" rIns="0"/>
            <a:lstStyle/>
            <a:p>
              <a:pPr algn="r">
                <a:lnSpc>
                  <a:spcPts val="1889"/>
                </a:lnSpc>
              </a:pPr>
              <a:r>
                <a:rPr lang="en-US" sz="1575" b="true">
                  <a:solidFill>
                    <a:srgbClr val="FFFFFF"/>
                  </a:solidFill>
                  <a:latin typeface="Calibri (MS) Bold"/>
                  <a:ea typeface="Calibri (MS) Bold"/>
                  <a:cs typeface="Calibri (MS) Bold"/>
                  <a:sym typeface="Calibri (MS) Bold"/>
                </a:rPr>
                <a:t>21.263</a:t>
              </a:r>
            </a:p>
          </p:txBody>
        </p:sp>
      </p:grpSp>
      <p:grpSp>
        <p:nvGrpSpPr>
          <p:cNvPr name="Group 25" id="25"/>
          <p:cNvGrpSpPr/>
          <p:nvPr/>
        </p:nvGrpSpPr>
        <p:grpSpPr>
          <a:xfrm rot="0">
            <a:off x="12138660" y="5170932"/>
            <a:ext cx="2743200" cy="438912"/>
            <a:chOff x="0" y="0"/>
            <a:chExt cx="3657600" cy="585216"/>
          </a:xfrm>
        </p:grpSpPr>
        <p:sp>
          <p:nvSpPr>
            <p:cNvPr name="Freeform 26" id="26"/>
            <p:cNvSpPr/>
            <p:nvPr/>
          </p:nvSpPr>
          <p:spPr>
            <a:xfrm flipH="false" flipV="false" rot="0">
              <a:off x="0" y="0"/>
              <a:ext cx="3657600" cy="585216"/>
            </a:xfrm>
            <a:custGeom>
              <a:avLst/>
              <a:gdLst/>
              <a:ahLst/>
              <a:cxnLst/>
              <a:rect r="r" b="b" t="t" l="l"/>
              <a:pathLst>
                <a:path h="585216" w="3657600">
                  <a:moveTo>
                    <a:pt x="0" y="0"/>
                  </a:moveTo>
                  <a:lnTo>
                    <a:pt x="3657600" y="0"/>
                  </a:lnTo>
                  <a:lnTo>
                    <a:pt x="3657600" y="585216"/>
                  </a:lnTo>
                  <a:lnTo>
                    <a:pt x="0" y="585216"/>
                  </a:lnTo>
                  <a:close/>
                </a:path>
              </a:pathLst>
            </a:custGeom>
            <a:blipFill>
              <a:blip r:embed="rId2">
                <a:alphaModFix amt="0"/>
              </a:blip>
              <a:stretch>
                <a:fillRect l="0" t="-71781" r="0" b="-71781"/>
              </a:stretch>
            </a:blipFill>
          </p:spPr>
        </p:sp>
        <p:sp>
          <p:nvSpPr>
            <p:cNvPr name="TextBox 27" id="27"/>
            <p:cNvSpPr txBox="true"/>
            <p:nvPr/>
          </p:nvSpPr>
          <p:spPr>
            <a:xfrm>
              <a:off x="0" y="-19050"/>
              <a:ext cx="3657600" cy="604266"/>
            </a:xfrm>
            <a:prstGeom prst="rect">
              <a:avLst/>
            </a:prstGeom>
          </p:spPr>
          <p:txBody>
            <a:bodyPr anchor="ctr" rtlCol="false" tIns="0" lIns="0" bIns="0" rIns="0"/>
            <a:lstStyle/>
            <a:p>
              <a:pPr algn="l">
                <a:lnSpc>
                  <a:spcPts val="1889"/>
                </a:lnSpc>
              </a:pPr>
              <a:r>
                <a:rPr lang="en-US" sz="1575">
                  <a:solidFill>
                    <a:srgbClr val="8A93B8"/>
                  </a:solidFill>
                  <a:latin typeface="Calibri (MS)"/>
                  <a:ea typeface="Calibri (MS)"/>
                  <a:cs typeface="Calibri (MS)"/>
                  <a:sym typeface="Calibri (MS)"/>
                </a:rPr>
                <a:t>Épocas corridas</a:t>
              </a:r>
            </a:p>
          </p:txBody>
        </p:sp>
      </p:grpSp>
      <p:grpSp>
        <p:nvGrpSpPr>
          <p:cNvPr name="Group 28" id="28"/>
          <p:cNvGrpSpPr/>
          <p:nvPr/>
        </p:nvGrpSpPr>
        <p:grpSpPr>
          <a:xfrm rot="0">
            <a:off x="14744700" y="5170932"/>
            <a:ext cx="2331720" cy="438912"/>
            <a:chOff x="0" y="0"/>
            <a:chExt cx="3108960" cy="585216"/>
          </a:xfrm>
        </p:grpSpPr>
        <p:sp>
          <p:nvSpPr>
            <p:cNvPr name="Freeform 29" id="29"/>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2">
                <a:alphaModFix amt="0"/>
              </a:blip>
              <a:stretch>
                <a:fillRect l="0" t="-53514" r="0" b="-53514"/>
              </a:stretch>
            </a:blipFill>
          </p:spPr>
        </p:sp>
        <p:sp>
          <p:nvSpPr>
            <p:cNvPr name="TextBox 30" id="30"/>
            <p:cNvSpPr txBox="true"/>
            <p:nvPr/>
          </p:nvSpPr>
          <p:spPr>
            <a:xfrm>
              <a:off x="0" y="-19050"/>
              <a:ext cx="3108960" cy="604266"/>
            </a:xfrm>
            <a:prstGeom prst="rect">
              <a:avLst/>
            </a:prstGeom>
          </p:spPr>
          <p:txBody>
            <a:bodyPr anchor="ctr" rtlCol="false" tIns="0" lIns="0" bIns="0" rIns="0"/>
            <a:lstStyle/>
            <a:p>
              <a:pPr algn="r">
                <a:lnSpc>
                  <a:spcPts val="1889"/>
                </a:lnSpc>
              </a:pPr>
              <a:r>
                <a:rPr lang="en-US" sz="1575" b="true">
                  <a:solidFill>
                    <a:srgbClr val="FFFFFF"/>
                  </a:solidFill>
                  <a:latin typeface="Calibri (MS) Bold"/>
                  <a:ea typeface="Calibri (MS) Bold"/>
                  <a:cs typeface="Calibri (MS) Bold"/>
                  <a:sym typeface="Calibri (MS) Bold"/>
                </a:rPr>
                <a:t>41 (early stop)</a:t>
              </a:r>
            </a:p>
          </p:txBody>
        </p:sp>
      </p:grpSp>
      <p:grpSp>
        <p:nvGrpSpPr>
          <p:cNvPr name="Group 31" id="31"/>
          <p:cNvGrpSpPr/>
          <p:nvPr/>
        </p:nvGrpSpPr>
        <p:grpSpPr>
          <a:xfrm rot="0">
            <a:off x="12138660" y="5747004"/>
            <a:ext cx="2743200" cy="438912"/>
            <a:chOff x="0" y="0"/>
            <a:chExt cx="3657600" cy="585216"/>
          </a:xfrm>
        </p:grpSpPr>
        <p:sp>
          <p:nvSpPr>
            <p:cNvPr name="Freeform 32" id="32"/>
            <p:cNvSpPr/>
            <p:nvPr/>
          </p:nvSpPr>
          <p:spPr>
            <a:xfrm flipH="false" flipV="false" rot="0">
              <a:off x="0" y="0"/>
              <a:ext cx="3657600" cy="585216"/>
            </a:xfrm>
            <a:custGeom>
              <a:avLst/>
              <a:gdLst/>
              <a:ahLst/>
              <a:cxnLst/>
              <a:rect r="r" b="b" t="t" l="l"/>
              <a:pathLst>
                <a:path h="585216" w="3657600">
                  <a:moveTo>
                    <a:pt x="0" y="0"/>
                  </a:moveTo>
                  <a:lnTo>
                    <a:pt x="3657600" y="0"/>
                  </a:lnTo>
                  <a:lnTo>
                    <a:pt x="3657600" y="585216"/>
                  </a:lnTo>
                  <a:lnTo>
                    <a:pt x="0" y="585216"/>
                  </a:lnTo>
                  <a:close/>
                </a:path>
              </a:pathLst>
            </a:custGeom>
            <a:blipFill>
              <a:blip r:embed="rId2">
                <a:alphaModFix amt="0"/>
              </a:blip>
              <a:stretch>
                <a:fillRect l="0" t="-71781" r="0" b="-71781"/>
              </a:stretch>
            </a:blipFill>
          </p:spPr>
        </p:sp>
        <p:sp>
          <p:nvSpPr>
            <p:cNvPr name="TextBox 33" id="33"/>
            <p:cNvSpPr txBox="true"/>
            <p:nvPr/>
          </p:nvSpPr>
          <p:spPr>
            <a:xfrm>
              <a:off x="0" y="-19050"/>
              <a:ext cx="3657600" cy="604266"/>
            </a:xfrm>
            <a:prstGeom prst="rect">
              <a:avLst/>
            </a:prstGeom>
          </p:spPr>
          <p:txBody>
            <a:bodyPr anchor="ctr" rtlCol="false" tIns="0" lIns="0" bIns="0" rIns="0"/>
            <a:lstStyle/>
            <a:p>
              <a:pPr algn="l">
                <a:lnSpc>
                  <a:spcPts val="1889"/>
                </a:lnSpc>
              </a:pPr>
              <a:r>
                <a:rPr lang="en-US" sz="1575">
                  <a:solidFill>
                    <a:srgbClr val="8A93B8"/>
                  </a:solidFill>
                  <a:latin typeface="Calibri (MS)"/>
                  <a:ea typeface="Calibri (MS)"/>
                  <a:cs typeface="Calibri (MS)"/>
                  <a:sym typeface="Calibri (MS)"/>
                </a:rPr>
                <a:t>Balanced accuracy</a:t>
              </a:r>
            </a:p>
          </p:txBody>
        </p:sp>
      </p:grpSp>
      <p:grpSp>
        <p:nvGrpSpPr>
          <p:cNvPr name="Group 34" id="34"/>
          <p:cNvGrpSpPr/>
          <p:nvPr/>
        </p:nvGrpSpPr>
        <p:grpSpPr>
          <a:xfrm rot="0">
            <a:off x="14744700" y="5747004"/>
            <a:ext cx="2331720" cy="438912"/>
            <a:chOff x="0" y="0"/>
            <a:chExt cx="3108960" cy="585216"/>
          </a:xfrm>
        </p:grpSpPr>
        <p:sp>
          <p:nvSpPr>
            <p:cNvPr name="Freeform 35" id="35"/>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2">
                <a:alphaModFix amt="0"/>
              </a:blip>
              <a:stretch>
                <a:fillRect l="0" t="-53514" r="0" b="-53514"/>
              </a:stretch>
            </a:blipFill>
          </p:spPr>
        </p:sp>
        <p:sp>
          <p:nvSpPr>
            <p:cNvPr name="TextBox 36" id="36"/>
            <p:cNvSpPr txBox="true"/>
            <p:nvPr/>
          </p:nvSpPr>
          <p:spPr>
            <a:xfrm>
              <a:off x="0" y="-19050"/>
              <a:ext cx="3108960" cy="604266"/>
            </a:xfrm>
            <a:prstGeom prst="rect">
              <a:avLst/>
            </a:prstGeom>
          </p:spPr>
          <p:txBody>
            <a:bodyPr anchor="ctr" rtlCol="false" tIns="0" lIns="0" bIns="0" rIns="0"/>
            <a:lstStyle/>
            <a:p>
              <a:pPr algn="r">
                <a:lnSpc>
                  <a:spcPts val="1889"/>
                </a:lnSpc>
              </a:pPr>
              <a:r>
                <a:rPr lang="en-US" sz="1575" b="true">
                  <a:solidFill>
                    <a:srgbClr val="FFFFFF"/>
                  </a:solidFill>
                  <a:latin typeface="Calibri (MS) Bold"/>
                  <a:ea typeface="Calibri (MS) Bold"/>
                  <a:cs typeface="Calibri (MS) Bold"/>
                  <a:sym typeface="Calibri (MS) Bold"/>
                </a:rPr>
                <a:t>0.849</a:t>
              </a:r>
            </a:p>
          </p:txBody>
        </p:sp>
      </p:grpSp>
      <p:grpSp>
        <p:nvGrpSpPr>
          <p:cNvPr name="Group 37" id="37"/>
          <p:cNvGrpSpPr/>
          <p:nvPr/>
        </p:nvGrpSpPr>
        <p:grpSpPr>
          <a:xfrm rot="0">
            <a:off x="12138660" y="6323076"/>
            <a:ext cx="2743200" cy="438912"/>
            <a:chOff x="0" y="0"/>
            <a:chExt cx="3657600" cy="585216"/>
          </a:xfrm>
        </p:grpSpPr>
        <p:sp>
          <p:nvSpPr>
            <p:cNvPr name="Freeform 38" id="38"/>
            <p:cNvSpPr/>
            <p:nvPr/>
          </p:nvSpPr>
          <p:spPr>
            <a:xfrm flipH="false" flipV="false" rot="0">
              <a:off x="0" y="0"/>
              <a:ext cx="3657600" cy="585216"/>
            </a:xfrm>
            <a:custGeom>
              <a:avLst/>
              <a:gdLst/>
              <a:ahLst/>
              <a:cxnLst/>
              <a:rect r="r" b="b" t="t" l="l"/>
              <a:pathLst>
                <a:path h="585216" w="3657600">
                  <a:moveTo>
                    <a:pt x="0" y="0"/>
                  </a:moveTo>
                  <a:lnTo>
                    <a:pt x="3657600" y="0"/>
                  </a:lnTo>
                  <a:lnTo>
                    <a:pt x="3657600" y="585216"/>
                  </a:lnTo>
                  <a:lnTo>
                    <a:pt x="0" y="585216"/>
                  </a:lnTo>
                  <a:close/>
                </a:path>
              </a:pathLst>
            </a:custGeom>
            <a:blipFill>
              <a:blip r:embed="rId2">
                <a:alphaModFix amt="0"/>
              </a:blip>
              <a:stretch>
                <a:fillRect l="0" t="-71781" r="0" b="-71781"/>
              </a:stretch>
            </a:blipFill>
          </p:spPr>
        </p:sp>
        <p:sp>
          <p:nvSpPr>
            <p:cNvPr name="TextBox 39" id="39"/>
            <p:cNvSpPr txBox="true"/>
            <p:nvPr/>
          </p:nvSpPr>
          <p:spPr>
            <a:xfrm>
              <a:off x="0" y="-19050"/>
              <a:ext cx="3657600" cy="604266"/>
            </a:xfrm>
            <a:prstGeom prst="rect">
              <a:avLst/>
            </a:prstGeom>
          </p:spPr>
          <p:txBody>
            <a:bodyPr anchor="ctr" rtlCol="false" tIns="0" lIns="0" bIns="0" rIns="0"/>
            <a:lstStyle/>
            <a:p>
              <a:pPr algn="l">
                <a:lnSpc>
                  <a:spcPts val="1889"/>
                </a:lnSpc>
              </a:pPr>
              <a:r>
                <a:rPr lang="en-US" sz="1575">
                  <a:solidFill>
                    <a:srgbClr val="8A93B8"/>
                  </a:solidFill>
                  <a:latin typeface="Calibri (MS)"/>
                  <a:ea typeface="Calibri (MS)"/>
                  <a:cs typeface="Calibri (MS)"/>
                  <a:sym typeface="Calibri (MS)"/>
                </a:rPr>
                <a:t>Mejor val macro-F1</a:t>
              </a:r>
            </a:p>
          </p:txBody>
        </p:sp>
      </p:grpSp>
      <p:grpSp>
        <p:nvGrpSpPr>
          <p:cNvPr name="Group 40" id="40"/>
          <p:cNvGrpSpPr/>
          <p:nvPr/>
        </p:nvGrpSpPr>
        <p:grpSpPr>
          <a:xfrm rot="0">
            <a:off x="14744700" y="6323076"/>
            <a:ext cx="2331720" cy="438912"/>
            <a:chOff x="0" y="0"/>
            <a:chExt cx="3108960" cy="585216"/>
          </a:xfrm>
        </p:grpSpPr>
        <p:sp>
          <p:nvSpPr>
            <p:cNvPr name="Freeform 41" id="41"/>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2">
                <a:alphaModFix amt="0"/>
              </a:blip>
              <a:stretch>
                <a:fillRect l="0" t="-53514" r="0" b="-53514"/>
              </a:stretch>
            </a:blipFill>
          </p:spPr>
        </p:sp>
        <p:sp>
          <p:nvSpPr>
            <p:cNvPr name="TextBox 42" id="42"/>
            <p:cNvSpPr txBox="true"/>
            <p:nvPr/>
          </p:nvSpPr>
          <p:spPr>
            <a:xfrm>
              <a:off x="0" y="-19050"/>
              <a:ext cx="3108960" cy="604266"/>
            </a:xfrm>
            <a:prstGeom prst="rect">
              <a:avLst/>
            </a:prstGeom>
          </p:spPr>
          <p:txBody>
            <a:bodyPr anchor="ctr" rtlCol="false" tIns="0" lIns="0" bIns="0" rIns="0"/>
            <a:lstStyle/>
            <a:p>
              <a:pPr algn="r">
                <a:lnSpc>
                  <a:spcPts val="1889"/>
                </a:lnSpc>
              </a:pPr>
              <a:r>
                <a:rPr lang="en-US" sz="1575" b="true">
                  <a:solidFill>
                    <a:srgbClr val="FFFFFF"/>
                  </a:solidFill>
                  <a:latin typeface="Calibri (MS) Bold"/>
                  <a:ea typeface="Calibri (MS) Bold"/>
                  <a:cs typeface="Calibri (MS) Bold"/>
                  <a:sym typeface="Calibri (MS) Bold"/>
                </a:rPr>
                <a:t>0.599</a:t>
              </a:r>
            </a:p>
          </p:txBody>
        </p:sp>
      </p:grpSp>
      <p:grpSp>
        <p:nvGrpSpPr>
          <p:cNvPr name="Group 43" id="43"/>
          <p:cNvGrpSpPr/>
          <p:nvPr/>
        </p:nvGrpSpPr>
        <p:grpSpPr>
          <a:xfrm rot="0">
            <a:off x="822960" y="8023860"/>
            <a:ext cx="16596360" cy="1508760"/>
            <a:chOff x="0" y="0"/>
            <a:chExt cx="22128480" cy="2011680"/>
          </a:xfrm>
        </p:grpSpPr>
        <p:sp>
          <p:nvSpPr>
            <p:cNvPr name="Freeform 44" id="44"/>
            <p:cNvSpPr/>
            <p:nvPr/>
          </p:nvSpPr>
          <p:spPr>
            <a:xfrm flipH="false" flipV="false" rot="0">
              <a:off x="0" y="0"/>
              <a:ext cx="22128480" cy="2011680"/>
            </a:xfrm>
            <a:custGeom>
              <a:avLst/>
              <a:gdLst/>
              <a:ahLst/>
              <a:cxnLst/>
              <a:rect r="r" b="b" t="t" l="l"/>
              <a:pathLst>
                <a:path h="2011680" w="22128480">
                  <a:moveTo>
                    <a:pt x="0" y="0"/>
                  </a:moveTo>
                  <a:lnTo>
                    <a:pt x="22128480" y="0"/>
                  </a:lnTo>
                  <a:lnTo>
                    <a:pt x="22128480" y="2011680"/>
                  </a:lnTo>
                  <a:lnTo>
                    <a:pt x="0" y="2011680"/>
                  </a:lnTo>
                  <a:close/>
                </a:path>
              </a:pathLst>
            </a:custGeom>
            <a:blipFill>
              <a:blip r:embed="rId2">
                <a:alphaModFix amt="0"/>
              </a:blip>
              <a:stretch>
                <a:fillRect l="0" t="-164335" r="0" b="-164335"/>
              </a:stretch>
            </a:blipFill>
          </p:spPr>
        </p:sp>
        <p:sp>
          <p:nvSpPr>
            <p:cNvPr name="TextBox 45" id="45"/>
            <p:cNvSpPr txBox="true"/>
            <p:nvPr/>
          </p:nvSpPr>
          <p:spPr>
            <a:xfrm>
              <a:off x="0" y="-95250"/>
              <a:ext cx="22128480" cy="2106930"/>
            </a:xfrm>
            <a:prstGeom prst="rect">
              <a:avLst/>
            </a:prstGeom>
          </p:spPr>
          <p:txBody>
            <a:bodyPr anchor="ctr" rtlCol="false" tIns="0" lIns="0" bIns="0" rIns="0"/>
            <a:lstStyle/>
            <a:p>
              <a:pPr algn="l">
                <a:lnSpc>
                  <a:spcPts val="2700"/>
                </a:lnSpc>
              </a:pPr>
              <a:r>
                <a:rPr lang="en-US" sz="1800">
                  <a:solidFill>
                    <a:srgbClr val="0E1220"/>
                  </a:solidFill>
                  <a:latin typeface="Calibri (MS)"/>
                  <a:ea typeface="Calibri (MS)"/>
                  <a:cs typeface="Calibri (MS)"/>
                  <a:sym typeface="Calibri (MS)"/>
                </a:rPr>
                <a:t>Análisis: el train_loss baja de forma estable mientras el val_loss oscila con picos marcados, señal de que algunas clases raras generan gradientes ruidosos entre epochs. Aun así el macro-F1 de validación mejora de forma sostenida y el early stopping corta el entrenamiento en el mejor punto (epoch 41), evitando sobreajuste.</a:t>
              </a:r>
            </a:p>
          </p:txBody>
        </p:sp>
      </p:grpSp>
      <p:grpSp>
        <p:nvGrpSpPr>
          <p:cNvPr name="Group 46" id="46"/>
          <p:cNvGrpSpPr/>
          <p:nvPr/>
        </p:nvGrpSpPr>
        <p:grpSpPr>
          <a:xfrm rot="0">
            <a:off x="17053103" y="9601200"/>
            <a:ext cx="822960" cy="411480"/>
            <a:chOff x="0" y="0"/>
            <a:chExt cx="1097280" cy="548640"/>
          </a:xfrm>
        </p:grpSpPr>
        <p:sp>
          <p:nvSpPr>
            <p:cNvPr name="Freeform 47" id="47"/>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48" id="48"/>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09</a:t>
              </a:r>
            </a:p>
          </p:txBody>
        </p:sp>
      </p:grpSp>
      <p:sp>
        <p:nvSpPr>
          <p:cNvPr name="Freeform 49" id="49"/>
          <p:cNvSpPr/>
          <p:nvPr/>
        </p:nvSpPr>
        <p:spPr>
          <a:xfrm flipH="false" flipV="false" rot="0">
            <a:off x="679353" y="2941912"/>
            <a:ext cx="10759671" cy="4183721"/>
          </a:xfrm>
          <a:custGeom>
            <a:avLst/>
            <a:gdLst/>
            <a:ahLst/>
            <a:cxnLst/>
            <a:rect r="r" b="b" t="t" l="l"/>
            <a:pathLst>
              <a:path h="4183721" w="10759671">
                <a:moveTo>
                  <a:pt x="0" y="0"/>
                </a:moveTo>
                <a:lnTo>
                  <a:pt x="10759671" y="0"/>
                </a:lnTo>
                <a:lnTo>
                  <a:pt x="10759671" y="4183720"/>
                </a:lnTo>
                <a:lnTo>
                  <a:pt x="0" y="4183720"/>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1 · RESUMEN</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Baseline vs. DNN: primer corte de resultados</a:t>
              </a:r>
            </a:p>
          </p:txBody>
        </p:sp>
      </p:grpSp>
      <p:grpSp>
        <p:nvGrpSpPr>
          <p:cNvPr name="Group 8" id="8"/>
          <p:cNvGrpSpPr/>
          <p:nvPr/>
        </p:nvGrpSpPr>
        <p:grpSpPr>
          <a:xfrm rot="0">
            <a:off x="822960" y="2606040"/>
            <a:ext cx="5760720" cy="754380"/>
            <a:chOff x="0" y="0"/>
            <a:chExt cx="7680960" cy="1005840"/>
          </a:xfrm>
        </p:grpSpPr>
        <p:sp>
          <p:nvSpPr>
            <p:cNvPr name="Freeform 9" id="9"/>
            <p:cNvSpPr/>
            <p:nvPr/>
          </p:nvSpPr>
          <p:spPr>
            <a:xfrm flipH="false" flipV="false" rot="0">
              <a:off x="0" y="0"/>
              <a:ext cx="7680960" cy="1005840"/>
            </a:xfrm>
            <a:custGeom>
              <a:avLst/>
              <a:gdLst/>
              <a:ahLst/>
              <a:cxnLst/>
              <a:rect r="r" b="b" t="t" l="l"/>
              <a:pathLst>
                <a:path h="1005840" w="7680960">
                  <a:moveTo>
                    <a:pt x="0" y="0"/>
                  </a:moveTo>
                  <a:lnTo>
                    <a:pt x="7680960" y="0"/>
                  </a:lnTo>
                  <a:lnTo>
                    <a:pt x="7680960" y="1005840"/>
                  </a:lnTo>
                  <a:lnTo>
                    <a:pt x="0" y="1005840"/>
                  </a:lnTo>
                  <a:close/>
                </a:path>
              </a:pathLst>
            </a:custGeom>
            <a:solidFill>
              <a:srgbClr val="10162B"/>
            </a:solidFill>
          </p:spPr>
        </p:sp>
      </p:grpSp>
      <p:grpSp>
        <p:nvGrpSpPr>
          <p:cNvPr name="Group 10" id="10"/>
          <p:cNvGrpSpPr/>
          <p:nvPr/>
        </p:nvGrpSpPr>
        <p:grpSpPr>
          <a:xfrm rot="0">
            <a:off x="822960" y="2606040"/>
            <a:ext cx="5760720" cy="754380"/>
            <a:chOff x="0" y="0"/>
            <a:chExt cx="7680960" cy="1005840"/>
          </a:xfrm>
        </p:grpSpPr>
        <p:sp>
          <p:nvSpPr>
            <p:cNvPr name="Freeform 11" id="11"/>
            <p:cNvSpPr/>
            <p:nvPr/>
          </p:nvSpPr>
          <p:spPr>
            <a:xfrm flipH="false" flipV="false" rot="0">
              <a:off x="0" y="0"/>
              <a:ext cx="7680960" cy="1005840"/>
            </a:xfrm>
            <a:custGeom>
              <a:avLst/>
              <a:gdLst/>
              <a:ahLst/>
              <a:cxnLst/>
              <a:rect r="r" b="b" t="t" l="l"/>
              <a:pathLst>
                <a:path h="1005840" w="7680960">
                  <a:moveTo>
                    <a:pt x="0" y="0"/>
                  </a:moveTo>
                  <a:lnTo>
                    <a:pt x="7680960" y="0"/>
                  </a:lnTo>
                  <a:lnTo>
                    <a:pt x="7680960" y="1005840"/>
                  </a:lnTo>
                  <a:lnTo>
                    <a:pt x="0" y="1005840"/>
                  </a:lnTo>
                  <a:close/>
                </a:path>
              </a:pathLst>
            </a:custGeom>
            <a:blipFill>
              <a:blip r:embed="rId2">
                <a:alphaModFix amt="0"/>
              </a:blip>
              <a:stretch>
                <a:fillRect l="0" t="-98794" r="0" b="-98794"/>
              </a:stretch>
            </a:blipFill>
          </p:spPr>
        </p:sp>
        <p:sp>
          <p:nvSpPr>
            <p:cNvPr name="TextBox 12" id="12"/>
            <p:cNvSpPr txBox="true"/>
            <p:nvPr/>
          </p:nvSpPr>
          <p:spPr>
            <a:xfrm>
              <a:off x="0" y="-38100"/>
              <a:ext cx="7680960" cy="1043940"/>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Modelo</a:t>
              </a:r>
            </a:p>
          </p:txBody>
        </p:sp>
      </p:grpSp>
      <p:grpSp>
        <p:nvGrpSpPr>
          <p:cNvPr name="Group 13" id="13"/>
          <p:cNvGrpSpPr/>
          <p:nvPr/>
        </p:nvGrpSpPr>
        <p:grpSpPr>
          <a:xfrm rot="0">
            <a:off x="6583680" y="2606040"/>
            <a:ext cx="3703320" cy="754380"/>
            <a:chOff x="0" y="0"/>
            <a:chExt cx="4937760" cy="1005840"/>
          </a:xfrm>
        </p:grpSpPr>
        <p:sp>
          <p:nvSpPr>
            <p:cNvPr name="Freeform 14" id="14"/>
            <p:cNvSpPr/>
            <p:nvPr/>
          </p:nvSpPr>
          <p:spPr>
            <a:xfrm flipH="false" flipV="false" rot="0">
              <a:off x="0" y="0"/>
              <a:ext cx="4937760" cy="1005840"/>
            </a:xfrm>
            <a:custGeom>
              <a:avLst/>
              <a:gdLst/>
              <a:ahLst/>
              <a:cxnLst/>
              <a:rect r="r" b="b" t="t" l="l"/>
              <a:pathLst>
                <a:path h="1005840" w="4937760">
                  <a:moveTo>
                    <a:pt x="0" y="0"/>
                  </a:moveTo>
                  <a:lnTo>
                    <a:pt x="4937760" y="0"/>
                  </a:lnTo>
                  <a:lnTo>
                    <a:pt x="4937760" y="1005840"/>
                  </a:lnTo>
                  <a:lnTo>
                    <a:pt x="0" y="1005840"/>
                  </a:lnTo>
                  <a:close/>
                </a:path>
              </a:pathLst>
            </a:custGeom>
            <a:solidFill>
              <a:srgbClr val="10162B"/>
            </a:solidFill>
          </p:spPr>
        </p:sp>
      </p:grpSp>
      <p:grpSp>
        <p:nvGrpSpPr>
          <p:cNvPr name="Group 15" id="15"/>
          <p:cNvGrpSpPr/>
          <p:nvPr/>
        </p:nvGrpSpPr>
        <p:grpSpPr>
          <a:xfrm rot="0">
            <a:off x="6583680" y="2606040"/>
            <a:ext cx="3703320" cy="754380"/>
            <a:chOff x="0" y="0"/>
            <a:chExt cx="4937760" cy="1005840"/>
          </a:xfrm>
        </p:grpSpPr>
        <p:sp>
          <p:nvSpPr>
            <p:cNvPr name="Freeform 16" id="16"/>
            <p:cNvSpPr/>
            <p:nvPr/>
          </p:nvSpPr>
          <p:spPr>
            <a:xfrm flipH="false" flipV="false" rot="0">
              <a:off x="0" y="0"/>
              <a:ext cx="4937760" cy="1005840"/>
            </a:xfrm>
            <a:custGeom>
              <a:avLst/>
              <a:gdLst/>
              <a:ahLst/>
              <a:cxnLst/>
              <a:rect r="r" b="b" t="t" l="l"/>
              <a:pathLst>
                <a:path h="1005840" w="4937760">
                  <a:moveTo>
                    <a:pt x="0" y="0"/>
                  </a:moveTo>
                  <a:lnTo>
                    <a:pt x="4937760" y="0"/>
                  </a:lnTo>
                  <a:lnTo>
                    <a:pt x="4937760" y="1005840"/>
                  </a:lnTo>
                  <a:lnTo>
                    <a:pt x="0" y="1005840"/>
                  </a:lnTo>
                  <a:close/>
                </a:path>
              </a:pathLst>
            </a:custGeom>
            <a:blipFill>
              <a:blip r:embed="rId2">
                <a:alphaModFix amt="0"/>
              </a:blip>
              <a:stretch>
                <a:fillRect l="0" t="-45653" r="0" b="-45653"/>
              </a:stretch>
            </a:blipFill>
          </p:spPr>
        </p:sp>
        <p:sp>
          <p:nvSpPr>
            <p:cNvPr name="TextBox 17" id="17"/>
            <p:cNvSpPr txBox="true"/>
            <p:nvPr/>
          </p:nvSpPr>
          <p:spPr>
            <a:xfrm>
              <a:off x="0" y="-38100"/>
              <a:ext cx="4937760" cy="104394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macro-F1 (test)</a:t>
              </a:r>
            </a:p>
          </p:txBody>
        </p:sp>
      </p:grpSp>
      <p:grpSp>
        <p:nvGrpSpPr>
          <p:cNvPr name="Group 18" id="18"/>
          <p:cNvGrpSpPr/>
          <p:nvPr/>
        </p:nvGrpSpPr>
        <p:grpSpPr>
          <a:xfrm rot="0">
            <a:off x="10287000" y="2606040"/>
            <a:ext cx="3703320" cy="754380"/>
            <a:chOff x="0" y="0"/>
            <a:chExt cx="4937760" cy="1005840"/>
          </a:xfrm>
        </p:grpSpPr>
        <p:sp>
          <p:nvSpPr>
            <p:cNvPr name="Freeform 19" id="19"/>
            <p:cNvSpPr/>
            <p:nvPr/>
          </p:nvSpPr>
          <p:spPr>
            <a:xfrm flipH="false" flipV="false" rot="0">
              <a:off x="0" y="0"/>
              <a:ext cx="4937760" cy="1005840"/>
            </a:xfrm>
            <a:custGeom>
              <a:avLst/>
              <a:gdLst/>
              <a:ahLst/>
              <a:cxnLst/>
              <a:rect r="r" b="b" t="t" l="l"/>
              <a:pathLst>
                <a:path h="1005840" w="4937760">
                  <a:moveTo>
                    <a:pt x="0" y="0"/>
                  </a:moveTo>
                  <a:lnTo>
                    <a:pt x="4937760" y="0"/>
                  </a:lnTo>
                  <a:lnTo>
                    <a:pt x="4937760" y="1005840"/>
                  </a:lnTo>
                  <a:lnTo>
                    <a:pt x="0" y="1005840"/>
                  </a:lnTo>
                  <a:close/>
                </a:path>
              </a:pathLst>
            </a:custGeom>
            <a:solidFill>
              <a:srgbClr val="10162B"/>
            </a:solidFill>
          </p:spPr>
        </p:sp>
      </p:grpSp>
      <p:grpSp>
        <p:nvGrpSpPr>
          <p:cNvPr name="Group 20" id="20"/>
          <p:cNvGrpSpPr/>
          <p:nvPr/>
        </p:nvGrpSpPr>
        <p:grpSpPr>
          <a:xfrm rot="0">
            <a:off x="10287000" y="2606040"/>
            <a:ext cx="3703320" cy="754380"/>
            <a:chOff x="0" y="0"/>
            <a:chExt cx="4937760" cy="1005840"/>
          </a:xfrm>
        </p:grpSpPr>
        <p:sp>
          <p:nvSpPr>
            <p:cNvPr name="Freeform 21" id="21"/>
            <p:cNvSpPr/>
            <p:nvPr/>
          </p:nvSpPr>
          <p:spPr>
            <a:xfrm flipH="false" flipV="false" rot="0">
              <a:off x="0" y="0"/>
              <a:ext cx="4937760" cy="1005840"/>
            </a:xfrm>
            <a:custGeom>
              <a:avLst/>
              <a:gdLst/>
              <a:ahLst/>
              <a:cxnLst/>
              <a:rect r="r" b="b" t="t" l="l"/>
              <a:pathLst>
                <a:path h="1005840" w="4937760">
                  <a:moveTo>
                    <a:pt x="0" y="0"/>
                  </a:moveTo>
                  <a:lnTo>
                    <a:pt x="4937760" y="0"/>
                  </a:lnTo>
                  <a:lnTo>
                    <a:pt x="4937760" y="1005840"/>
                  </a:lnTo>
                  <a:lnTo>
                    <a:pt x="0" y="1005840"/>
                  </a:lnTo>
                  <a:close/>
                </a:path>
              </a:pathLst>
            </a:custGeom>
            <a:blipFill>
              <a:blip r:embed="rId2">
                <a:alphaModFix amt="0"/>
              </a:blip>
              <a:stretch>
                <a:fillRect l="0" t="-45653" r="0" b="-45653"/>
              </a:stretch>
            </a:blipFill>
          </p:spPr>
        </p:sp>
        <p:sp>
          <p:nvSpPr>
            <p:cNvPr name="TextBox 22" id="22"/>
            <p:cNvSpPr txBox="true"/>
            <p:nvPr/>
          </p:nvSpPr>
          <p:spPr>
            <a:xfrm>
              <a:off x="0" y="-38100"/>
              <a:ext cx="4937760" cy="104394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Parámetros / reglas</a:t>
              </a:r>
            </a:p>
          </p:txBody>
        </p:sp>
      </p:grpSp>
      <p:grpSp>
        <p:nvGrpSpPr>
          <p:cNvPr name="Group 23" id="23"/>
          <p:cNvGrpSpPr/>
          <p:nvPr/>
        </p:nvGrpSpPr>
        <p:grpSpPr>
          <a:xfrm rot="0">
            <a:off x="13990320" y="2606040"/>
            <a:ext cx="3429000" cy="754380"/>
            <a:chOff x="0" y="0"/>
            <a:chExt cx="4572000" cy="1005840"/>
          </a:xfrm>
        </p:grpSpPr>
        <p:sp>
          <p:nvSpPr>
            <p:cNvPr name="Freeform 24" id="24"/>
            <p:cNvSpPr/>
            <p:nvPr/>
          </p:nvSpPr>
          <p:spPr>
            <a:xfrm flipH="false" flipV="false" rot="0">
              <a:off x="0" y="0"/>
              <a:ext cx="4572000" cy="1005840"/>
            </a:xfrm>
            <a:custGeom>
              <a:avLst/>
              <a:gdLst/>
              <a:ahLst/>
              <a:cxnLst/>
              <a:rect r="r" b="b" t="t" l="l"/>
              <a:pathLst>
                <a:path h="1005840" w="4572000">
                  <a:moveTo>
                    <a:pt x="0" y="0"/>
                  </a:moveTo>
                  <a:lnTo>
                    <a:pt x="4572000" y="0"/>
                  </a:lnTo>
                  <a:lnTo>
                    <a:pt x="4572000" y="1005840"/>
                  </a:lnTo>
                  <a:lnTo>
                    <a:pt x="0" y="1005840"/>
                  </a:lnTo>
                  <a:close/>
                </a:path>
              </a:pathLst>
            </a:custGeom>
            <a:solidFill>
              <a:srgbClr val="10162B"/>
            </a:solidFill>
          </p:spPr>
        </p:sp>
      </p:grpSp>
      <p:grpSp>
        <p:nvGrpSpPr>
          <p:cNvPr name="Group 25" id="25"/>
          <p:cNvGrpSpPr/>
          <p:nvPr/>
        </p:nvGrpSpPr>
        <p:grpSpPr>
          <a:xfrm rot="0">
            <a:off x="13990320" y="2606040"/>
            <a:ext cx="3429000" cy="754380"/>
            <a:chOff x="0" y="0"/>
            <a:chExt cx="4572000" cy="1005840"/>
          </a:xfrm>
        </p:grpSpPr>
        <p:sp>
          <p:nvSpPr>
            <p:cNvPr name="Freeform 26" id="26"/>
            <p:cNvSpPr/>
            <p:nvPr/>
          </p:nvSpPr>
          <p:spPr>
            <a:xfrm flipH="false" flipV="false" rot="0">
              <a:off x="0" y="0"/>
              <a:ext cx="4572000" cy="1005840"/>
            </a:xfrm>
            <a:custGeom>
              <a:avLst/>
              <a:gdLst/>
              <a:ahLst/>
              <a:cxnLst/>
              <a:rect r="r" b="b" t="t" l="l"/>
              <a:pathLst>
                <a:path h="1005840" w="4572000">
                  <a:moveTo>
                    <a:pt x="0" y="0"/>
                  </a:moveTo>
                  <a:lnTo>
                    <a:pt x="4572000" y="0"/>
                  </a:lnTo>
                  <a:lnTo>
                    <a:pt x="4572000" y="1005840"/>
                  </a:lnTo>
                  <a:lnTo>
                    <a:pt x="0" y="1005840"/>
                  </a:lnTo>
                  <a:close/>
                </a:path>
              </a:pathLst>
            </a:custGeom>
            <a:blipFill>
              <a:blip r:embed="rId2">
                <a:alphaModFix amt="0"/>
              </a:blip>
              <a:stretch>
                <a:fillRect l="0" t="-38568" r="0" b="-38568"/>
              </a:stretch>
            </a:blipFill>
          </p:spPr>
        </p:sp>
        <p:sp>
          <p:nvSpPr>
            <p:cNvPr name="TextBox 27" id="27"/>
            <p:cNvSpPr txBox="true"/>
            <p:nvPr/>
          </p:nvSpPr>
          <p:spPr>
            <a:xfrm>
              <a:off x="0" y="-38100"/>
              <a:ext cx="4572000" cy="104394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Tiempo entren.</a:t>
              </a:r>
            </a:p>
          </p:txBody>
        </p:sp>
      </p:grpSp>
      <p:grpSp>
        <p:nvGrpSpPr>
          <p:cNvPr name="Group 28" id="28"/>
          <p:cNvGrpSpPr/>
          <p:nvPr/>
        </p:nvGrpSpPr>
        <p:grpSpPr>
          <a:xfrm rot="0">
            <a:off x="815816" y="3353276"/>
            <a:ext cx="5775008" cy="864680"/>
            <a:chOff x="0" y="0"/>
            <a:chExt cx="7700010" cy="1152906"/>
          </a:xfrm>
        </p:grpSpPr>
        <p:sp>
          <p:nvSpPr>
            <p:cNvPr name="Freeform 29" id="29"/>
            <p:cNvSpPr/>
            <p:nvPr/>
          </p:nvSpPr>
          <p:spPr>
            <a:xfrm flipH="false" flipV="false" rot="0">
              <a:off x="0" y="0"/>
              <a:ext cx="7700010" cy="1152906"/>
            </a:xfrm>
            <a:custGeom>
              <a:avLst/>
              <a:gdLst/>
              <a:ahLst/>
              <a:cxnLst/>
              <a:rect r="r" b="b" t="t" l="l"/>
              <a:pathLst>
                <a:path h="1152906" w="7700010">
                  <a:moveTo>
                    <a:pt x="0" y="0"/>
                  </a:moveTo>
                  <a:lnTo>
                    <a:pt x="7700010" y="0"/>
                  </a:lnTo>
                  <a:lnTo>
                    <a:pt x="7700010" y="1152906"/>
                  </a:lnTo>
                  <a:lnTo>
                    <a:pt x="0" y="1152906"/>
                  </a:lnTo>
                  <a:close/>
                </a:path>
              </a:pathLst>
            </a:custGeom>
            <a:solidFill>
              <a:srgbClr val="FFFFFF"/>
            </a:solidFill>
            <a:ln w="14288" cap="sq">
              <a:solidFill>
                <a:srgbClr val="E3E6F0"/>
              </a:solidFill>
              <a:prstDash val="solid"/>
              <a:miter/>
            </a:ln>
          </p:spPr>
        </p:sp>
      </p:grpSp>
      <p:grpSp>
        <p:nvGrpSpPr>
          <p:cNvPr name="Group 30" id="30"/>
          <p:cNvGrpSpPr/>
          <p:nvPr/>
        </p:nvGrpSpPr>
        <p:grpSpPr>
          <a:xfrm rot="0">
            <a:off x="822960" y="3360420"/>
            <a:ext cx="5760720" cy="850392"/>
            <a:chOff x="0" y="0"/>
            <a:chExt cx="7680960" cy="1133856"/>
          </a:xfrm>
        </p:grpSpPr>
        <p:sp>
          <p:nvSpPr>
            <p:cNvPr name="Freeform 31" id="31"/>
            <p:cNvSpPr/>
            <p:nvPr/>
          </p:nvSpPr>
          <p:spPr>
            <a:xfrm flipH="false" flipV="false" rot="0">
              <a:off x="0" y="0"/>
              <a:ext cx="7680960" cy="1133856"/>
            </a:xfrm>
            <a:custGeom>
              <a:avLst/>
              <a:gdLst/>
              <a:ahLst/>
              <a:cxnLst/>
              <a:rect r="r" b="b" t="t" l="l"/>
              <a:pathLst>
                <a:path h="1133856" w="7680960">
                  <a:moveTo>
                    <a:pt x="0" y="0"/>
                  </a:moveTo>
                  <a:lnTo>
                    <a:pt x="7680960" y="0"/>
                  </a:lnTo>
                  <a:lnTo>
                    <a:pt x="7680960" y="1133856"/>
                  </a:lnTo>
                  <a:lnTo>
                    <a:pt x="0" y="1133856"/>
                  </a:lnTo>
                  <a:close/>
                </a:path>
              </a:pathLst>
            </a:custGeom>
            <a:blipFill>
              <a:blip r:embed="rId2">
                <a:alphaModFix amt="0"/>
              </a:blip>
              <a:stretch>
                <a:fillRect l="0" t="-81995" r="0" b="-81995"/>
              </a:stretch>
            </a:blipFill>
          </p:spPr>
        </p:sp>
        <p:sp>
          <p:nvSpPr>
            <p:cNvPr name="TextBox 32" id="32"/>
            <p:cNvSpPr txBox="true"/>
            <p:nvPr/>
          </p:nvSpPr>
          <p:spPr>
            <a:xfrm>
              <a:off x="0" y="-38100"/>
              <a:ext cx="7680960" cy="1171956"/>
            </a:xfrm>
            <a:prstGeom prst="rect">
              <a:avLst/>
            </a:prstGeom>
          </p:spPr>
          <p:txBody>
            <a:bodyPr anchor="ctr" rtlCol="false" tIns="0" lIns="0" bIns="0" rIns="0"/>
            <a:lstStyle/>
            <a:p>
              <a:pPr algn="l">
                <a:lnSpc>
                  <a:spcPts val="2250"/>
                </a:lnSpc>
              </a:pPr>
              <a:r>
                <a:rPr lang="en-US" sz="1875" b="true">
                  <a:solidFill>
                    <a:srgbClr val="0E1220"/>
                  </a:solidFill>
                  <a:latin typeface="Calibri (MS) Bold"/>
                  <a:ea typeface="Calibri (MS) Bold"/>
                  <a:cs typeface="Calibri (MS) Bold"/>
                  <a:sym typeface="Calibri (MS) Bold"/>
                </a:rPr>
                <a:t>Regresión Logística</a:t>
              </a:r>
            </a:p>
          </p:txBody>
        </p:sp>
      </p:grpSp>
      <p:grpSp>
        <p:nvGrpSpPr>
          <p:cNvPr name="Group 33" id="33"/>
          <p:cNvGrpSpPr/>
          <p:nvPr/>
        </p:nvGrpSpPr>
        <p:grpSpPr>
          <a:xfrm rot="0">
            <a:off x="6576536" y="3353276"/>
            <a:ext cx="3717608" cy="864680"/>
            <a:chOff x="0" y="0"/>
            <a:chExt cx="4956810" cy="1152906"/>
          </a:xfrm>
        </p:grpSpPr>
        <p:sp>
          <p:nvSpPr>
            <p:cNvPr name="Freeform 34" id="34"/>
            <p:cNvSpPr/>
            <p:nvPr/>
          </p:nvSpPr>
          <p:spPr>
            <a:xfrm flipH="false" flipV="false" rot="0">
              <a:off x="0" y="0"/>
              <a:ext cx="4956810" cy="1152906"/>
            </a:xfrm>
            <a:custGeom>
              <a:avLst/>
              <a:gdLst/>
              <a:ahLst/>
              <a:cxnLst/>
              <a:rect r="r" b="b" t="t" l="l"/>
              <a:pathLst>
                <a:path h="1152906" w="4956810">
                  <a:moveTo>
                    <a:pt x="0" y="0"/>
                  </a:moveTo>
                  <a:lnTo>
                    <a:pt x="4956810" y="0"/>
                  </a:lnTo>
                  <a:lnTo>
                    <a:pt x="4956810" y="1152906"/>
                  </a:lnTo>
                  <a:lnTo>
                    <a:pt x="0" y="1152906"/>
                  </a:lnTo>
                  <a:close/>
                </a:path>
              </a:pathLst>
            </a:custGeom>
            <a:solidFill>
              <a:srgbClr val="FFFFFF"/>
            </a:solidFill>
            <a:ln w="14288" cap="sq">
              <a:solidFill>
                <a:srgbClr val="E3E6F0"/>
              </a:solidFill>
              <a:prstDash val="solid"/>
              <a:miter/>
            </a:ln>
          </p:spPr>
        </p:sp>
      </p:grpSp>
      <p:grpSp>
        <p:nvGrpSpPr>
          <p:cNvPr name="Group 35" id="35"/>
          <p:cNvGrpSpPr/>
          <p:nvPr/>
        </p:nvGrpSpPr>
        <p:grpSpPr>
          <a:xfrm rot="0">
            <a:off x="6583680" y="3360420"/>
            <a:ext cx="3703320" cy="850392"/>
            <a:chOff x="0" y="0"/>
            <a:chExt cx="4937760" cy="1133856"/>
          </a:xfrm>
        </p:grpSpPr>
        <p:sp>
          <p:nvSpPr>
            <p:cNvPr name="Freeform 36" id="36"/>
            <p:cNvSpPr/>
            <p:nvPr/>
          </p:nvSpPr>
          <p:spPr>
            <a:xfrm flipH="false" flipV="false" rot="0">
              <a:off x="0" y="0"/>
              <a:ext cx="4937760" cy="1133856"/>
            </a:xfrm>
            <a:custGeom>
              <a:avLst/>
              <a:gdLst/>
              <a:ahLst/>
              <a:cxnLst/>
              <a:rect r="r" b="b" t="t" l="l"/>
              <a:pathLst>
                <a:path h="1133856" w="4937760">
                  <a:moveTo>
                    <a:pt x="0" y="0"/>
                  </a:moveTo>
                  <a:lnTo>
                    <a:pt x="4937760" y="0"/>
                  </a:lnTo>
                  <a:lnTo>
                    <a:pt x="4937760" y="1133856"/>
                  </a:lnTo>
                  <a:lnTo>
                    <a:pt x="0" y="1133856"/>
                  </a:lnTo>
                  <a:close/>
                </a:path>
              </a:pathLst>
            </a:custGeom>
            <a:blipFill>
              <a:blip r:embed="rId2">
                <a:alphaModFix amt="0"/>
              </a:blip>
              <a:stretch>
                <a:fillRect l="0" t="-34854" r="0" b="-34854"/>
              </a:stretch>
            </a:blipFill>
          </p:spPr>
        </p:sp>
        <p:sp>
          <p:nvSpPr>
            <p:cNvPr name="TextBox 37" id="37"/>
            <p:cNvSpPr txBox="true"/>
            <p:nvPr/>
          </p:nvSpPr>
          <p:spPr>
            <a:xfrm>
              <a:off x="0" y="-38100"/>
              <a:ext cx="4937760" cy="1171956"/>
            </a:xfrm>
            <a:prstGeom prst="rect">
              <a:avLst/>
            </a:prstGeom>
          </p:spPr>
          <p:txBody>
            <a:bodyPr anchor="ctr" rtlCol="false" tIns="0" lIns="0" bIns="0" rIns="0"/>
            <a:lstStyle/>
            <a:p>
              <a:pPr algn="ctr">
                <a:lnSpc>
                  <a:spcPts val="2250"/>
                </a:lnSpc>
              </a:pPr>
              <a:r>
                <a:rPr lang="en-US" sz="1875">
                  <a:solidFill>
                    <a:srgbClr val="0E1220"/>
                  </a:solidFill>
                  <a:latin typeface="Calibri (MS)"/>
                  <a:ea typeface="Calibri (MS)"/>
                  <a:cs typeface="Calibri (MS)"/>
                  <a:sym typeface="Calibri (MS)"/>
                </a:rPr>
                <a:t>0.416</a:t>
              </a:r>
            </a:p>
          </p:txBody>
        </p:sp>
      </p:grpSp>
      <p:grpSp>
        <p:nvGrpSpPr>
          <p:cNvPr name="Group 38" id="38"/>
          <p:cNvGrpSpPr/>
          <p:nvPr/>
        </p:nvGrpSpPr>
        <p:grpSpPr>
          <a:xfrm rot="0">
            <a:off x="10279856" y="3353276"/>
            <a:ext cx="3717608" cy="864680"/>
            <a:chOff x="0" y="0"/>
            <a:chExt cx="4956810" cy="1152906"/>
          </a:xfrm>
        </p:grpSpPr>
        <p:sp>
          <p:nvSpPr>
            <p:cNvPr name="Freeform 39" id="39"/>
            <p:cNvSpPr/>
            <p:nvPr/>
          </p:nvSpPr>
          <p:spPr>
            <a:xfrm flipH="false" flipV="false" rot="0">
              <a:off x="0" y="0"/>
              <a:ext cx="4956810" cy="1152906"/>
            </a:xfrm>
            <a:custGeom>
              <a:avLst/>
              <a:gdLst/>
              <a:ahLst/>
              <a:cxnLst/>
              <a:rect r="r" b="b" t="t" l="l"/>
              <a:pathLst>
                <a:path h="1152906" w="4956810">
                  <a:moveTo>
                    <a:pt x="0" y="0"/>
                  </a:moveTo>
                  <a:lnTo>
                    <a:pt x="4956810" y="0"/>
                  </a:lnTo>
                  <a:lnTo>
                    <a:pt x="4956810" y="1152906"/>
                  </a:lnTo>
                  <a:lnTo>
                    <a:pt x="0" y="1152906"/>
                  </a:lnTo>
                  <a:close/>
                </a:path>
              </a:pathLst>
            </a:custGeom>
            <a:solidFill>
              <a:srgbClr val="FFFFFF"/>
            </a:solidFill>
            <a:ln w="14288" cap="sq">
              <a:solidFill>
                <a:srgbClr val="E3E6F0"/>
              </a:solidFill>
              <a:prstDash val="solid"/>
              <a:miter/>
            </a:ln>
          </p:spPr>
        </p:sp>
      </p:grpSp>
      <p:grpSp>
        <p:nvGrpSpPr>
          <p:cNvPr name="Group 40" id="40"/>
          <p:cNvGrpSpPr/>
          <p:nvPr/>
        </p:nvGrpSpPr>
        <p:grpSpPr>
          <a:xfrm rot="0">
            <a:off x="10287000" y="3360420"/>
            <a:ext cx="3703320" cy="850392"/>
            <a:chOff x="0" y="0"/>
            <a:chExt cx="4937760" cy="1133856"/>
          </a:xfrm>
        </p:grpSpPr>
        <p:sp>
          <p:nvSpPr>
            <p:cNvPr name="Freeform 41" id="41"/>
            <p:cNvSpPr/>
            <p:nvPr/>
          </p:nvSpPr>
          <p:spPr>
            <a:xfrm flipH="false" flipV="false" rot="0">
              <a:off x="0" y="0"/>
              <a:ext cx="4937760" cy="1133856"/>
            </a:xfrm>
            <a:custGeom>
              <a:avLst/>
              <a:gdLst/>
              <a:ahLst/>
              <a:cxnLst/>
              <a:rect r="r" b="b" t="t" l="l"/>
              <a:pathLst>
                <a:path h="1133856" w="4937760">
                  <a:moveTo>
                    <a:pt x="0" y="0"/>
                  </a:moveTo>
                  <a:lnTo>
                    <a:pt x="4937760" y="0"/>
                  </a:lnTo>
                  <a:lnTo>
                    <a:pt x="4937760" y="1133856"/>
                  </a:lnTo>
                  <a:lnTo>
                    <a:pt x="0" y="1133856"/>
                  </a:lnTo>
                  <a:close/>
                </a:path>
              </a:pathLst>
            </a:custGeom>
            <a:blipFill>
              <a:blip r:embed="rId2">
                <a:alphaModFix amt="0"/>
              </a:blip>
              <a:stretch>
                <a:fillRect l="0" t="-34854" r="0" b="-34854"/>
              </a:stretch>
            </a:blipFill>
          </p:spPr>
        </p:sp>
        <p:sp>
          <p:nvSpPr>
            <p:cNvPr name="TextBox 42" id="42"/>
            <p:cNvSpPr txBox="true"/>
            <p:nvPr/>
          </p:nvSpPr>
          <p:spPr>
            <a:xfrm>
              <a:off x="0" y="-38100"/>
              <a:ext cx="4937760" cy="1171956"/>
            </a:xfrm>
            <a:prstGeom prst="rect">
              <a:avLst/>
            </a:prstGeom>
          </p:spPr>
          <p:txBody>
            <a:bodyPr anchor="ctr" rtlCol="false" tIns="0" lIns="0" bIns="0" rIns="0"/>
            <a:lstStyle/>
            <a:p>
              <a:pPr algn="ctr">
                <a:lnSpc>
                  <a:spcPts val="2250"/>
                </a:lnSpc>
              </a:pPr>
              <a:r>
                <a:rPr lang="en-US" sz="1875">
                  <a:solidFill>
                    <a:srgbClr val="0E1220"/>
                  </a:solidFill>
                  <a:latin typeface="Calibri (MS)"/>
                  <a:ea typeface="Calibri (MS)"/>
                  <a:cs typeface="Calibri (MS)"/>
                  <a:sym typeface="Calibri (MS)"/>
                </a:rPr>
                <a:t>1.155</a:t>
              </a:r>
            </a:p>
          </p:txBody>
        </p:sp>
      </p:grpSp>
      <p:grpSp>
        <p:nvGrpSpPr>
          <p:cNvPr name="Group 43" id="43"/>
          <p:cNvGrpSpPr/>
          <p:nvPr/>
        </p:nvGrpSpPr>
        <p:grpSpPr>
          <a:xfrm rot="0">
            <a:off x="13983176" y="3353276"/>
            <a:ext cx="3443288" cy="864680"/>
            <a:chOff x="0" y="0"/>
            <a:chExt cx="4591050" cy="1152906"/>
          </a:xfrm>
        </p:grpSpPr>
        <p:sp>
          <p:nvSpPr>
            <p:cNvPr name="Freeform 44" id="44"/>
            <p:cNvSpPr/>
            <p:nvPr/>
          </p:nvSpPr>
          <p:spPr>
            <a:xfrm flipH="false" flipV="false" rot="0">
              <a:off x="0" y="0"/>
              <a:ext cx="4591050" cy="1152906"/>
            </a:xfrm>
            <a:custGeom>
              <a:avLst/>
              <a:gdLst/>
              <a:ahLst/>
              <a:cxnLst/>
              <a:rect r="r" b="b" t="t" l="l"/>
              <a:pathLst>
                <a:path h="1152906" w="4591050">
                  <a:moveTo>
                    <a:pt x="0" y="0"/>
                  </a:moveTo>
                  <a:lnTo>
                    <a:pt x="4591050" y="0"/>
                  </a:lnTo>
                  <a:lnTo>
                    <a:pt x="4591050" y="1152906"/>
                  </a:lnTo>
                  <a:lnTo>
                    <a:pt x="0" y="1152906"/>
                  </a:lnTo>
                  <a:close/>
                </a:path>
              </a:pathLst>
            </a:custGeom>
            <a:solidFill>
              <a:srgbClr val="FFFFFF"/>
            </a:solidFill>
            <a:ln w="14288" cap="sq">
              <a:solidFill>
                <a:srgbClr val="E3E6F0"/>
              </a:solidFill>
              <a:prstDash val="solid"/>
              <a:miter/>
            </a:ln>
          </p:spPr>
        </p:sp>
      </p:grpSp>
      <p:grpSp>
        <p:nvGrpSpPr>
          <p:cNvPr name="Group 45" id="45"/>
          <p:cNvGrpSpPr/>
          <p:nvPr/>
        </p:nvGrpSpPr>
        <p:grpSpPr>
          <a:xfrm rot="0">
            <a:off x="13990320" y="3360420"/>
            <a:ext cx="3429000" cy="850392"/>
            <a:chOff x="0" y="0"/>
            <a:chExt cx="4572000" cy="1133856"/>
          </a:xfrm>
        </p:grpSpPr>
        <p:sp>
          <p:nvSpPr>
            <p:cNvPr name="Freeform 46" id="46"/>
            <p:cNvSpPr/>
            <p:nvPr/>
          </p:nvSpPr>
          <p:spPr>
            <a:xfrm flipH="false" flipV="false" rot="0">
              <a:off x="0" y="0"/>
              <a:ext cx="4572000" cy="1133856"/>
            </a:xfrm>
            <a:custGeom>
              <a:avLst/>
              <a:gdLst/>
              <a:ahLst/>
              <a:cxnLst/>
              <a:rect r="r" b="b" t="t" l="l"/>
              <a:pathLst>
                <a:path h="1133856" w="4572000">
                  <a:moveTo>
                    <a:pt x="0" y="0"/>
                  </a:moveTo>
                  <a:lnTo>
                    <a:pt x="4572000" y="0"/>
                  </a:lnTo>
                  <a:lnTo>
                    <a:pt x="4572000" y="1133856"/>
                  </a:lnTo>
                  <a:lnTo>
                    <a:pt x="0" y="1133856"/>
                  </a:lnTo>
                  <a:close/>
                </a:path>
              </a:pathLst>
            </a:custGeom>
            <a:blipFill>
              <a:blip r:embed="rId2">
                <a:alphaModFix amt="0"/>
              </a:blip>
              <a:stretch>
                <a:fillRect l="0" t="-28568" r="0" b="-28568"/>
              </a:stretch>
            </a:blipFill>
          </p:spPr>
        </p:sp>
        <p:sp>
          <p:nvSpPr>
            <p:cNvPr name="TextBox 47" id="47"/>
            <p:cNvSpPr txBox="true"/>
            <p:nvPr/>
          </p:nvSpPr>
          <p:spPr>
            <a:xfrm>
              <a:off x="0" y="-38100"/>
              <a:ext cx="4572000" cy="1171956"/>
            </a:xfrm>
            <a:prstGeom prst="rect">
              <a:avLst/>
            </a:prstGeom>
          </p:spPr>
          <p:txBody>
            <a:bodyPr anchor="ctr" rtlCol="false" tIns="0" lIns="0" bIns="0" rIns="0"/>
            <a:lstStyle/>
            <a:p>
              <a:pPr algn="ctr">
                <a:lnSpc>
                  <a:spcPts val="2250"/>
                </a:lnSpc>
              </a:pPr>
              <a:r>
                <a:rPr lang="en-US" sz="1875">
                  <a:solidFill>
                    <a:srgbClr val="0E1220"/>
                  </a:solidFill>
                  <a:latin typeface="Calibri (MS)"/>
                  <a:ea typeface="Calibri (MS)"/>
                  <a:cs typeface="Calibri (MS)"/>
                  <a:sym typeface="Calibri (MS)"/>
                </a:rPr>
                <a:t>402.8 s</a:t>
              </a:r>
            </a:p>
          </p:txBody>
        </p:sp>
      </p:grpSp>
      <p:grpSp>
        <p:nvGrpSpPr>
          <p:cNvPr name="Group 48" id="48"/>
          <p:cNvGrpSpPr/>
          <p:nvPr/>
        </p:nvGrpSpPr>
        <p:grpSpPr>
          <a:xfrm rot="0">
            <a:off x="815816" y="4203668"/>
            <a:ext cx="5775008" cy="864680"/>
            <a:chOff x="0" y="0"/>
            <a:chExt cx="7700010" cy="1152906"/>
          </a:xfrm>
        </p:grpSpPr>
        <p:sp>
          <p:nvSpPr>
            <p:cNvPr name="Freeform 49" id="49"/>
            <p:cNvSpPr/>
            <p:nvPr/>
          </p:nvSpPr>
          <p:spPr>
            <a:xfrm flipH="false" flipV="false" rot="0">
              <a:off x="0" y="0"/>
              <a:ext cx="7700010" cy="1152906"/>
            </a:xfrm>
            <a:custGeom>
              <a:avLst/>
              <a:gdLst/>
              <a:ahLst/>
              <a:cxnLst/>
              <a:rect r="r" b="b" t="t" l="l"/>
              <a:pathLst>
                <a:path h="1152906" w="7700010">
                  <a:moveTo>
                    <a:pt x="0" y="0"/>
                  </a:moveTo>
                  <a:lnTo>
                    <a:pt x="7700010" y="0"/>
                  </a:lnTo>
                  <a:lnTo>
                    <a:pt x="7700010" y="1152906"/>
                  </a:lnTo>
                  <a:lnTo>
                    <a:pt x="0" y="1152906"/>
                  </a:lnTo>
                  <a:close/>
                </a:path>
              </a:pathLst>
            </a:custGeom>
            <a:solidFill>
              <a:srgbClr val="F7F8FC"/>
            </a:solidFill>
            <a:ln w="14288" cap="sq">
              <a:solidFill>
                <a:srgbClr val="E3E6F0"/>
              </a:solidFill>
              <a:prstDash val="solid"/>
              <a:miter/>
            </a:ln>
          </p:spPr>
        </p:sp>
      </p:grpSp>
      <p:grpSp>
        <p:nvGrpSpPr>
          <p:cNvPr name="Group 50" id="50"/>
          <p:cNvGrpSpPr/>
          <p:nvPr/>
        </p:nvGrpSpPr>
        <p:grpSpPr>
          <a:xfrm rot="0">
            <a:off x="822960" y="4210812"/>
            <a:ext cx="5760720" cy="850392"/>
            <a:chOff x="0" y="0"/>
            <a:chExt cx="7680960" cy="1133856"/>
          </a:xfrm>
        </p:grpSpPr>
        <p:sp>
          <p:nvSpPr>
            <p:cNvPr name="Freeform 51" id="51"/>
            <p:cNvSpPr/>
            <p:nvPr/>
          </p:nvSpPr>
          <p:spPr>
            <a:xfrm flipH="false" flipV="false" rot="0">
              <a:off x="0" y="0"/>
              <a:ext cx="7680960" cy="1133856"/>
            </a:xfrm>
            <a:custGeom>
              <a:avLst/>
              <a:gdLst/>
              <a:ahLst/>
              <a:cxnLst/>
              <a:rect r="r" b="b" t="t" l="l"/>
              <a:pathLst>
                <a:path h="1133856" w="7680960">
                  <a:moveTo>
                    <a:pt x="0" y="0"/>
                  </a:moveTo>
                  <a:lnTo>
                    <a:pt x="7680960" y="0"/>
                  </a:lnTo>
                  <a:lnTo>
                    <a:pt x="7680960" y="1133856"/>
                  </a:lnTo>
                  <a:lnTo>
                    <a:pt x="0" y="1133856"/>
                  </a:lnTo>
                  <a:close/>
                </a:path>
              </a:pathLst>
            </a:custGeom>
            <a:blipFill>
              <a:blip r:embed="rId2">
                <a:alphaModFix amt="0"/>
              </a:blip>
              <a:stretch>
                <a:fillRect l="0" t="-81995" r="0" b="-81995"/>
              </a:stretch>
            </a:blipFill>
          </p:spPr>
        </p:sp>
        <p:sp>
          <p:nvSpPr>
            <p:cNvPr name="TextBox 52" id="52"/>
            <p:cNvSpPr txBox="true"/>
            <p:nvPr/>
          </p:nvSpPr>
          <p:spPr>
            <a:xfrm>
              <a:off x="0" y="-38100"/>
              <a:ext cx="7680960" cy="1171956"/>
            </a:xfrm>
            <a:prstGeom prst="rect">
              <a:avLst/>
            </a:prstGeom>
          </p:spPr>
          <p:txBody>
            <a:bodyPr anchor="ctr" rtlCol="false" tIns="0" lIns="0" bIns="0" rIns="0"/>
            <a:lstStyle/>
            <a:p>
              <a:pPr algn="l">
                <a:lnSpc>
                  <a:spcPts val="2250"/>
                </a:lnSpc>
              </a:pPr>
              <a:r>
                <a:rPr lang="en-US" sz="1875" b="true">
                  <a:solidFill>
                    <a:srgbClr val="0E1220"/>
                  </a:solidFill>
                  <a:latin typeface="Calibri (MS) Bold"/>
                  <a:ea typeface="Calibri (MS) Bold"/>
                  <a:cs typeface="Calibri (MS) Bold"/>
                  <a:sym typeface="Calibri (MS) Bold"/>
                </a:rPr>
                <a:t>SVM (RBF)</a:t>
              </a:r>
            </a:p>
          </p:txBody>
        </p:sp>
      </p:grpSp>
      <p:grpSp>
        <p:nvGrpSpPr>
          <p:cNvPr name="Group 53" id="53"/>
          <p:cNvGrpSpPr/>
          <p:nvPr/>
        </p:nvGrpSpPr>
        <p:grpSpPr>
          <a:xfrm rot="0">
            <a:off x="6576536" y="4203668"/>
            <a:ext cx="3717608" cy="864680"/>
            <a:chOff x="0" y="0"/>
            <a:chExt cx="4956810" cy="1152906"/>
          </a:xfrm>
        </p:grpSpPr>
        <p:sp>
          <p:nvSpPr>
            <p:cNvPr name="Freeform 54" id="54"/>
            <p:cNvSpPr/>
            <p:nvPr/>
          </p:nvSpPr>
          <p:spPr>
            <a:xfrm flipH="false" flipV="false" rot="0">
              <a:off x="0" y="0"/>
              <a:ext cx="4956810" cy="1152906"/>
            </a:xfrm>
            <a:custGeom>
              <a:avLst/>
              <a:gdLst/>
              <a:ahLst/>
              <a:cxnLst/>
              <a:rect r="r" b="b" t="t" l="l"/>
              <a:pathLst>
                <a:path h="1152906" w="4956810">
                  <a:moveTo>
                    <a:pt x="0" y="0"/>
                  </a:moveTo>
                  <a:lnTo>
                    <a:pt x="4956810" y="0"/>
                  </a:lnTo>
                  <a:lnTo>
                    <a:pt x="4956810" y="1152906"/>
                  </a:lnTo>
                  <a:lnTo>
                    <a:pt x="0" y="1152906"/>
                  </a:lnTo>
                  <a:close/>
                </a:path>
              </a:pathLst>
            </a:custGeom>
            <a:solidFill>
              <a:srgbClr val="F7F8FC"/>
            </a:solidFill>
            <a:ln w="14288" cap="sq">
              <a:solidFill>
                <a:srgbClr val="E3E6F0"/>
              </a:solidFill>
              <a:prstDash val="solid"/>
              <a:miter/>
            </a:ln>
          </p:spPr>
        </p:sp>
      </p:grpSp>
      <p:grpSp>
        <p:nvGrpSpPr>
          <p:cNvPr name="Group 55" id="55"/>
          <p:cNvGrpSpPr/>
          <p:nvPr/>
        </p:nvGrpSpPr>
        <p:grpSpPr>
          <a:xfrm rot="0">
            <a:off x="6583680" y="4210812"/>
            <a:ext cx="3703320" cy="850392"/>
            <a:chOff x="0" y="0"/>
            <a:chExt cx="4937760" cy="1133856"/>
          </a:xfrm>
        </p:grpSpPr>
        <p:sp>
          <p:nvSpPr>
            <p:cNvPr name="Freeform 56" id="56"/>
            <p:cNvSpPr/>
            <p:nvPr/>
          </p:nvSpPr>
          <p:spPr>
            <a:xfrm flipH="false" flipV="false" rot="0">
              <a:off x="0" y="0"/>
              <a:ext cx="4937760" cy="1133856"/>
            </a:xfrm>
            <a:custGeom>
              <a:avLst/>
              <a:gdLst/>
              <a:ahLst/>
              <a:cxnLst/>
              <a:rect r="r" b="b" t="t" l="l"/>
              <a:pathLst>
                <a:path h="1133856" w="4937760">
                  <a:moveTo>
                    <a:pt x="0" y="0"/>
                  </a:moveTo>
                  <a:lnTo>
                    <a:pt x="4937760" y="0"/>
                  </a:lnTo>
                  <a:lnTo>
                    <a:pt x="4937760" y="1133856"/>
                  </a:lnTo>
                  <a:lnTo>
                    <a:pt x="0" y="1133856"/>
                  </a:lnTo>
                  <a:close/>
                </a:path>
              </a:pathLst>
            </a:custGeom>
            <a:blipFill>
              <a:blip r:embed="rId2">
                <a:alphaModFix amt="0"/>
              </a:blip>
              <a:stretch>
                <a:fillRect l="0" t="-34854" r="0" b="-34854"/>
              </a:stretch>
            </a:blipFill>
          </p:spPr>
        </p:sp>
        <p:sp>
          <p:nvSpPr>
            <p:cNvPr name="TextBox 57" id="57"/>
            <p:cNvSpPr txBox="true"/>
            <p:nvPr/>
          </p:nvSpPr>
          <p:spPr>
            <a:xfrm>
              <a:off x="0" y="-38100"/>
              <a:ext cx="4937760" cy="1171956"/>
            </a:xfrm>
            <a:prstGeom prst="rect">
              <a:avLst/>
            </a:prstGeom>
          </p:spPr>
          <p:txBody>
            <a:bodyPr anchor="ctr" rtlCol="false" tIns="0" lIns="0" bIns="0" rIns="0"/>
            <a:lstStyle/>
            <a:p>
              <a:pPr algn="ctr">
                <a:lnSpc>
                  <a:spcPts val="2250"/>
                </a:lnSpc>
              </a:pPr>
              <a:r>
                <a:rPr lang="en-US" sz="1875">
                  <a:solidFill>
                    <a:srgbClr val="0E1220"/>
                  </a:solidFill>
                  <a:latin typeface="Calibri (MS)"/>
                  <a:ea typeface="Calibri (MS)"/>
                  <a:cs typeface="Calibri (MS)"/>
                  <a:sym typeface="Calibri (MS)"/>
                </a:rPr>
                <a:t>0.361</a:t>
              </a:r>
            </a:p>
          </p:txBody>
        </p:sp>
      </p:grpSp>
      <p:grpSp>
        <p:nvGrpSpPr>
          <p:cNvPr name="Group 58" id="58"/>
          <p:cNvGrpSpPr/>
          <p:nvPr/>
        </p:nvGrpSpPr>
        <p:grpSpPr>
          <a:xfrm rot="0">
            <a:off x="10279856" y="4203668"/>
            <a:ext cx="3717608" cy="864680"/>
            <a:chOff x="0" y="0"/>
            <a:chExt cx="4956810" cy="1152906"/>
          </a:xfrm>
        </p:grpSpPr>
        <p:sp>
          <p:nvSpPr>
            <p:cNvPr name="Freeform 59" id="59"/>
            <p:cNvSpPr/>
            <p:nvPr/>
          </p:nvSpPr>
          <p:spPr>
            <a:xfrm flipH="false" flipV="false" rot="0">
              <a:off x="0" y="0"/>
              <a:ext cx="4956810" cy="1152906"/>
            </a:xfrm>
            <a:custGeom>
              <a:avLst/>
              <a:gdLst/>
              <a:ahLst/>
              <a:cxnLst/>
              <a:rect r="r" b="b" t="t" l="l"/>
              <a:pathLst>
                <a:path h="1152906" w="4956810">
                  <a:moveTo>
                    <a:pt x="0" y="0"/>
                  </a:moveTo>
                  <a:lnTo>
                    <a:pt x="4956810" y="0"/>
                  </a:lnTo>
                  <a:lnTo>
                    <a:pt x="4956810" y="1152906"/>
                  </a:lnTo>
                  <a:lnTo>
                    <a:pt x="0" y="1152906"/>
                  </a:lnTo>
                  <a:close/>
                </a:path>
              </a:pathLst>
            </a:custGeom>
            <a:solidFill>
              <a:srgbClr val="F7F8FC"/>
            </a:solidFill>
            <a:ln w="14288" cap="sq">
              <a:solidFill>
                <a:srgbClr val="E3E6F0"/>
              </a:solidFill>
              <a:prstDash val="solid"/>
              <a:miter/>
            </a:ln>
          </p:spPr>
        </p:sp>
      </p:grpSp>
      <p:grpSp>
        <p:nvGrpSpPr>
          <p:cNvPr name="Group 60" id="60"/>
          <p:cNvGrpSpPr/>
          <p:nvPr/>
        </p:nvGrpSpPr>
        <p:grpSpPr>
          <a:xfrm rot="0">
            <a:off x="10287000" y="4210812"/>
            <a:ext cx="3703320" cy="850392"/>
            <a:chOff x="0" y="0"/>
            <a:chExt cx="4937760" cy="1133856"/>
          </a:xfrm>
        </p:grpSpPr>
        <p:sp>
          <p:nvSpPr>
            <p:cNvPr name="Freeform 61" id="61"/>
            <p:cNvSpPr/>
            <p:nvPr/>
          </p:nvSpPr>
          <p:spPr>
            <a:xfrm flipH="false" flipV="false" rot="0">
              <a:off x="0" y="0"/>
              <a:ext cx="4937760" cy="1133856"/>
            </a:xfrm>
            <a:custGeom>
              <a:avLst/>
              <a:gdLst/>
              <a:ahLst/>
              <a:cxnLst/>
              <a:rect r="r" b="b" t="t" l="l"/>
              <a:pathLst>
                <a:path h="1133856" w="4937760">
                  <a:moveTo>
                    <a:pt x="0" y="0"/>
                  </a:moveTo>
                  <a:lnTo>
                    <a:pt x="4937760" y="0"/>
                  </a:lnTo>
                  <a:lnTo>
                    <a:pt x="4937760" y="1133856"/>
                  </a:lnTo>
                  <a:lnTo>
                    <a:pt x="0" y="1133856"/>
                  </a:lnTo>
                  <a:close/>
                </a:path>
              </a:pathLst>
            </a:custGeom>
            <a:blipFill>
              <a:blip r:embed="rId2">
                <a:alphaModFix amt="0"/>
              </a:blip>
              <a:stretch>
                <a:fillRect l="0" t="-34854" r="0" b="-34854"/>
              </a:stretch>
            </a:blipFill>
          </p:spPr>
        </p:sp>
        <p:sp>
          <p:nvSpPr>
            <p:cNvPr name="TextBox 62" id="62"/>
            <p:cNvSpPr txBox="true"/>
            <p:nvPr/>
          </p:nvSpPr>
          <p:spPr>
            <a:xfrm>
              <a:off x="0" y="-38100"/>
              <a:ext cx="4937760" cy="1171956"/>
            </a:xfrm>
            <a:prstGeom prst="rect">
              <a:avLst/>
            </a:prstGeom>
          </p:spPr>
          <p:txBody>
            <a:bodyPr anchor="ctr" rtlCol="false" tIns="0" lIns="0" bIns="0" rIns="0"/>
            <a:lstStyle/>
            <a:p>
              <a:pPr algn="ctr">
                <a:lnSpc>
                  <a:spcPts val="2250"/>
                </a:lnSpc>
              </a:pPr>
              <a:r>
                <a:rPr lang="en-US" sz="1875">
                  <a:solidFill>
                    <a:srgbClr val="0E1220"/>
                  </a:solidFill>
                  <a:latin typeface="Calibri (MS)"/>
                  <a:ea typeface="Calibri (MS)"/>
                  <a:cs typeface="Calibri (MS)"/>
                  <a:sym typeface="Calibri (MS)"/>
                </a:rPr>
                <a:t>4.000</a:t>
              </a:r>
            </a:p>
          </p:txBody>
        </p:sp>
      </p:grpSp>
      <p:grpSp>
        <p:nvGrpSpPr>
          <p:cNvPr name="Group 63" id="63"/>
          <p:cNvGrpSpPr/>
          <p:nvPr/>
        </p:nvGrpSpPr>
        <p:grpSpPr>
          <a:xfrm rot="0">
            <a:off x="13983176" y="4203668"/>
            <a:ext cx="3443288" cy="864680"/>
            <a:chOff x="0" y="0"/>
            <a:chExt cx="4591050" cy="1152906"/>
          </a:xfrm>
        </p:grpSpPr>
        <p:sp>
          <p:nvSpPr>
            <p:cNvPr name="Freeform 64" id="64"/>
            <p:cNvSpPr/>
            <p:nvPr/>
          </p:nvSpPr>
          <p:spPr>
            <a:xfrm flipH="false" flipV="false" rot="0">
              <a:off x="0" y="0"/>
              <a:ext cx="4591050" cy="1152906"/>
            </a:xfrm>
            <a:custGeom>
              <a:avLst/>
              <a:gdLst/>
              <a:ahLst/>
              <a:cxnLst/>
              <a:rect r="r" b="b" t="t" l="l"/>
              <a:pathLst>
                <a:path h="1152906" w="4591050">
                  <a:moveTo>
                    <a:pt x="0" y="0"/>
                  </a:moveTo>
                  <a:lnTo>
                    <a:pt x="4591050" y="0"/>
                  </a:lnTo>
                  <a:lnTo>
                    <a:pt x="4591050" y="1152906"/>
                  </a:lnTo>
                  <a:lnTo>
                    <a:pt x="0" y="1152906"/>
                  </a:lnTo>
                  <a:close/>
                </a:path>
              </a:pathLst>
            </a:custGeom>
            <a:solidFill>
              <a:srgbClr val="F7F8FC"/>
            </a:solidFill>
            <a:ln w="14288" cap="sq">
              <a:solidFill>
                <a:srgbClr val="E3E6F0"/>
              </a:solidFill>
              <a:prstDash val="solid"/>
              <a:miter/>
            </a:ln>
          </p:spPr>
        </p:sp>
      </p:grpSp>
      <p:grpSp>
        <p:nvGrpSpPr>
          <p:cNvPr name="Group 65" id="65"/>
          <p:cNvGrpSpPr/>
          <p:nvPr/>
        </p:nvGrpSpPr>
        <p:grpSpPr>
          <a:xfrm rot="0">
            <a:off x="13990320" y="4210812"/>
            <a:ext cx="3429000" cy="850392"/>
            <a:chOff x="0" y="0"/>
            <a:chExt cx="4572000" cy="1133856"/>
          </a:xfrm>
        </p:grpSpPr>
        <p:sp>
          <p:nvSpPr>
            <p:cNvPr name="Freeform 66" id="66"/>
            <p:cNvSpPr/>
            <p:nvPr/>
          </p:nvSpPr>
          <p:spPr>
            <a:xfrm flipH="false" flipV="false" rot="0">
              <a:off x="0" y="0"/>
              <a:ext cx="4572000" cy="1133856"/>
            </a:xfrm>
            <a:custGeom>
              <a:avLst/>
              <a:gdLst/>
              <a:ahLst/>
              <a:cxnLst/>
              <a:rect r="r" b="b" t="t" l="l"/>
              <a:pathLst>
                <a:path h="1133856" w="4572000">
                  <a:moveTo>
                    <a:pt x="0" y="0"/>
                  </a:moveTo>
                  <a:lnTo>
                    <a:pt x="4572000" y="0"/>
                  </a:lnTo>
                  <a:lnTo>
                    <a:pt x="4572000" y="1133856"/>
                  </a:lnTo>
                  <a:lnTo>
                    <a:pt x="0" y="1133856"/>
                  </a:lnTo>
                  <a:close/>
                </a:path>
              </a:pathLst>
            </a:custGeom>
            <a:blipFill>
              <a:blip r:embed="rId2">
                <a:alphaModFix amt="0"/>
              </a:blip>
              <a:stretch>
                <a:fillRect l="0" t="-28568" r="0" b="-28568"/>
              </a:stretch>
            </a:blipFill>
          </p:spPr>
        </p:sp>
        <p:sp>
          <p:nvSpPr>
            <p:cNvPr name="TextBox 67" id="67"/>
            <p:cNvSpPr txBox="true"/>
            <p:nvPr/>
          </p:nvSpPr>
          <p:spPr>
            <a:xfrm>
              <a:off x="0" y="-38100"/>
              <a:ext cx="4572000" cy="1171956"/>
            </a:xfrm>
            <a:prstGeom prst="rect">
              <a:avLst/>
            </a:prstGeom>
          </p:spPr>
          <p:txBody>
            <a:bodyPr anchor="ctr" rtlCol="false" tIns="0" lIns="0" bIns="0" rIns="0"/>
            <a:lstStyle/>
            <a:p>
              <a:pPr algn="ctr">
                <a:lnSpc>
                  <a:spcPts val="2250"/>
                </a:lnSpc>
              </a:pPr>
              <a:r>
                <a:rPr lang="en-US" sz="1875">
                  <a:solidFill>
                    <a:srgbClr val="0E1220"/>
                  </a:solidFill>
                  <a:latin typeface="Calibri (MS)"/>
                  <a:ea typeface="Calibri (MS)"/>
                  <a:cs typeface="Calibri (MS)"/>
                  <a:sym typeface="Calibri (MS)"/>
                </a:rPr>
                <a:t>1.2 s</a:t>
              </a:r>
            </a:p>
          </p:txBody>
        </p:sp>
      </p:grpSp>
      <p:grpSp>
        <p:nvGrpSpPr>
          <p:cNvPr name="Group 68" id="68"/>
          <p:cNvGrpSpPr/>
          <p:nvPr/>
        </p:nvGrpSpPr>
        <p:grpSpPr>
          <a:xfrm rot="0">
            <a:off x="815816" y="5054060"/>
            <a:ext cx="5775008" cy="864680"/>
            <a:chOff x="0" y="0"/>
            <a:chExt cx="7700010" cy="1152906"/>
          </a:xfrm>
        </p:grpSpPr>
        <p:sp>
          <p:nvSpPr>
            <p:cNvPr name="Freeform 69" id="69"/>
            <p:cNvSpPr/>
            <p:nvPr/>
          </p:nvSpPr>
          <p:spPr>
            <a:xfrm flipH="false" flipV="false" rot="0">
              <a:off x="0" y="0"/>
              <a:ext cx="7700010" cy="1152906"/>
            </a:xfrm>
            <a:custGeom>
              <a:avLst/>
              <a:gdLst/>
              <a:ahLst/>
              <a:cxnLst/>
              <a:rect r="r" b="b" t="t" l="l"/>
              <a:pathLst>
                <a:path h="1152906" w="7700010">
                  <a:moveTo>
                    <a:pt x="0" y="0"/>
                  </a:moveTo>
                  <a:lnTo>
                    <a:pt x="7700010" y="0"/>
                  </a:lnTo>
                  <a:lnTo>
                    <a:pt x="7700010" y="1152906"/>
                  </a:lnTo>
                  <a:lnTo>
                    <a:pt x="0" y="1152906"/>
                  </a:lnTo>
                  <a:close/>
                </a:path>
              </a:pathLst>
            </a:custGeom>
            <a:solidFill>
              <a:srgbClr val="E9FBF6"/>
            </a:solidFill>
            <a:ln w="14288" cap="sq">
              <a:solidFill>
                <a:srgbClr val="E3E6F0"/>
              </a:solidFill>
              <a:prstDash val="solid"/>
              <a:miter/>
            </a:ln>
          </p:spPr>
        </p:sp>
      </p:grpSp>
      <p:grpSp>
        <p:nvGrpSpPr>
          <p:cNvPr name="Group 70" id="70"/>
          <p:cNvGrpSpPr/>
          <p:nvPr/>
        </p:nvGrpSpPr>
        <p:grpSpPr>
          <a:xfrm rot="0">
            <a:off x="822960" y="5061204"/>
            <a:ext cx="5760720" cy="850392"/>
            <a:chOff x="0" y="0"/>
            <a:chExt cx="7680960" cy="1133856"/>
          </a:xfrm>
        </p:grpSpPr>
        <p:sp>
          <p:nvSpPr>
            <p:cNvPr name="Freeform 71" id="71"/>
            <p:cNvSpPr/>
            <p:nvPr/>
          </p:nvSpPr>
          <p:spPr>
            <a:xfrm flipH="false" flipV="false" rot="0">
              <a:off x="0" y="0"/>
              <a:ext cx="7680960" cy="1133856"/>
            </a:xfrm>
            <a:custGeom>
              <a:avLst/>
              <a:gdLst/>
              <a:ahLst/>
              <a:cxnLst/>
              <a:rect r="r" b="b" t="t" l="l"/>
              <a:pathLst>
                <a:path h="1133856" w="7680960">
                  <a:moveTo>
                    <a:pt x="0" y="0"/>
                  </a:moveTo>
                  <a:lnTo>
                    <a:pt x="7680960" y="0"/>
                  </a:lnTo>
                  <a:lnTo>
                    <a:pt x="7680960" y="1133856"/>
                  </a:lnTo>
                  <a:lnTo>
                    <a:pt x="0" y="1133856"/>
                  </a:lnTo>
                  <a:close/>
                </a:path>
              </a:pathLst>
            </a:custGeom>
            <a:blipFill>
              <a:blip r:embed="rId2">
                <a:alphaModFix amt="0"/>
              </a:blip>
              <a:stretch>
                <a:fillRect l="0" t="-81995" r="0" b="-81995"/>
              </a:stretch>
            </a:blipFill>
          </p:spPr>
        </p:sp>
        <p:sp>
          <p:nvSpPr>
            <p:cNvPr name="TextBox 72" id="72"/>
            <p:cNvSpPr txBox="true"/>
            <p:nvPr/>
          </p:nvSpPr>
          <p:spPr>
            <a:xfrm>
              <a:off x="0" y="-38100"/>
              <a:ext cx="7680960" cy="1171956"/>
            </a:xfrm>
            <a:prstGeom prst="rect">
              <a:avLst/>
            </a:prstGeom>
          </p:spPr>
          <p:txBody>
            <a:bodyPr anchor="ctr" rtlCol="false" tIns="0" lIns="0" bIns="0" rIns="0"/>
            <a:lstStyle/>
            <a:p>
              <a:pPr algn="l">
                <a:lnSpc>
                  <a:spcPts val="2250"/>
                </a:lnSpc>
              </a:pPr>
              <a:r>
                <a:rPr lang="en-US" sz="1875" b="true">
                  <a:solidFill>
                    <a:srgbClr val="0E1220"/>
                  </a:solidFill>
                  <a:latin typeface="Calibri (MS) Bold"/>
                  <a:ea typeface="Calibri (MS) Bold"/>
                  <a:cs typeface="Calibri (MS) Bold"/>
                  <a:sym typeface="Calibri (MS) Bold"/>
                </a:rPr>
                <a:t>DNN manual</a:t>
              </a:r>
            </a:p>
          </p:txBody>
        </p:sp>
      </p:grpSp>
      <p:grpSp>
        <p:nvGrpSpPr>
          <p:cNvPr name="Group 73" id="73"/>
          <p:cNvGrpSpPr/>
          <p:nvPr/>
        </p:nvGrpSpPr>
        <p:grpSpPr>
          <a:xfrm rot="0">
            <a:off x="6576536" y="5054060"/>
            <a:ext cx="3717608" cy="864680"/>
            <a:chOff x="0" y="0"/>
            <a:chExt cx="4956810" cy="1152906"/>
          </a:xfrm>
        </p:grpSpPr>
        <p:sp>
          <p:nvSpPr>
            <p:cNvPr name="Freeform 74" id="74"/>
            <p:cNvSpPr/>
            <p:nvPr/>
          </p:nvSpPr>
          <p:spPr>
            <a:xfrm flipH="false" flipV="false" rot="0">
              <a:off x="0" y="0"/>
              <a:ext cx="4956810" cy="1152906"/>
            </a:xfrm>
            <a:custGeom>
              <a:avLst/>
              <a:gdLst/>
              <a:ahLst/>
              <a:cxnLst/>
              <a:rect r="r" b="b" t="t" l="l"/>
              <a:pathLst>
                <a:path h="1152906" w="4956810">
                  <a:moveTo>
                    <a:pt x="0" y="0"/>
                  </a:moveTo>
                  <a:lnTo>
                    <a:pt x="4956810" y="0"/>
                  </a:lnTo>
                  <a:lnTo>
                    <a:pt x="4956810" y="1152906"/>
                  </a:lnTo>
                  <a:lnTo>
                    <a:pt x="0" y="1152906"/>
                  </a:lnTo>
                  <a:close/>
                </a:path>
              </a:pathLst>
            </a:custGeom>
            <a:solidFill>
              <a:srgbClr val="E9FBF6"/>
            </a:solidFill>
            <a:ln w="14288" cap="sq">
              <a:solidFill>
                <a:srgbClr val="E3E6F0"/>
              </a:solidFill>
              <a:prstDash val="solid"/>
              <a:miter/>
            </a:ln>
          </p:spPr>
        </p:sp>
      </p:grpSp>
      <p:grpSp>
        <p:nvGrpSpPr>
          <p:cNvPr name="Group 75" id="75"/>
          <p:cNvGrpSpPr/>
          <p:nvPr/>
        </p:nvGrpSpPr>
        <p:grpSpPr>
          <a:xfrm rot="0">
            <a:off x="6583680" y="5061204"/>
            <a:ext cx="3703320" cy="850392"/>
            <a:chOff x="0" y="0"/>
            <a:chExt cx="4937760" cy="1133856"/>
          </a:xfrm>
        </p:grpSpPr>
        <p:sp>
          <p:nvSpPr>
            <p:cNvPr name="Freeform 76" id="76"/>
            <p:cNvSpPr/>
            <p:nvPr/>
          </p:nvSpPr>
          <p:spPr>
            <a:xfrm flipH="false" flipV="false" rot="0">
              <a:off x="0" y="0"/>
              <a:ext cx="4937760" cy="1133856"/>
            </a:xfrm>
            <a:custGeom>
              <a:avLst/>
              <a:gdLst/>
              <a:ahLst/>
              <a:cxnLst/>
              <a:rect r="r" b="b" t="t" l="l"/>
              <a:pathLst>
                <a:path h="1133856" w="4937760">
                  <a:moveTo>
                    <a:pt x="0" y="0"/>
                  </a:moveTo>
                  <a:lnTo>
                    <a:pt x="4937760" y="0"/>
                  </a:lnTo>
                  <a:lnTo>
                    <a:pt x="4937760" y="1133856"/>
                  </a:lnTo>
                  <a:lnTo>
                    <a:pt x="0" y="1133856"/>
                  </a:lnTo>
                  <a:close/>
                </a:path>
              </a:pathLst>
            </a:custGeom>
            <a:blipFill>
              <a:blip r:embed="rId2">
                <a:alphaModFix amt="0"/>
              </a:blip>
              <a:stretch>
                <a:fillRect l="0" t="-34854" r="0" b="-34854"/>
              </a:stretch>
            </a:blipFill>
          </p:spPr>
        </p:sp>
        <p:sp>
          <p:nvSpPr>
            <p:cNvPr name="TextBox 77" id="77"/>
            <p:cNvSpPr txBox="true"/>
            <p:nvPr/>
          </p:nvSpPr>
          <p:spPr>
            <a:xfrm>
              <a:off x="0" y="-38100"/>
              <a:ext cx="4937760" cy="1171956"/>
            </a:xfrm>
            <a:prstGeom prst="rect">
              <a:avLst/>
            </a:prstGeom>
          </p:spPr>
          <p:txBody>
            <a:bodyPr anchor="ctr" rtlCol="false" tIns="0" lIns="0" bIns="0" rIns="0"/>
            <a:lstStyle/>
            <a:p>
              <a:pPr algn="ctr">
                <a:lnSpc>
                  <a:spcPts val="2250"/>
                </a:lnSpc>
              </a:pPr>
              <a:r>
                <a:rPr lang="en-US" sz="1875" b="true">
                  <a:solidFill>
                    <a:srgbClr val="00D1B2"/>
                  </a:solidFill>
                  <a:latin typeface="Calibri (MS) Bold"/>
                  <a:ea typeface="Calibri (MS) Bold"/>
                  <a:cs typeface="Calibri (MS) Bold"/>
                  <a:sym typeface="Calibri (MS) Bold"/>
                </a:rPr>
                <a:t>0.604</a:t>
              </a:r>
            </a:p>
          </p:txBody>
        </p:sp>
      </p:grpSp>
      <p:grpSp>
        <p:nvGrpSpPr>
          <p:cNvPr name="Group 78" id="78"/>
          <p:cNvGrpSpPr/>
          <p:nvPr/>
        </p:nvGrpSpPr>
        <p:grpSpPr>
          <a:xfrm rot="0">
            <a:off x="10279856" y="5054060"/>
            <a:ext cx="3717608" cy="864680"/>
            <a:chOff x="0" y="0"/>
            <a:chExt cx="4956810" cy="1152906"/>
          </a:xfrm>
        </p:grpSpPr>
        <p:sp>
          <p:nvSpPr>
            <p:cNvPr name="Freeform 79" id="79"/>
            <p:cNvSpPr/>
            <p:nvPr/>
          </p:nvSpPr>
          <p:spPr>
            <a:xfrm flipH="false" flipV="false" rot="0">
              <a:off x="0" y="0"/>
              <a:ext cx="4956810" cy="1152906"/>
            </a:xfrm>
            <a:custGeom>
              <a:avLst/>
              <a:gdLst/>
              <a:ahLst/>
              <a:cxnLst/>
              <a:rect r="r" b="b" t="t" l="l"/>
              <a:pathLst>
                <a:path h="1152906" w="4956810">
                  <a:moveTo>
                    <a:pt x="0" y="0"/>
                  </a:moveTo>
                  <a:lnTo>
                    <a:pt x="4956810" y="0"/>
                  </a:lnTo>
                  <a:lnTo>
                    <a:pt x="4956810" y="1152906"/>
                  </a:lnTo>
                  <a:lnTo>
                    <a:pt x="0" y="1152906"/>
                  </a:lnTo>
                  <a:close/>
                </a:path>
              </a:pathLst>
            </a:custGeom>
            <a:solidFill>
              <a:srgbClr val="E9FBF6"/>
            </a:solidFill>
            <a:ln w="14288" cap="sq">
              <a:solidFill>
                <a:srgbClr val="E3E6F0"/>
              </a:solidFill>
              <a:prstDash val="solid"/>
              <a:miter/>
            </a:ln>
          </p:spPr>
        </p:sp>
      </p:grpSp>
      <p:grpSp>
        <p:nvGrpSpPr>
          <p:cNvPr name="Group 80" id="80"/>
          <p:cNvGrpSpPr/>
          <p:nvPr/>
        </p:nvGrpSpPr>
        <p:grpSpPr>
          <a:xfrm rot="0">
            <a:off x="10287000" y="5061204"/>
            <a:ext cx="3703320" cy="850392"/>
            <a:chOff x="0" y="0"/>
            <a:chExt cx="4937760" cy="1133856"/>
          </a:xfrm>
        </p:grpSpPr>
        <p:sp>
          <p:nvSpPr>
            <p:cNvPr name="Freeform 81" id="81"/>
            <p:cNvSpPr/>
            <p:nvPr/>
          </p:nvSpPr>
          <p:spPr>
            <a:xfrm flipH="false" flipV="false" rot="0">
              <a:off x="0" y="0"/>
              <a:ext cx="4937760" cy="1133856"/>
            </a:xfrm>
            <a:custGeom>
              <a:avLst/>
              <a:gdLst/>
              <a:ahLst/>
              <a:cxnLst/>
              <a:rect r="r" b="b" t="t" l="l"/>
              <a:pathLst>
                <a:path h="1133856" w="4937760">
                  <a:moveTo>
                    <a:pt x="0" y="0"/>
                  </a:moveTo>
                  <a:lnTo>
                    <a:pt x="4937760" y="0"/>
                  </a:lnTo>
                  <a:lnTo>
                    <a:pt x="4937760" y="1133856"/>
                  </a:lnTo>
                  <a:lnTo>
                    <a:pt x="0" y="1133856"/>
                  </a:lnTo>
                  <a:close/>
                </a:path>
              </a:pathLst>
            </a:custGeom>
            <a:blipFill>
              <a:blip r:embed="rId2">
                <a:alphaModFix amt="0"/>
              </a:blip>
              <a:stretch>
                <a:fillRect l="0" t="-34854" r="0" b="-34854"/>
              </a:stretch>
            </a:blipFill>
          </p:spPr>
        </p:sp>
        <p:sp>
          <p:nvSpPr>
            <p:cNvPr name="TextBox 82" id="82"/>
            <p:cNvSpPr txBox="true"/>
            <p:nvPr/>
          </p:nvSpPr>
          <p:spPr>
            <a:xfrm>
              <a:off x="0" y="-38100"/>
              <a:ext cx="4937760" cy="1171956"/>
            </a:xfrm>
            <a:prstGeom prst="rect">
              <a:avLst/>
            </a:prstGeom>
          </p:spPr>
          <p:txBody>
            <a:bodyPr anchor="ctr" rtlCol="false" tIns="0" lIns="0" bIns="0" rIns="0"/>
            <a:lstStyle/>
            <a:p>
              <a:pPr algn="ctr">
                <a:lnSpc>
                  <a:spcPts val="2250"/>
                </a:lnSpc>
              </a:pPr>
              <a:r>
                <a:rPr lang="en-US" sz="1875" b="true">
                  <a:solidFill>
                    <a:srgbClr val="00D1B2"/>
                  </a:solidFill>
                  <a:latin typeface="Calibri (MS) Bold"/>
                  <a:ea typeface="Calibri (MS) Bold"/>
                  <a:cs typeface="Calibri (MS) Bold"/>
                  <a:sym typeface="Calibri (MS) Bold"/>
                </a:rPr>
                <a:t>21.263</a:t>
              </a:r>
            </a:p>
          </p:txBody>
        </p:sp>
      </p:grpSp>
      <p:grpSp>
        <p:nvGrpSpPr>
          <p:cNvPr name="Group 83" id="83"/>
          <p:cNvGrpSpPr/>
          <p:nvPr/>
        </p:nvGrpSpPr>
        <p:grpSpPr>
          <a:xfrm rot="0">
            <a:off x="13983176" y="5054060"/>
            <a:ext cx="3443288" cy="864680"/>
            <a:chOff x="0" y="0"/>
            <a:chExt cx="4591050" cy="1152906"/>
          </a:xfrm>
        </p:grpSpPr>
        <p:sp>
          <p:nvSpPr>
            <p:cNvPr name="Freeform 84" id="84"/>
            <p:cNvSpPr/>
            <p:nvPr/>
          </p:nvSpPr>
          <p:spPr>
            <a:xfrm flipH="false" flipV="false" rot="0">
              <a:off x="0" y="0"/>
              <a:ext cx="4591050" cy="1152906"/>
            </a:xfrm>
            <a:custGeom>
              <a:avLst/>
              <a:gdLst/>
              <a:ahLst/>
              <a:cxnLst/>
              <a:rect r="r" b="b" t="t" l="l"/>
              <a:pathLst>
                <a:path h="1152906" w="4591050">
                  <a:moveTo>
                    <a:pt x="0" y="0"/>
                  </a:moveTo>
                  <a:lnTo>
                    <a:pt x="4591050" y="0"/>
                  </a:lnTo>
                  <a:lnTo>
                    <a:pt x="4591050" y="1152906"/>
                  </a:lnTo>
                  <a:lnTo>
                    <a:pt x="0" y="1152906"/>
                  </a:lnTo>
                  <a:close/>
                </a:path>
              </a:pathLst>
            </a:custGeom>
            <a:solidFill>
              <a:srgbClr val="E9FBF6"/>
            </a:solidFill>
            <a:ln w="14288" cap="sq">
              <a:solidFill>
                <a:srgbClr val="E3E6F0"/>
              </a:solidFill>
              <a:prstDash val="solid"/>
              <a:miter/>
            </a:ln>
          </p:spPr>
        </p:sp>
      </p:grpSp>
      <p:grpSp>
        <p:nvGrpSpPr>
          <p:cNvPr name="Group 85" id="85"/>
          <p:cNvGrpSpPr/>
          <p:nvPr/>
        </p:nvGrpSpPr>
        <p:grpSpPr>
          <a:xfrm rot="0">
            <a:off x="13990320" y="5061204"/>
            <a:ext cx="3429000" cy="850392"/>
            <a:chOff x="0" y="0"/>
            <a:chExt cx="4572000" cy="1133856"/>
          </a:xfrm>
        </p:grpSpPr>
        <p:sp>
          <p:nvSpPr>
            <p:cNvPr name="Freeform 86" id="86"/>
            <p:cNvSpPr/>
            <p:nvPr/>
          </p:nvSpPr>
          <p:spPr>
            <a:xfrm flipH="false" flipV="false" rot="0">
              <a:off x="0" y="0"/>
              <a:ext cx="4572000" cy="1133856"/>
            </a:xfrm>
            <a:custGeom>
              <a:avLst/>
              <a:gdLst/>
              <a:ahLst/>
              <a:cxnLst/>
              <a:rect r="r" b="b" t="t" l="l"/>
              <a:pathLst>
                <a:path h="1133856" w="4572000">
                  <a:moveTo>
                    <a:pt x="0" y="0"/>
                  </a:moveTo>
                  <a:lnTo>
                    <a:pt x="4572000" y="0"/>
                  </a:lnTo>
                  <a:lnTo>
                    <a:pt x="4572000" y="1133856"/>
                  </a:lnTo>
                  <a:lnTo>
                    <a:pt x="0" y="1133856"/>
                  </a:lnTo>
                  <a:close/>
                </a:path>
              </a:pathLst>
            </a:custGeom>
            <a:blipFill>
              <a:blip r:embed="rId2">
                <a:alphaModFix amt="0"/>
              </a:blip>
              <a:stretch>
                <a:fillRect l="0" t="-28568" r="0" b="-28568"/>
              </a:stretch>
            </a:blipFill>
          </p:spPr>
        </p:sp>
        <p:sp>
          <p:nvSpPr>
            <p:cNvPr name="TextBox 87" id="87"/>
            <p:cNvSpPr txBox="true"/>
            <p:nvPr/>
          </p:nvSpPr>
          <p:spPr>
            <a:xfrm>
              <a:off x="0" y="-38100"/>
              <a:ext cx="4572000" cy="1171956"/>
            </a:xfrm>
            <a:prstGeom prst="rect">
              <a:avLst/>
            </a:prstGeom>
          </p:spPr>
          <p:txBody>
            <a:bodyPr anchor="ctr" rtlCol="false" tIns="0" lIns="0" bIns="0" rIns="0"/>
            <a:lstStyle/>
            <a:p>
              <a:pPr algn="ctr">
                <a:lnSpc>
                  <a:spcPts val="2250"/>
                </a:lnSpc>
              </a:pPr>
              <a:r>
                <a:rPr lang="en-US" sz="1875" b="true">
                  <a:solidFill>
                    <a:srgbClr val="00D1B2"/>
                  </a:solidFill>
                  <a:latin typeface="Calibri (MS) Bold"/>
                  <a:ea typeface="Calibri (MS) Bold"/>
                  <a:cs typeface="Calibri (MS) Bold"/>
                  <a:sym typeface="Calibri (MS) Bold"/>
                </a:rPr>
                <a:t>—</a:t>
              </a:r>
            </a:p>
          </p:txBody>
        </p:sp>
      </p:grpSp>
      <p:grpSp>
        <p:nvGrpSpPr>
          <p:cNvPr name="Group 88" id="88"/>
          <p:cNvGrpSpPr/>
          <p:nvPr/>
        </p:nvGrpSpPr>
        <p:grpSpPr>
          <a:xfrm rot="0">
            <a:off x="822960" y="6391656"/>
            <a:ext cx="16596360" cy="1234440"/>
            <a:chOff x="0" y="0"/>
            <a:chExt cx="22128480" cy="1645920"/>
          </a:xfrm>
        </p:grpSpPr>
        <p:sp>
          <p:nvSpPr>
            <p:cNvPr name="Freeform 89" id="89"/>
            <p:cNvSpPr/>
            <p:nvPr/>
          </p:nvSpPr>
          <p:spPr>
            <a:xfrm flipH="false" flipV="false" rot="0">
              <a:off x="0" y="0"/>
              <a:ext cx="22128480" cy="1645920"/>
            </a:xfrm>
            <a:custGeom>
              <a:avLst/>
              <a:gdLst/>
              <a:ahLst/>
              <a:cxnLst/>
              <a:rect r="r" b="b" t="t" l="l"/>
              <a:pathLst>
                <a:path h="1645920" w="22128480">
                  <a:moveTo>
                    <a:pt x="0" y="0"/>
                  </a:moveTo>
                  <a:lnTo>
                    <a:pt x="22128480" y="0"/>
                  </a:lnTo>
                  <a:lnTo>
                    <a:pt x="22128480" y="1645920"/>
                  </a:lnTo>
                  <a:lnTo>
                    <a:pt x="0" y="1645920"/>
                  </a:lnTo>
                  <a:close/>
                </a:path>
              </a:pathLst>
            </a:custGeom>
            <a:blipFill>
              <a:blip r:embed="rId2">
                <a:alphaModFix amt="0"/>
              </a:blip>
              <a:stretch>
                <a:fillRect l="0" t="-211965" r="0" b="-211965"/>
              </a:stretch>
            </a:blipFill>
          </p:spPr>
        </p:sp>
        <p:sp>
          <p:nvSpPr>
            <p:cNvPr name="TextBox 90" id="90"/>
            <p:cNvSpPr txBox="true"/>
            <p:nvPr/>
          </p:nvSpPr>
          <p:spPr>
            <a:xfrm>
              <a:off x="0" y="-104775"/>
              <a:ext cx="22128480" cy="1750695"/>
            </a:xfrm>
            <a:prstGeom prst="rect">
              <a:avLst/>
            </a:prstGeom>
          </p:spPr>
          <p:txBody>
            <a:bodyPr anchor="ctr" rtlCol="false" tIns="0" lIns="0" bIns="0" rIns="0"/>
            <a:lstStyle/>
            <a:p>
              <a:pPr algn="l">
                <a:lnSpc>
                  <a:spcPts val="2925"/>
                </a:lnSpc>
              </a:pPr>
              <a:r>
                <a:rPr lang="en-US" sz="1950">
                  <a:solidFill>
                    <a:srgbClr val="0E1220"/>
                  </a:solidFill>
                  <a:latin typeface="Calibri (MS)"/>
                  <a:ea typeface="Calibri (MS)"/>
                  <a:cs typeface="Calibri (MS)"/>
                  <a:sym typeface="Calibri (MS)"/>
                </a:rPr>
                <a:t>La DNN mejora el macro-F1 en +0.19 sobre la Regresión Logística, con 21.263 parámetros, evidencia de que la no linealidad ayuda, pero el costo de entrenamiento y la complejidad también suben considerablemente.</a:t>
              </a:r>
            </a:p>
          </p:txBody>
        </p:sp>
      </p:grpSp>
      <p:grpSp>
        <p:nvGrpSpPr>
          <p:cNvPr name="Group 91" id="91"/>
          <p:cNvGrpSpPr/>
          <p:nvPr/>
        </p:nvGrpSpPr>
        <p:grpSpPr>
          <a:xfrm rot="0">
            <a:off x="822960" y="7488936"/>
            <a:ext cx="16596360" cy="548640"/>
            <a:chOff x="0" y="0"/>
            <a:chExt cx="22128480" cy="731520"/>
          </a:xfrm>
        </p:grpSpPr>
        <p:sp>
          <p:nvSpPr>
            <p:cNvPr name="Freeform 92" id="92"/>
            <p:cNvSpPr/>
            <p:nvPr/>
          </p:nvSpPr>
          <p:spPr>
            <a:xfrm flipH="false" flipV="false" rot="0">
              <a:off x="0" y="0"/>
              <a:ext cx="22128480" cy="731520"/>
            </a:xfrm>
            <a:custGeom>
              <a:avLst/>
              <a:gdLst/>
              <a:ahLst/>
              <a:cxnLst/>
              <a:rect r="r" b="b" t="t" l="l"/>
              <a:pathLst>
                <a:path h="731520" w="22128480">
                  <a:moveTo>
                    <a:pt x="0" y="0"/>
                  </a:moveTo>
                  <a:lnTo>
                    <a:pt x="22128480" y="0"/>
                  </a:lnTo>
                  <a:lnTo>
                    <a:pt x="22128480" y="731520"/>
                  </a:lnTo>
                  <a:lnTo>
                    <a:pt x="0" y="731520"/>
                  </a:lnTo>
                  <a:close/>
                </a:path>
              </a:pathLst>
            </a:custGeom>
            <a:blipFill>
              <a:blip r:embed="rId2">
                <a:alphaModFix amt="0"/>
              </a:blip>
              <a:stretch>
                <a:fillRect l="0" t="-539422" r="0" b="-539422"/>
              </a:stretch>
            </a:blipFill>
          </p:spPr>
        </p:sp>
        <p:sp>
          <p:nvSpPr>
            <p:cNvPr name="TextBox 93" id="93"/>
            <p:cNvSpPr txBox="true"/>
            <p:nvPr/>
          </p:nvSpPr>
          <p:spPr>
            <a:xfrm>
              <a:off x="0" y="-28575"/>
              <a:ext cx="22128480" cy="760095"/>
            </a:xfrm>
            <a:prstGeom prst="rect">
              <a:avLst/>
            </a:prstGeom>
          </p:spPr>
          <p:txBody>
            <a:bodyPr anchor="ctr" rtlCol="false" tIns="0" lIns="0" bIns="0" rIns="0"/>
            <a:lstStyle/>
            <a:p>
              <a:pPr algn="l">
                <a:lnSpc>
                  <a:spcPts val="1980"/>
                </a:lnSpc>
              </a:pPr>
              <a:r>
                <a:rPr lang="en-US" sz="1650" i="true">
                  <a:solidFill>
                    <a:srgbClr val="6B7280"/>
                  </a:solidFill>
                  <a:latin typeface="Calibri (MS) Italics"/>
                  <a:ea typeface="Calibri (MS) Italics"/>
                  <a:cs typeface="Calibri (MS) Italics"/>
                  <a:sym typeface="Calibri (MS) Italics"/>
                </a:rPr>
                <a:t>La comparación completa (incluyendo AutoML y NAS) se arma en la Parte 2, reutilizando estos mismos artefactos.</a:t>
              </a:r>
            </a:p>
          </p:txBody>
        </p:sp>
      </p:grpSp>
      <p:grpSp>
        <p:nvGrpSpPr>
          <p:cNvPr name="Group 94" id="94"/>
          <p:cNvGrpSpPr/>
          <p:nvPr/>
        </p:nvGrpSpPr>
        <p:grpSpPr>
          <a:xfrm rot="0">
            <a:off x="17053103" y="9601200"/>
            <a:ext cx="822960" cy="411480"/>
            <a:chOff x="0" y="0"/>
            <a:chExt cx="1097280" cy="548640"/>
          </a:xfrm>
        </p:grpSpPr>
        <p:sp>
          <p:nvSpPr>
            <p:cNvPr name="Freeform 95" id="95"/>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96" id="96"/>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10</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2 · 2.1 AUTOML</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Búsqueda automática de una técnica simple (FLAML)</a:t>
              </a:r>
            </a:p>
          </p:txBody>
        </p:sp>
      </p:grpSp>
      <p:grpSp>
        <p:nvGrpSpPr>
          <p:cNvPr name="Group 8" id="8"/>
          <p:cNvGrpSpPr/>
          <p:nvPr/>
        </p:nvGrpSpPr>
        <p:grpSpPr>
          <a:xfrm rot="0">
            <a:off x="822960" y="2537460"/>
            <a:ext cx="9738360" cy="2743200"/>
            <a:chOff x="0" y="0"/>
            <a:chExt cx="12984480" cy="3657600"/>
          </a:xfrm>
        </p:grpSpPr>
        <p:sp>
          <p:nvSpPr>
            <p:cNvPr name="Freeform 9" id="9"/>
            <p:cNvSpPr/>
            <p:nvPr/>
          </p:nvSpPr>
          <p:spPr>
            <a:xfrm flipH="false" flipV="false" rot="0">
              <a:off x="0" y="0"/>
              <a:ext cx="12984480" cy="3657600"/>
            </a:xfrm>
            <a:custGeom>
              <a:avLst/>
              <a:gdLst/>
              <a:ahLst/>
              <a:cxnLst/>
              <a:rect r="r" b="b" t="t" l="l"/>
              <a:pathLst>
                <a:path h="3657600" w="12984480">
                  <a:moveTo>
                    <a:pt x="0" y="0"/>
                  </a:moveTo>
                  <a:lnTo>
                    <a:pt x="12984480" y="0"/>
                  </a:lnTo>
                  <a:lnTo>
                    <a:pt x="12984480" y="3657600"/>
                  </a:lnTo>
                  <a:lnTo>
                    <a:pt x="0" y="3657600"/>
                  </a:lnTo>
                  <a:close/>
                </a:path>
              </a:pathLst>
            </a:custGeom>
            <a:blipFill>
              <a:blip r:embed="rId2">
                <a:alphaModFix amt="0"/>
              </a:blip>
              <a:stretch>
                <a:fillRect l="0" t="-19171" r="0" b="-19171"/>
              </a:stretch>
            </a:blipFill>
          </p:spPr>
        </p:sp>
        <p:sp>
          <p:nvSpPr>
            <p:cNvPr name="TextBox 10" id="10"/>
            <p:cNvSpPr txBox="true"/>
            <p:nvPr/>
          </p:nvSpPr>
          <p:spPr>
            <a:xfrm>
              <a:off x="0" y="-104775"/>
              <a:ext cx="12984480" cy="3762375"/>
            </a:xfrm>
            <a:prstGeom prst="rect">
              <a:avLst/>
            </a:prstGeom>
          </p:spPr>
          <p:txBody>
            <a:bodyPr anchor="ctr" rtlCol="false" tIns="0" lIns="0" bIns="0" rIns="0"/>
            <a:lstStyle/>
            <a:p>
              <a:pPr algn="l">
                <a:lnSpc>
                  <a:spcPts val="3159"/>
                </a:lnSpc>
              </a:pPr>
              <a:r>
                <a:rPr lang="en-US" sz="2025">
                  <a:solidFill>
                    <a:srgbClr val="0E1220"/>
                  </a:solidFill>
                  <a:latin typeface="Calibri (MS)"/>
                  <a:ea typeface="Calibri (MS)"/>
                  <a:cs typeface="Calibri (MS)"/>
                  <a:sym typeface="Calibri (MS)"/>
                </a:rPr>
                <a:t>Se restringe estimator_list a técnicas de baja complejidad, regresión logística regularizada, k-NN, un árbol “extra” y se desactiva el ensamblado, entonces el enunciado pide una técnica de baja complejidad, no un stack de varios modelos. La métrica de selección es macro-F1, evaluada con el mismo split de validación que la DNN.</a:t>
              </a:r>
            </a:p>
          </p:txBody>
        </p:sp>
      </p:grpSp>
      <p:grpSp>
        <p:nvGrpSpPr>
          <p:cNvPr name="Group 11" id="11"/>
          <p:cNvGrpSpPr/>
          <p:nvPr/>
        </p:nvGrpSpPr>
        <p:grpSpPr>
          <a:xfrm rot="0">
            <a:off x="822960" y="5486400"/>
            <a:ext cx="466344" cy="466344"/>
            <a:chOff x="0" y="0"/>
            <a:chExt cx="621792" cy="621792"/>
          </a:xfrm>
        </p:grpSpPr>
        <p:sp>
          <p:nvSpPr>
            <p:cNvPr name="Freeform 12" id="12"/>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E9FBF6"/>
            </a:solidFill>
          </p:spPr>
        </p:sp>
      </p:grpSp>
      <p:grpSp>
        <p:nvGrpSpPr>
          <p:cNvPr name="Group 13" id="13"/>
          <p:cNvGrpSpPr/>
          <p:nvPr/>
        </p:nvGrpSpPr>
        <p:grpSpPr>
          <a:xfrm rot="0">
            <a:off x="822960" y="5486400"/>
            <a:ext cx="466344" cy="466344"/>
            <a:chOff x="0" y="0"/>
            <a:chExt cx="621792" cy="621792"/>
          </a:xfrm>
        </p:grpSpPr>
        <p:sp>
          <p:nvSpPr>
            <p:cNvPr name="Freeform 14" id="14"/>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2">
                <a:alphaModFix amt="0"/>
              </a:blip>
              <a:stretch>
                <a:fillRect l="-78303" t="0" r="-78303" b="0"/>
              </a:stretch>
            </a:blipFill>
          </p:spPr>
        </p:sp>
        <p:sp>
          <p:nvSpPr>
            <p:cNvPr name="TextBox 15" id="15"/>
            <p:cNvSpPr txBox="true"/>
            <p:nvPr/>
          </p:nvSpPr>
          <p:spPr>
            <a:xfrm>
              <a:off x="0" y="-47625"/>
              <a:ext cx="621792" cy="669417"/>
            </a:xfrm>
            <a:prstGeom prst="rect">
              <a:avLst/>
            </a:prstGeom>
          </p:spPr>
          <p:txBody>
            <a:bodyPr anchor="ctr" rtlCol="false" tIns="0" lIns="0" bIns="0" rIns="0"/>
            <a:lstStyle/>
            <a:p>
              <a:pPr algn="ctr">
                <a:lnSpc>
                  <a:spcPts val="2520"/>
                </a:lnSpc>
              </a:pPr>
              <a:r>
                <a:rPr lang="en-US" sz="2100" b="true">
                  <a:solidFill>
                    <a:srgbClr val="00D1B2"/>
                  </a:solidFill>
                  <a:latin typeface="Calibri (MS) Bold"/>
                  <a:ea typeface="Calibri (MS) Bold"/>
                  <a:cs typeface="Calibri (MS) Bold"/>
                  <a:sym typeface="Calibri (MS) Bold"/>
                </a:rPr>
                <a:t>✓</a:t>
              </a:r>
            </a:p>
          </p:txBody>
        </p:sp>
      </p:grpSp>
      <p:grpSp>
        <p:nvGrpSpPr>
          <p:cNvPr name="Group 16" id="16"/>
          <p:cNvGrpSpPr/>
          <p:nvPr/>
        </p:nvGrpSpPr>
        <p:grpSpPr>
          <a:xfrm rot="0">
            <a:off x="1508760" y="5417820"/>
            <a:ext cx="9052560" cy="603504"/>
            <a:chOff x="0" y="0"/>
            <a:chExt cx="12070080" cy="804672"/>
          </a:xfrm>
        </p:grpSpPr>
        <p:sp>
          <p:nvSpPr>
            <p:cNvPr name="Freeform 17" id="17"/>
            <p:cNvSpPr/>
            <p:nvPr/>
          </p:nvSpPr>
          <p:spPr>
            <a:xfrm flipH="false" flipV="false" rot="0">
              <a:off x="0" y="0"/>
              <a:ext cx="12070080" cy="804672"/>
            </a:xfrm>
            <a:custGeom>
              <a:avLst/>
              <a:gdLst/>
              <a:ahLst/>
              <a:cxnLst/>
              <a:rect r="r" b="b" t="t" l="l"/>
              <a:pathLst>
                <a:path h="804672" w="12070080">
                  <a:moveTo>
                    <a:pt x="0" y="0"/>
                  </a:moveTo>
                  <a:lnTo>
                    <a:pt x="12070080" y="0"/>
                  </a:lnTo>
                  <a:lnTo>
                    <a:pt x="12070080" y="804672"/>
                  </a:lnTo>
                  <a:lnTo>
                    <a:pt x="0" y="804672"/>
                  </a:lnTo>
                  <a:close/>
                </a:path>
              </a:pathLst>
            </a:custGeom>
            <a:blipFill>
              <a:blip r:embed="rId2">
                <a:alphaModFix amt="0"/>
              </a:blip>
              <a:stretch>
                <a:fillRect l="0" t="-242275" r="0" b="-242275"/>
              </a:stretch>
            </a:blipFill>
          </p:spPr>
        </p:sp>
        <p:sp>
          <p:nvSpPr>
            <p:cNvPr name="TextBox 18" id="18"/>
            <p:cNvSpPr txBox="true"/>
            <p:nvPr/>
          </p:nvSpPr>
          <p:spPr>
            <a:xfrm>
              <a:off x="0" y="-38100"/>
              <a:ext cx="12070080" cy="842772"/>
            </a:xfrm>
            <a:prstGeom prst="rect">
              <a:avLst/>
            </a:prstGeom>
          </p:spPr>
          <p:txBody>
            <a:bodyPr anchor="ctr" rtlCol="false" tIns="0" lIns="0" bIns="0" rIns="0"/>
            <a:lstStyle/>
            <a:p>
              <a:pPr algn="l">
                <a:lnSpc>
                  <a:spcPts val="2160"/>
                </a:lnSpc>
              </a:pPr>
              <a:r>
                <a:rPr lang="en-US" sz="1800" b="true">
                  <a:solidFill>
                    <a:srgbClr val="0E1220"/>
                  </a:solidFill>
                  <a:latin typeface="Calibri (MS) Bold"/>
                  <a:ea typeface="Calibri (MS) Bold"/>
                  <a:cs typeface="Calibri (MS) Bold"/>
                  <a:sym typeface="Calibri (MS) Bold"/>
                </a:rPr>
                <a:t>Espacio restringido: </a:t>
              </a:r>
              <a:r>
                <a:rPr lang="en-US" sz="1800">
                  <a:solidFill>
                    <a:srgbClr val="6B7280"/>
                  </a:solidFill>
                  <a:latin typeface="Calibri (MS)"/>
                  <a:ea typeface="Calibri (MS)"/>
                  <a:cs typeface="Calibri (MS)"/>
                  <a:sym typeface="Calibri (MS)"/>
                </a:rPr>
                <a:t>LR regularizada · k-NN · Extra Trees</a:t>
              </a:r>
            </a:p>
          </p:txBody>
        </p:sp>
      </p:grpSp>
      <p:grpSp>
        <p:nvGrpSpPr>
          <p:cNvPr name="Group 19" id="19"/>
          <p:cNvGrpSpPr/>
          <p:nvPr/>
        </p:nvGrpSpPr>
        <p:grpSpPr>
          <a:xfrm rot="0">
            <a:off x="822960" y="6240780"/>
            <a:ext cx="466344" cy="466344"/>
            <a:chOff x="0" y="0"/>
            <a:chExt cx="621792" cy="621792"/>
          </a:xfrm>
        </p:grpSpPr>
        <p:sp>
          <p:nvSpPr>
            <p:cNvPr name="Freeform 20" id="20"/>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E9FBF6"/>
            </a:solidFill>
          </p:spPr>
        </p:sp>
      </p:grpSp>
      <p:grpSp>
        <p:nvGrpSpPr>
          <p:cNvPr name="Group 21" id="21"/>
          <p:cNvGrpSpPr/>
          <p:nvPr/>
        </p:nvGrpSpPr>
        <p:grpSpPr>
          <a:xfrm rot="0">
            <a:off x="822960" y="6240780"/>
            <a:ext cx="466344" cy="466344"/>
            <a:chOff x="0" y="0"/>
            <a:chExt cx="621792" cy="621792"/>
          </a:xfrm>
        </p:grpSpPr>
        <p:sp>
          <p:nvSpPr>
            <p:cNvPr name="Freeform 22" id="22"/>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2">
                <a:alphaModFix amt="0"/>
              </a:blip>
              <a:stretch>
                <a:fillRect l="-78303" t="0" r="-78303" b="0"/>
              </a:stretch>
            </a:blipFill>
          </p:spPr>
        </p:sp>
        <p:sp>
          <p:nvSpPr>
            <p:cNvPr name="TextBox 23" id="23"/>
            <p:cNvSpPr txBox="true"/>
            <p:nvPr/>
          </p:nvSpPr>
          <p:spPr>
            <a:xfrm>
              <a:off x="0" y="-47625"/>
              <a:ext cx="621792" cy="669417"/>
            </a:xfrm>
            <a:prstGeom prst="rect">
              <a:avLst/>
            </a:prstGeom>
          </p:spPr>
          <p:txBody>
            <a:bodyPr anchor="ctr" rtlCol="false" tIns="0" lIns="0" bIns="0" rIns="0"/>
            <a:lstStyle/>
            <a:p>
              <a:pPr algn="ctr">
                <a:lnSpc>
                  <a:spcPts val="2520"/>
                </a:lnSpc>
              </a:pPr>
              <a:r>
                <a:rPr lang="en-US" sz="2100" b="true">
                  <a:solidFill>
                    <a:srgbClr val="00D1B2"/>
                  </a:solidFill>
                  <a:latin typeface="Calibri (MS) Bold"/>
                  <a:ea typeface="Calibri (MS) Bold"/>
                  <a:cs typeface="Calibri (MS) Bold"/>
                  <a:sym typeface="Calibri (MS) Bold"/>
                </a:rPr>
                <a:t>✓</a:t>
              </a:r>
            </a:p>
          </p:txBody>
        </p:sp>
      </p:grpSp>
      <p:grpSp>
        <p:nvGrpSpPr>
          <p:cNvPr name="Group 24" id="24"/>
          <p:cNvGrpSpPr/>
          <p:nvPr/>
        </p:nvGrpSpPr>
        <p:grpSpPr>
          <a:xfrm rot="0">
            <a:off x="1508760" y="6172200"/>
            <a:ext cx="9052560" cy="603504"/>
            <a:chOff x="0" y="0"/>
            <a:chExt cx="12070080" cy="804672"/>
          </a:xfrm>
        </p:grpSpPr>
        <p:sp>
          <p:nvSpPr>
            <p:cNvPr name="Freeform 25" id="25"/>
            <p:cNvSpPr/>
            <p:nvPr/>
          </p:nvSpPr>
          <p:spPr>
            <a:xfrm flipH="false" flipV="false" rot="0">
              <a:off x="0" y="0"/>
              <a:ext cx="12070080" cy="804672"/>
            </a:xfrm>
            <a:custGeom>
              <a:avLst/>
              <a:gdLst/>
              <a:ahLst/>
              <a:cxnLst/>
              <a:rect r="r" b="b" t="t" l="l"/>
              <a:pathLst>
                <a:path h="804672" w="12070080">
                  <a:moveTo>
                    <a:pt x="0" y="0"/>
                  </a:moveTo>
                  <a:lnTo>
                    <a:pt x="12070080" y="0"/>
                  </a:lnTo>
                  <a:lnTo>
                    <a:pt x="12070080" y="804672"/>
                  </a:lnTo>
                  <a:lnTo>
                    <a:pt x="0" y="804672"/>
                  </a:lnTo>
                  <a:close/>
                </a:path>
              </a:pathLst>
            </a:custGeom>
            <a:blipFill>
              <a:blip r:embed="rId2">
                <a:alphaModFix amt="0"/>
              </a:blip>
              <a:stretch>
                <a:fillRect l="0" t="-242275" r="0" b="-242275"/>
              </a:stretch>
            </a:blipFill>
          </p:spPr>
        </p:sp>
        <p:sp>
          <p:nvSpPr>
            <p:cNvPr name="TextBox 26" id="26"/>
            <p:cNvSpPr txBox="true"/>
            <p:nvPr/>
          </p:nvSpPr>
          <p:spPr>
            <a:xfrm>
              <a:off x="0" y="-38100"/>
              <a:ext cx="12070080" cy="842772"/>
            </a:xfrm>
            <a:prstGeom prst="rect">
              <a:avLst/>
            </a:prstGeom>
          </p:spPr>
          <p:txBody>
            <a:bodyPr anchor="ctr" rtlCol="false" tIns="0" lIns="0" bIns="0" rIns="0"/>
            <a:lstStyle/>
            <a:p>
              <a:pPr algn="l">
                <a:lnSpc>
                  <a:spcPts val="2160"/>
                </a:lnSpc>
              </a:pPr>
              <a:r>
                <a:rPr lang="en-US" sz="1800" b="true">
                  <a:solidFill>
                    <a:srgbClr val="0E1220"/>
                  </a:solidFill>
                  <a:latin typeface="Calibri (MS) Bold"/>
                  <a:ea typeface="Calibri (MS) Bold"/>
                  <a:cs typeface="Calibri (MS) Bold"/>
                  <a:sym typeface="Calibri (MS) Bold"/>
                </a:rPr>
                <a:t>Ensamblado: </a:t>
              </a:r>
              <a:r>
                <a:rPr lang="en-US" sz="1800">
                  <a:solidFill>
                    <a:srgbClr val="6B7280"/>
                  </a:solidFill>
                  <a:latin typeface="Calibri (MS)"/>
                  <a:ea typeface="Calibri (MS)"/>
                  <a:cs typeface="Calibri (MS)"/>
                  <a:sym typeface="Calibri (MS)"/>
                </a:rPr>
                <a:t>Desactivado (ensemble=False)</a:t>
              </a:r>
            </a:p>
          </p:txBody>
        </p:sp>
      </p:grpSp>
      <p:grpSp>
        <p:nvGrpSpPr>
          <p:cNvPr name="Group 27" id="27"/>
          <p:cNvGrpSpPr/>
          <p:nvPr/>
        </p:nvGrpSpPr>
        <p:grpSpPr>
          <a:xfrm rot="0">
            <a:off x="822960" y="6995160"/>
            <a:ext cx="466344" cy="466344"/>
            <a:chOff x="0" y="0"/>
            <a:chExt cx="621792" cy="621792"/>
          </a:xfrm>
        </p:grpSpPr>
        <p:sp>
          <p:nvSpPr>
            <p:cNvPr name="Freeform 28" id="28"/>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E9FBF6"/>
            </a:solidFill>
          </p:spPr>
        </p:sp>
      </p:grpSp>
      <p:grpSp>
        <p:nvGrpSpPr>
          <p:cNvPr name="Group 29" id="29"/>
          <p:cNvGrpSpPr/>
          <p:nvPr/>
        </p:nvGrpSpPr>
        <p:grpSpPr>
          <a:xfrm rot="0">
            <a:off x="822960" y="6995160"/>
            <a:ext cx="466344" cy="466344"/>
            <a:chOff x="0" y="0"/>
            <a:chExt cx="621792" cy="621792"/>
          </a:xfrm>
        </p:grpSpPr>
        <p:sp>
          <p:nvSpPr>
            <p:cNvPr name="Freeform 30" id="30"/>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2">
                <a:alphaModFix amt="0"/>
              </a:blip>
              <a:stretch>
                <a:fillRect l="-78303" t="0" r="-78303" b="0"/>
              </a:stretch>
            </a:blipFill>
          </p:spPr>
        </p:sp>
        <p:sp>
          <p:nvSpPr>
            <p:cNvPr name="TextBox 31" id="31"/>
            <p:cNvSpPr txBox="true"/>
            <p:nvPr/>
          </p:nvSpPr>
          <p:spPr>
            <a:xfrm>
              <a:off x="0" y="-47625"/>
              <a:ext cx="621792" cy="669417"/>
            </a:xfrm>
            <a:prstGeom prst="rect">
              <a:avLst/>
            </a:prstGeom>
          </p:spPr>
          <p:txBody>
            <a:bodyPr anchor="ctr" rtlCol="false" tIns="0" lIns="0" bIns="0" rIns="0"/>
            <a:lstStyle/>
            <a:p>
              <a:pPr algn="ctr">
                <a:lnSpc>
                  <a:spcPts val="2520"/>
                </a:lnSpc>
              </a:pPr>
              <a:r>
                <a:rPr lang="en-US" sz="2100" b="true">
                  <a:solidFill>
                    <a:srgbClr val="00D1B2"/>
                  </a:solidFill>
                  <a:latin typeface="Calibri (MS) Bold"/>
                  <a:ea typeface="Calibri (MS) Bold"/>
                  <a:cs typeface="Calibri (MS) Bold"/>
                  <a:sym typeface="Calibri (MS) Bold"/>
                </a:rPr>
                <a:t>✓</a:t>
              </a:r>
            </a:p>
          </p:txBody>
        </p:sp>
      </p:grpSp>
      <p:grpSp>
        <p:nvGrpSpPr>
          <p:cNvPr name="Group 32" id="32"/>
          <p:cNvGrpSpPr/>
          <p:nvPr/>
        </p:nvGrpSpPr>
        <p:grpSpPr>
          <a:xfrm rot="0">
            <a:off x="1508760" y="6926580"/>
            <a:ext cx="9052560" cy="603504"/>
            <a:chOff x="0" y="0"/>
            <a:chExt cx="12070080" cy="804672"/>
          </a:xfrm>
        </p:grpSpPr>
        <p:sp>
          <p:nvSpPr>
            <p:cNvPr name="Freeform 33" id="33"/>
            <p:cNvSpPr/>
            <p:nvPr/>
          </p:nvSpPr>
          <p:spPr>
            <a:xfrm flipH="false" flipV="false" rot="0">
              <a:off x="0" y="0"/>
              <a:ext cx="12070080" cy="804672"/>
            </a:xfrm>
            <a:custGeom>
              <a:avLst/>
              <a:gdLst/>
              <a:ahLst/>
              <a:cxnLst/>
              <a:rect r="r" b="b" t="t" l="l"/>
              <a:pathLst>
                <a:path h="804672" w="12070080">
                  <a:moveTo>
                    <a:pt x="0" y="0"/>
                  </a:moveTo>
                  <a:lnTo>
                    <a:pt x="12070080" y="0"/>
                  </a:lnTo>
                  <a:lnTo>
                    <a:pt x="12070080" y="804672"/>
                  </a:lnTo>
                  <a:lnTo>
                    <a:pt x="0" y="804672"/>
                  </a:lnTo>
                  <a:close/>
                </a:path>
              </a:pathLst>
            </a:custGeom>
            <a:blipFill>
              <a:blip r:embed="rId2">
                <a:alphaModFix amt="0"/>
              </a:blip>
              <a:stretch>
                <a:fillRect l="0" t="-242275" r="0" b="-242275"/>
              </a:stretch>
            </a:blipFill>
          </p:spPr>
        </p:sp>
        <p:sp>
          <p:nvSpPr>
            <p:cNvPr name="TextBox 34" id="34"/>
            <p:cNvSpPr txBox="true"/>
            <p:nvPr/>
          </p:nvSpPr>
          <p:spPr>
            <a:xfrm>
              <a:off x="0" y="-38100"/>
              <a:ext cx="12070080" cy="842772"/>
            </a:xfrm>
            <a:prstGeom prst="rect">
              <a:avLst/>
            </a:prstGeom>
          </p:spPr>
          <p:txBody>
            <a:bodyPr anchor="ctr" rtlCol="false" tIns="0" lIns="0" bIns="0" rIns="0"/>
            <a:lstStyle/>
            <a:p>
              <a:pPr algn="l">
                <a:lnSpc>
                  <a:spcPts val="2160"/>
                </a:lnSpc>
              </a:pPr>
              <a:r>
                <a:rPr lang="en-US" sz="1800" b="true">
                  <a:solidFill>
                    <a:srgbClr val="0E1220"/>
                  </a:solidFill>
                  <a:latin typeface="Calibri (MS) Bold"/>
                  <a:ea typeface="Calibri (MS) Bold"/>
                  <a:cs typeface="Calibri (MS) Bold"/>
                  <a:sym typeface="Calibri (MS) Bold"/>
                </a:rPr>
                <a:t>Métrica de selección: </a:t>
              </a:r>
              <a:r>
                <a:rPr lang="en-US" sz="1800">
                  <a:solidFill>
                    <a:srgbClr val="6B7280"/>
                  </a:solidFill>
                  <a:latin typeface="Calibri (MS)"/>
                  <a:ea typeface="Calibri (MS)"/>
                  <a:cs typeface="Calibri (MS)"/>
                  <a:sym typeface="Calibri (MS)"/>
                </a:rPr>
                <a:t>macro-F1, mismo split de validación</a:t>
              </a:r>
            </a:p>
          </p:txBody>
        </p:sp>
      </p:grpSp>
      <p:grpSp>
        <p:nvGrpSpPr>
          <p:cNvPr name="Group 35" id="35"/>
          <p:cNvGrpSpPr/>
          <p:nvPr/>
        </p:nvGrpSpPr>
        <p:grpSpPr>
          <a:xfrm rot="0">
            <a:off x="11109960" y="2537460"/>
            <a:ext cx="6309360" cy="5349240"/>
            <a:chOff x="0" y="0"/>
            <a:chExt cx="8412480" cy="7132320"/>
          </a:xfrm>
        </p:grpSpPr>
        <p:sp>
          <p:nvSpPr>
            <p:cNvPr name="Freeform 36" id="36"/>
            <p:cNvSpPr/>
            <p:nvPr/>
          </p:nvSpPr>
          <p:spPr>
            <a:xfrm flipH="false" flipV="false" rot="0">
              <a:off x="0" y="0"/>
              <a:ext cx="8412480" cy="7132320"/>
            </a:xfrm>
            <a:custGeom>
              <a:avLst/>
              <a:gdLst/>
              <a:ahLst/>
              <a:cxnLst/>
              <a:rect r="r" b="b" t="t" l="l"/>
              <a:pathLst>
                <a:path h="7132320" w="8412480">
                  <a:moveTo>
                    <a:pt x="0" y="182880"/>
                  </a:moveTo>
                  <a:cubicBezTo>
                    <a:pt x="0" y="81915"/>
                    <a:pt x="81915" y="0"/>
                    <a:pt x="182880" y="0"/>
                  </a:cubicBezTo>
                  <a:lnTo>
                    <a:pt x="8229600" y="0"/>
                  </a:lnTo>
                  <a:cubicBezTo>
                    <a:pt x="8330565" y="0"/>
                    <a:pt x="8412480" y="81915"/>
                    <a:pt x="8412480" y="182880"/>
                  </a:cubicBezTo>
                  <a:lnTo>
                    <a:pt x="8412480" y="6949440"/>
                  </a:lnTo>
                  <a:cubicBezTo>
                    <a:pt x="8412480" y="7050405"/>
                    <a:pt x="8330565" y="7132320"/>
                    <a:pt x="8229600" y="7132320"/>
                  </a:cubicBezTo>
                  <a:lnTo>
                    <a:pt x="182880" y="7132320"/>
                  </a:lnTo>
                  <a:cubicBezTo>
                    <a:pt x="81915" y="7132320"/>
                    <a:pt x="0" y="7050405"/>
                    <a:pt x="0" y="6949440"/>
                  </a:cubicBezTo>
                  <a:close/>
                </a:path>
              </a:pathLst>
            </a:custGeom>
            <a:solidFill>
              <a:srgbClr val="10162B"/>
            </a:solidFill>
          </p:spPr>
        </p:sp>
      </p:grpSp>
      <p:grpSp>
        <p:nvGrpSpPr>
          <p:cNvPr name="Group 37" id="37"/>
          <p:cNvGrpSpPr/>
          <p:nvPr/>
        </p:nvGrpSpPr>
        <p:grpSpPr>
          <a:xfrm rot="0">
            <a:off x="11590020" y="2880360"/>
            <a:ext cx="5349240" cy="411480"/>
            <a:chOff x="0" y="0"/>
            <a:chExt cx="7132320" cy="548640"/>
          </a:xfrm>
        </p:grpSpPr>
        <p:sp>
          <p:nvSpPr>
            <p:cNvPr name="Freeform 38" id="38"/>
            <p:cNvSpPr/>
            <p:nvPr/>
          </p:nvSpPr>
          <p:spPr>
            <a:xfrm flipH="false" flipV="false" rot="0">
              <a:off x="0" y="0"/>
              <a:ext cx="7132320" cy="548640"/>
            </a:xfrm>
            <a:custGeom>
              <a:avLst/>
              <a:gdLst/>
              <a:ahLst/>
              <a:cxnLst/>
              <a:rect r="r" b="b" t="t" l="l"/>
              <a:pathLst>
                <a:path h="548640" w="7132320">
                  <a:moveTo>
                    <a:pt x="0" y="0"/>
                  </a:moveTo>
                  <a:lnTo>
                    <a:pt x="7132320" y="0"/>
                  </a:lnTo>
                  <a:lnTo>
                    <a:pt x="7132320" y="548640"/>
                  </a:lnTo>
                  <a:lnTo>
                    <a:pt x="0" y="548640"/>
                  </a:lnTo>
                  <a:close/>
                </a:path>
              </a:pathLst>
            </a:custGeom>
            <a:blipFill>
              <a:blip r:embed="rId2">
                <a:alphaModFix amt="0"/>
              </a:blip>
              <a:stretch>
                <a:fillRect l="0" t="-203305" r="0" b="-203305"/>
              </a:stretch>
            </a:blipFill>
          </p:spPr>
        </p:sp>
        <p:sp>
          <p:nvSpPr>
            <p:cNvPr name="TextBox 39" id="39"/>
            <p:cNvSpPr txBox="true"/>
            <p:nvPr/>
          </p:nvSpPr>
          <p:spPr>
            <a:xfrm>
              <a:off x="0" y="-19050"/>
              <a:ext cx="7132320" cy="567690"/>
            </a:xfrm>
            <a:prstGeom prst="rect">
              <a:avLst/>
            </a:prstGeom>
          </p:spPr>
          <p:txBody>
            <a:bodyPr anchor="ctr" rtlCol="false" tIns="0" lIns="0" bIns="0" rIns="0"/>
            <a:lstStyle/>
            <a:p>
              <a:pPr algn="l">
                <a:lnSpc>
                  <a:spcPts val="1889"/>
                </a:lnSpc>
              </a:pPr>
              <a:r>
                <a:rPr lang="en-US" b="true" sz="1575" spc="224">
                  <a:solidFill>
                    <a:srgbClr val="00D1B2"/>
                  </a:solidFill>
                  <a:latin typeface="Calibri (MS) Bold"/>
                  <a:ea typeface="Calibri (MS) Bold"/>
                  <a:cs typeface="Calibri (MS) Bold"/>
                  <a:sym typeface="Calibri (MS) Bold"/>
                </a:rPr>
                <a:t>MODELO ELEGIDO</a:t>
              </a:r>
            </a:p>
          </p:txBody>
        </p:sp>
      </p:grpSp>
      <p:grpSp>
        <p:nvGrpSpPr>
          <p:cNvPr name="Group 40" id="40"/>
          <p:cNvGrpSpPr/>
          <p:nvPr/>
        </p:nvGrpSpPr>
        <p:grpSpPr>
          <a:xfrm rot="0">
            <a:off x="11590020" y="3319272"/>
            <a:ext cx="5349240" cy="754380"/>
            <a:chOff x="0" y="0"/>
            <a:chExt cx="7132320" cy="1005840"/>
          </a:xfrm>
        </p:grpSpPr>
        <p:sp>
          <p:nvSpPr>
            <p:cNvPr name="Freeform 41" id="41"/>
            <p:cNvSpPr/>
            <p:nvPr/>
          </p:nvSpPr>
          <p:spPr>
            <a:xfrm flipH="false" flipV="false" rot="0">
              <a:off x="0" y="0"/>
              <a:ext cx="7132320" cy="1005840"/>
            </a:xfrm>
            <a:custGeom>
              <a:avLst/>
              <a:gdLst/>
              <a:ahLst/>
              <a:cxnLst/>
              <a:rect r="r" b="b" t="t" l="l"/>
              <a:pathLst>
                <a:path h="1005840" w="7132320">
                  <a:moveTo>
                    <a:pt x="0" y="0"/>
                  </a:moveTo>
                  <a:lnTo>
                    <a:pt x="7132320" y="0"/>
                  </a:lnTo>
                  <a:lnTo>
                    <a:pt x="7132320" y="1005840"/>
                  </a:lnTo>
                  <a:lnTo>
                    <a:pt x="0" y="1005840"/>
                  </a:lnTo>
                  <a:close/>
                </a:path>
              </a:pathLst>
            </a:custGeom>
            <a:blipFill>
              <a:blip r:embed="rId2">
                <a:alphaModFix amt="0"/>
              </a:blip>
              <a:stretch>
                <a:fillRect l="0" t="-88166" r="0" b="-88166"/>
              </a:stretch>
            </a:blipFill>
          </p:spPr>
        </p:sp>
        <p:sp>
          <p:nvSpPr>
            <p:cNvPr name="TextBox 42" id="42"/>
            <p:cNvSpPr txBox="true"/>
            <p:nvPr/>
          </p:nvSpPr>
          <p:spPr>
            <a:xfrm>
              <a:off x="0" y="0"/>
              <a:ext cx="7132320" cy="1005840"/>
            </a:xfrm>
            <a:prstGeom prst="rect">
              <a:avLst/>
            </a:prstGeom>
          </p:spPr>
          <p:txBody>
            <a:bodyPr anchor="ctr" rtlCol="false" tIns="0" lIns="0" bIns="0" rIns="0"/>
            <a:lstStyle/>
            <a:p>
              <a:pPr algn="l">
                <a:lnSpc>
                  <a:spcPts val="4680"/>
                </a:lnSpc>
              </a:pPr>
              <a:r>
                <a:rPr lang="en-US" sz="3900" b="true">
                  <a:solidFill>
                    <a:srgbClr val="FFFFFF"/>
                  </a:solidFill>
                  <a:latin typeface="Cambria Bold"/>
                  <a:ea typeface="Cambria Bold"/>
                  <a:cs typeface="Cambria Bold"/>
                  <a:sym typeface="Cambria Bold"/>
                </a:rPr>
                <a:t>Extra Trees</a:t>
              </a:r>
            </a:p>
          </p:txBody>
        </p:sp>
      </p:grpSp>
      <p:grpSp>
        <p:nvGrpSpPr>
          <p:cNvPr name="Group 43" id="43"/>
          <p:cNvGrpSpPr/>
          <p:nvPr/>
        </p:nvGrpSpPr>
        <p:grpSpPr>
          <a:xfrm rot="0">
            <a:off x="11590020" y="4046220"/>
            <a:ext cx="5349240" cy="548640"/>
            <a:chOff x="0" y="0"/>
            <a:chExt cx="7132320" cy="731520"/>
          </a:xfrm>
        </p:grpSpPr>
        <p:sp>
          <p:nvSpPr>
            <p:cNvPr name="Freeform 44" id="44"/>
            <p:cNvSpPr/>
            <p:nvPr/>
          </p:nvSpPr>
          <p:spPr>
            <a:xfrm flipH="false" flipV="false" rot="0">
              <a:off x="0" y="0"/>
              <a:ext cx="7132320" cy="731520"/>
            </a:xfrm>
            <a:custGeom>
              <a:avLst/>
              <a:gdLst/>
              <a:ahLst/>
              <a:cxnLst/>
              <a:rect r="r" b="b" t="t" l="l"/>
              <a:pathLst>
                <a:path h="731520" w="7132320">
                  <a:moveTo>
                    <a:pt x="0" y="0"/>
                  </a:moveTo>
                  <a:lnTo>
                    <a:pt x="7132320" y="0"/>
                  </a:lnTo>
                  <a:lnTo>
                    <a:pt x="7132320" y="731520"/>
                  </a:lnTo>
                  <a:lnTo>
                    <a:pt x="0" y="731520"/>
                  </a:lnTo>
                  <a:close/>
                </a:path>
              </a:pathLst>
            </a:custGeom>
            <a:blipFill>
              <a:blip r:embed="rId2">
                <a:alphaModFix amt="0"/>
              </a:blip>
              <a:stretch>
                <a:fillRect l="0" t="-139979" r="0" b="-139979"/>
              </a:stretch>
            </a:blipFill>
          </p:spPr>
        </p:sp>
        <p:sp>
          <p:nvSpPr>
            <p:cNvPr name="TextBox 45" id="45"/>
            <p:cNvSpPr txBox="true"/>
            <p:nvPr/>
          </p:nvSpPr>
          <p:spPr>
            <a:xfrm>
              <a:off x="0" y="-19050"/>
              <a:ext cx="7132320" cy="750570"/>
            </a:xfrm>
            <a:prstGeom prst="rect">
              <a:avLst/>
            </a:prstGeom>
          </p:spPr>
          <p:txBody>
            <a:bodyPr anchor="ctr" rtlCol="false" tIns="0" lIns="0" bIns="0" rIns="0"/>
            <a:lstStyle/>
            <a:p>
              <a:pPr algn="l">
                <a:lnSpc>
                  <a:spcPts val="1889"/>
                </a:lnSpc>
              </a:pPr>
              <a:r>
                <a:rPr lang="en-US" sz="1575">
                  <a:solidFill>
                    <a:srgbClr val="8A93B8"/>
                  </a:solidFill>
                  <a:latin typeface="Calibri (MS)"/>
                  <a:ea typeface="Calibri (MS)"/>
                  <a:cs typeface="Calibri (MS)"/>
                  <a:sym typeface="Calibri (MS)"/>
                </a:rPr>
                <a:t>n_estimators=4 · max_leaves=259 · criterion=entropy</a:t>
              </a:r>
            </a:p>
          </p:txBody>
        </p:sp>
      </p:grpSp>
      <p:sp>
        <p:nvSpPr>
          <p:cNvPr name="AutoShape 46" id="46"/>
          <p:cNvSpPr/>
          <p:nvPr/>
        </p:nvSpPr>
        <p:spPr>
          <a:xfrm rot="12180">
            <a:off x="11580476" y="4795838"/>
            <a:ext cx="5368328" cy="0"/>
          </a:xfrm>
          <a:prstGeom prst="line">
            <a:avLst/>
          </a:prstGeom>
          <a:ln cap="rnd" w="9525">
            <a:solidFill>
              <a:srgbClr val="2E3760"/>
            </a:solidFill>
            <a:prstDash val="solid"/>
            <a:headEnd type="none" len="sm" w="sm"/>
            <a:tailEnd type="none" len="sm" w="sm"/>
          </a:ln>
        </p:spPr>
      </p:sp>
      <p:grpSp>
        <p:nvGrpSpPr>
          <p:cNvPr name="Group 47" id="47"/>
          <p:cNvGrpSpPr/>
          <p:nvPr/>
        </p:nvGrpSpPr>
        <p:grpSpPr>
          <a:xfrm rot="0">
            <a:off x="11590020" y="5074920"/>
            <a:ext cx="3429000" cy="576072"/>
            <a:chOff x="0" y="0"/>
            <a:chExt cx="4572000" cy="768096"/>
          </a:xfrm>
        </p:grpSpPr>
        <p:sp>
          <p:nvSpPr>
            <p:cNvPr name="Freeform 48" id="48"/>
            <p:cNvSpPr/>
            <p:nvPr/>
          </p:nvSpPr>
          <p:spPr>
            <a:xfrm flipH="false" flipV="false" rot="0">
              <a:off x="0" y="0"/>
              <a:ext cx="4572000" cy="768096"/>
            </a:xfrm>
            <a:custGeom>
              <a:avLst/>
              <a:gdLst/>
              <a:ahLst/>
              <a:cxnLst/>
              <a:rect r="r" b="b" t="t" l="l"/>
              <a:pathLst>
                <a:path h="768096" w="4572000">
                  <a:moveTo>
                    <a:pt x="0" y="0"/>
                  </a:moveTo>
                  <a:lnTo>
                    <a:pt x="4572000" y="0"/>
                  </a:lnTo>
                  <a:lnTo>
                    <a:pt x="4572000" y="768096"/>
                  </a:lnTo>
                  <a:lnTo>
                    <a:pt x="0" y="768096"/>
                  </a:lnTo>
                  <a:close/>
                </a:path>
              </a:pathLst>
            </a:custGeom>
            <a:blipFill>
              <a:blip r:embed="rId2">
                <a:alphaModFix amt="0"/>
              </a:blip>
              <a:stretch>
                <a:fillRect l="0" t="-65982" r="0" b="-65982"/>
              </a:stretch>
            </a:blipFill>
          </p:spPr>
        </p:sp>
        <p:sp>
          <p:nvSpPr>
            <p:cNvPr name="TextBox 49" id="49"/>
            <p:cNvSpPr txBox="true"/>
            <p:nvPr/>
          </p:nvSpPr>
          <p:spPr>
            <a:xfrm>
              <a:off x="0" y="-38100"/>
              <a:ext cx="4572000" cy="806196"/>
            </a:xfrm>
            <a:prstGeom prst="rect">
              <a:avLst/>
            </a:prstGeom>
          </p:spPr>
          <p:txBody>
            <a:bodyPr anchor="ctr" rtlCol="false" tIns="0" lIns="0" bIns="0" rIns="0"/>
            <a:lstStyle/>
            <a:p>
              <a:pPr algn="l">
                <a:lnSpc>
                  <a:spcPts val="2070"/>
                </a:lnSpc>
              </a:pPr>
              <a:r>
                <a:rPr lang="en-US" sz="1725">
                  <a:solidFill>
                    <a:srgbClr val="B9C0E0"/>
                  </a:solidFill>
                  <a:latin typeface="Calibri (MS)"/>
                  <a:ea typeface="Calibri (MS)"/>
                  <a:cs typeface="Calibri (MS)"/>
                  <a:sym typeface="Calibri (MS)"/>
                </a:rPr>
                <a:t>macro-F1 (test)</a:t>
              </a:r>
            </a:p>
          </p:txBody>
        </p:sp>
      </p:grpSp>
      <p:grpSp>
        <p:nvGrpSpPr>
          <p:cNvPr name="Group 50" id="50"/>
          <p:cNvGrpSpPr/>
          <p:nvPr/>
        </p:nvGrpSpPr>
        <p:grpSpPr>
          <a:xfrm rot="0">
            <a:off x="15087600" y="5074920"/>
            <a:ext cx="1851660" cy="576072"/>
            <a:chOff x="0" y="0"/>
            <a:chExt cx="2468880" cy="768096"/>
          </a:xfrm>
        </p:grpSpPr>
        <p:sp>
          <p:nvSpPr>
            <p:cNvPr name="Freeform 51" id="51"/>
            <p:cNvSpPr/>
            <p:nvPr/>
          </p:nvSpPr>
          <p:spPr>
            <a:xfrm flipH="false" flipV="false" rot="0">
              <a:off x="0" y="0"/>
              <a:ext cx="2468880" cy="768096"/>
            </a:xfrm>
            <a:custGeom>
              <a:avLst/>
              <a:gdLst/>
              <a:ahLst/>
              <a:cxnLst/>
              <a:rect r="r" b="b" t="t" l="l"/>
              <a:pathLst>
                <a:path h="768096" w="2468880">
                  <a:moveTo>
                    <a:pt x="0" y="0"/>
                  </a:moveTo>
                  <a:lnTo>
                    <a:pt x="2468880" y="0"/>
                  </a:lnTo>
                  <a:lnTo>
                    <a:pt x="2468880" y="768096"/>
                  </a:lnTo>
                  <a:lnTo>
                    <a:pt x="0" y="768096"/>
                  </a:lnTo>
                  <a:close/>
                </a:path>
              </a:pathLst>
            </a:custGeom>
            <a:blipFill>
              <a:blip r:embed="rId2">
                <a:alphaModFix amt="0"/>
              </a:blip>
              <a:stretch>
                <a:fillRect l="0" t="-12630" r="0" b="-12630"/>
              </a:stretch>
            </a:blipFill>
          </p:spPr>
        </p:sp>
        <p:sp>
          <p:nvSpPr>
            <p:cNvPr name="TextBox 52" id="52"/>
            <p:cNvSpPr txBox="true"/>
            <p:nvPr/>
          </p:nvSpPr>
          <p:spPr>
            <a:xfrm>
              <a:off x="0" y="-19050"/>
              <a:ext cx="2468880" cy="787146"/>
            </a:xfrm>
            <a:prstGeom prst="rect">
              <a:avLst/>
            </a:prstGeom>
          </p:spPr>
          <p:txBody>
            <a:bodyPr anchor="ctr" rtlCol="false" tIns="0" lIns="0" bIns="0" rIns="0"/>
            <a:lstStyle/>
            <a:p>
              <a:pPr algn="r">
                <a:lnSpc>
                  <a:spcPts val="2700"/>
                </a:lnSpc>
              </a:pPr>
              <a:r>
                <a:rPr lang="en-US" sz="2250" b="true">
                  <a:solidFill>
                    <a:srgbClr val="00D1B2"/>
                  </a:solidFill>
                  <a:latin typeface="Cambria Bold"/>
                  <a:ea typeface="Cambria Bold"/>
                  <a:cs typeface="Cambria Bold"/>
                  <a:sym typeface="Cambria Bold"/>
                </a:rPr>
                <a:t>0.885</a:t>
              </a:r>
            </a:p>
          </p:txBody>
        </p:sp>
      </p:grpSp>
      <p:grpSp>
        <p:nvGrpSpPr>
          <p:cNvPr name="Group 53" id="53"/>
          <p:cNvGrpSpPr/>
          <p:nvPr/>
        </p:nvGrpSpPr>
        <p:grpSpPr>
          <a:xfrm rot="0">
            <a:off x="11590020" y="5788152"/>
            <a:ext cx="3429000" cy="576072"/>
            <a:chOff x="0" y="0"/>
            <a:chExt cx="4572000" cy="768096"/>
          </a:xfrm>
        </p:grpSpPr>
        <p:sp>
          <p:nvSpPr>
            <p:cNvPr name="Freeform 54" id="54"/>
            <p:cNvSpPr/>
            <p:nvPr/>
          </p:nvSpPr>
          <p:spPr>
            <a:xfrm flipH="false" flipV="false" rot="0">
              <a:off x="0" y="0"/>
              <a:ext cx="4572000" cy="768096"/>
            </a:xfrm>
            <a:custGeom>
              <a:avLst/>
              <a:gdLst/>
              <a:ahLst/>
              <a:cxnLst/>
              <a:rect r="r" b="b" t="t" l="l"/>
              <a:pathLst>
                <a:path h="768096" w="4572000">
                  <a:moveTo>
                    <a:pt x="0" y="0"/>
                  </a:moveTo>
                  <a:lnTo>
                    <a:pt x="4572000" y="0"/>
                  </a:lnTo>
                  <a:lnTo>
                    <a:pt x="4572000" y="768096"/>
                  </a:lnTo>
                  <a:lnTo>
                    <a:pt x="0" y="768096"/>
                  </a:lnTo>
                  <a:close/>
                </a:path>
              </a:pathLst>
            </a:custGeom>
            <a:blipFill>
              <a:blip r:embed="rId2">
                <a:alphaModFix amt="0"/>
              </a:blip>
              <a:stretch>
                <a:fillRect l="0" t="-65982" r="0" b="-65982"/>
              </a:stretch>
            </a:blipFill>
          </p:spPr>
        </p:sp>
        <p:sp>
          <p:nvSpPr>
            <p:cNvPr name="TextBox 55" id="55"/>
            <p:cNvSpPr txBox="true"/>
            <p:nvPr/>
          </p:nvSpPr>
          <p:spPr>
            <a:xfrm>
              <a:off x="0" y="-38100"/>
              <a:ext cx="4572000" cy="806196"/>
            </a:xfrm>
            <a:prstGeom prst="rect">
              <a:avLst/>
            </a:prstGeom>
          </p:spPr>
          <p:txBody>
            <a:bodyPr anchor="ctr" rtlCol="false" tIns="0" lIns="0" bIns="0" rIns="0"/>
            <a:lstStyle/>
            <a:p>
              <a:pPr algn="l">
                <a:lnSpc>
                  <a:spcPts val="2070"/>
                </a:lnSpc>
              </a:pPr>
              <a:r>
                <a:rPr lang="en-US" sz="1725">
                  <a:solidFill>
                    <a:srgbClr val="B9C0E0"/>
                  </a:solidFill>
                  <a:latin typeface="Calibri (MS)"/>
                  <a:ea typeface="Calibri (MS)"/>
                  <a:cs typeface="Calibri (MS)"/>
                  <a:sym typeface="Calibri (MS)"/>
                </a:rPr>
                <a:t>Balanced accuracy</a:t>
              </a:r>
            </a:p>
          </p:txBody>
        </p:sp>
      </p:grpSp>
      <p:grpSp>
        <p:nvGrpSpPr>
          <p:cNvPr name="Group 56" id="56"/>
          <p:cNvGrpSpPr/>
          <p:nvPr/>
        </p:nvGrpSpPr>
        <p:grpSpPr>
          <a:xfrm rot="0">
            <a:off x="15087600" y="5788152"/>
            <a:ext cx="1851660" cy="576072"/>
            <a:chOff x="0" y="0"/>
            <a:chExt cx="2468880" cy="768096"/>
          </a:xfrm>
        </p:grpSpPr>
        <p:sp>
          <p:nvSpPr>
            <p:cNvPr name="Freeform 57" id="57"/>
            <p:cNvSpPr/>
            <p:nvPr/>
          </p:nvSpPr>
          <p:spPr>
            <a:xfrm flipH="false" flipV="false" rot="0">
              <a:off x="0" y="0"/>
              <a:ext cx="2468880" cy="768096"/>
            </a:xfrm>
            <a:custGeom>
              <a:avLst/>
              <a:gdLst/>
              <a:ahLst/>
              <a:cxnLst/>
              <a:rect r="r" b="b" t="t" l="l"/>
              <a:pathLst>
                <a:path h="768096" w="2468880">
                  <a:moveTo>
                    <a:pt x="0" y="0"/>
                  </a:moveTo>
                  <a:lnTo>
                    <a:pt x="2468880" y="0"/>
                  </a:lnTo>
                  <a:lnTo>
                    <a:pt x="2468880" y="768096"/>
                  </a:lnTo>
                  <a:lnTo>
                    <a:pt x="0" y="768096"/>
                  </a:lnTo>
                  <a:close/>
                </a:path>
              </a:pathLst>
            </a:custGeom>
            <a:blipFill>
              <a:blip r:embed="rId2">
                <a:alphaModFix amt="0"/>
              </a:blip>
              <a:stretch>
                <a:fillRect l="0" t="-12630" r="0" b="-12630"/>
              </a:stretch>
            </a:blipFill>
          </p:spPr>
        </p:sp>
        <p:sp>
          <p:nvSpPr>
            <p:cNvPr name="TextBox 58" id="58"/>
            <p:cNvSpPr txBox="true"/>
            <p:nvPr/>
          </p:nvSpPr>
          <p:spPr>
            <a:xfrm>
              <a:off x="0" y="-19050"/>
              <a:ext cx="2468880" cy="787146"/>
            </a:xfrm>
            <a:prstGeom prst="rect">
              <a:avLst/>
            </a:prstGeom>
          </p:spPr>
          <p:txBody>
            <a:bodyPr anchor="ctr" rtlCol="false" tIns="0" lIns="0" bIns="0" rIns="0"/>
            <a:lstStyle/>
            <a:p>
              <a:pPr algn="r">
                <a:lnSpc>
                  <a:spcPts val="2700"/>
                </a:lnSpc>
              </a:pPr>
              <a:r>
                <a:rPr lang="en-US" sz="2250" b="true">
                  <a:solidFill>
                    <a:srgbClr val="00D1B2"/>
                  </a:solidFill>
                  <a:latin typeface="Cambria Bold"/>
                  <a:ea typeface="Cambria Bold"/>
                  <a:cs typeface="Cambria Bold"/>
                  <a:sym typeface="Cambria Bold"/>
                </a:rPr>
                <a:t>0.892</a:t>
              </a:r>
            </a:p>
          </p:txBody>
        </p:sp>
      </p:grpSp>
      <p:grpSp>
        <p:nvGrpSpPr>
          <p:cNvPr name="Group 59" id="59"/>
          <p:cNvGrpSpPr/>
          <p:nvPr/>
        </p:nvGrpSpPr>
        <p:grpSpPr>
          <a:xfrm rot="0">
            <a:off x="11590020" y="6501384"/>
            <a:ext cx="3429000" cy="576072"/>
            <a:chOff x="0" y="0"/>
            <a:chExt cx="4572000" cy="768096"/>
          </a:xfrm>
        </p:grpSpPr>
        <p:sp>
          <p:nvSpPr>
            <p:cNvPr name="Freeform 60" id="60"/>
            <p:cNvSpPr/>
            <p:nvPr/>
          </p:nvSpPr>
          <p:spPr>
            <a:xfrm flipH="false" flipV="false" rot="0">
              <a:off x="0" y="0"/>
              <a:ext cx="4572000" cy="768096"/>
            </a:xfrm>
            <a:custGeom>
              <a:avLst/>
              <a:gdLst/>
              <a:ahLst/>
              <a:cxnLst/>
              <a:rect r="r" b="b" t="t" l="l"/>
              <a:pathLst>
                <a:path h="768096" w="4572000">
                  <a:moveTo>
                    <a:pt x="0" y="0"/>
                  </a:moveTo>
                  <a:lnTo>
                    <a:pt x="4572000" y="0"/>
                  </a:lnTo>
                  <a:lnTo>
                    <a:pt x="4572000" y="768096"/>
                  </a:lnTo>
                  <a:lnTo>
                    <a:pt x="0" y="768096"/>
                  </a:lnTo>
                  <a:close/>
                </a:path>
              </a:pathLst>
            </a:custGeom>
            <a:blipFill>
              <a:blip r:embed="rId2">
                <a:alphaModFix amt="0"/>
              </a:blip>
              <a:stretch>
                <a:fillRect l="0" t="-65982" r="0" b="-65982"/>
              </a:stretch>
            </a:blipFill>
          </p:spPr>
        </p:sp>
        <p:sp>
          <p:nvSpPr>
            <p:cNvPr name="TextBox 61" id="61"/>
            <p:cNvSpPr txBox="true"/>
            <p:nvPr/>
          </p:nvSpPr>
          <p:spPr>
            <a:xfrm>
              <a:off x="0" y="-38100"/>
              <a:ext cx="4572000" cy="806196"/>
            </a:xfrm>
            <a:prstGeom prst="rect">
              <a:avLst/>
            </a:prstGeom>
          </p:spPr>
          <p:txBody>
            <a:bodyPr anchor="ctr" rtlCol="false" tIns="0" lIns="0" bIns="0" rIns="0"/>
            <a:lstStyle/>
            <a:p>
              <a:pPr algn="l">
                <a:lnSpc>
                  <a:spcPts val="2070"/>
                </a:lnSpc>
              </a:pPr>
              <a:r>
                <a:rPr lang="en-US" sz="1725">
                  <a:solidFill>
                    <a:srgbClr val="B9C0E0"/>
                  </a:solidFill>
                  <a:latin typeface="Calibri (MS)"/>
                  <a:ea typeface="Calibri (MS)"/>
                  <a:cs typeface="Calibri (MS)"/>
                  <a:sym typeface="Calibri (MS)"/>
                </a:rPr>
                <a:t>Tiempo de entrenamiento</a:t>
              </a:r>
            </a:p>
          </p:txBody>
        </p:sp>
      </p:grpSp>
      <p:grpSp>
        <p:nvGrpSpPr>
          <p:cNvPr name="Group 62" id="62"/>
          <p:cNvGrpSpPr/>
          <p:nvPr/>
        </p:nvGrpSpPr>
        <p:grpSpPr>
          <a:xfrm rot="0">
            <a:off x="15087600" y="6501384"/>
            <a:ext cx="1851660" cy="576072"/>
            <a:chOff x="0" y="0"/>
            <a:chExt cx="2468880" cy="768096"/>
          </a:xfrm>
        </p:grpSpPr>
        <p:sp>
          <p:nvSpPr>
            <p:cNvPr name="Freeform 63" id="63"/>
            <p:cNvSpPr/>
            <p:nvPr/>
          </p:nvSpPr>
          <p:spPr>
            <a:xfrm flipH="false" flipV="false" rot="0">
              <a:off x="0" y="0"/>
              <a:ext cx="2468880" cy="768096"/>
            </a:xfrm>
            <a:custGeom>
              <a:avLst/>
              <a:gdLst/>
              <a:ahLst/>
              <a:cxnLst/>
              <a:rect r="r" b="b" t="t" l="l"/>
              <a:pathLst>
                <a:path h="768096" w="2468880">
                  <a:moveTo>
                    <a:pt x="0" y="0"/>
                  </a:moveTo>
                  <a:lnTo>
                    <a:pt x="2468880" y="0"/>
                  </a:lnTo>
                  <a:lnTo>
                    <a:pt x="2468880" y="768096"/>
                  </a:lnTo>
                  <a:lnTo>
                    <a:pt x="0" y="768096"/>
                  </a:lnTo>
                  <a:close/>
                </a:path>
              </a:pathLst>
            </a:custGeom>
            <a:blipFill>
              <a:blip r:embed="rId2">
                <a:alphaModFix amt="0"/>
              </a:blip>
              <a:stretch>
                <a:fillRect l="0" t="-12630" r="0" b="-12630"/>
              </a:stretch>
            </a:blipFill>
          </p:spPr>
        </p:sp>
        <p:sp>
          <p:nvSpPr>
            <p:cNvPr name="TextBox 64" id="64"/>
            <p:cNvSpPr txBox="true"/>
            <p:nvPr/>
          </p:nvSpPr>
          <p:spPr>
            <a:xfrm>
              <a:off x="0" y="-19050"/>
              <a:ext cx="2468880" cy="787146"/>
            </a:xfrm>
            <a:prstGeom prst="rect">
              <a:avLst/>
            </a:prstGeom>
          </p:spPr>
          <p:txBody>
            <a:bodyPr anchor="ctr" rtlCol="false" tIns="0" lIns="0" bIns="0" rIns="0"/>
            <a:lstStyle/>
            <a:p>
              <a:pPr algn="r">
                <a:lnSpc>
                  <a:spcPts val="2700"/>
                </a:lnSpc>
              </a:pPr>
              <a:r>
                <a:rPr lang="en-US" sz="2250" b="true">
                  <a:solidFill>
                    <a:srgbClr val="00D1B2"/>
                  </a:solidFill>
                  <a:latin typeface="Cambria Bold"/>
                  <a:ea typeface="Cambria Bold"/>
                  <a:cs typeface="Cambria Bold"/>
                  <a:sym typeface="Cambria Bold"/>
                </a:rPr>
                <a:t>29.9 s</a:t>
              </a:r>
            </a:p>
          </p:txBody>
        </p:sp>
      </p:grpSp>
      <p:grpSp>
        <p:nvGrpSpPr>
          <p:cNvPr name="Group 65" id="65"/>
          <p:cNvGrpSpPr/>
          <p:nvPr/>
        </p:nvGrpSpPr>
        <p:grpSpPr>
          <a:xfrm rot="0">
            <a:off x="17053103" y="9601200"/>
            <a:ext cx="822960" cy="411480"/>
            <a:chOff x="0" y="0"/>
            <a:chExt cx="1097280" cy="548640"/>
          </a:xfrm>
        </p:grpSpPr>
        <p:sp>
          <p:nvSpPr>
            <p:cNvPr name="Freeform 66" id="66"/>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67" id="67"/>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11</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2 · 2.2 NEURAL ARCHITECTURE SEARCH</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Optuna optimiza la arquitectura de la DNN manual</a:t>
              </a:r>
            </a:p>
          </p:txBody>
        </p:sp>
      </p:grpSp>
      <p:grpSp>
        <p:nvGrpSpPr>
          <p:cNvPr name="Group 8" id="8"/>
          <p:cNvGrpSpPr/>
          <p:nvPr/>
        </p:nvGrpSpPr>
        <p:grpSpPr>
          <a:xfrm rot="0">
            <a:off x="822960" y="2537460"/>
            <a:ext cx="9464040" cy="2606040"/>
            <a:chOff x="0" y="0"/>
            <a:chExt cx="12618720" cy="3474720"/>
          </a:xfrm>
        </p:grpSpPr>
        <p:sp>
          <p:nvSpPr>
            <p:cNvPr name="Freeform 9" id="9"/>
            <p:cNvSpPr/>
            <p:nvPr/>
          </p:nvSpPr>
          <p:spPr>
            <a:xfrm flipH="false" flipV="false" rot="0">
              <a:off x="0" y="0"/>
              <a:ext cx="12618720" cy="3474720"/>
            </a:xfrm>
            <a:custGeom>
              <a:avLst/>
              <a:gdLst/>
              <a:ahLst/>
              <a:cxnLst/>
              <a:rect r="r" b="b" t="t" l="l"/>
              <a:pathLst>
                <a:path h="3474720" w="12618720">
                  <a:moveTo>
                    <a:pt x="0" y="0"/>
                  </a:moveTo>
                  <a:lnTo>
                    <a:pt x="12618720" y="0"/>
                  </a:lnTo>
                  <a:lnTo>
                    <a:pt x="12618720" y="3474720"/>
                  </a:lnTo>
                  <a:lnTo>
                    <a:pt x="0" y="3474720"/>
                  </a:lnTo>
                  <a:close/>
                </a:path>
              </a:pathLst>
            </a:custGeom>
            <a:blipFill>
              <a:blip r:embed="rId2">
                <a:alphaModFix amt="0"/>
              </a:blip>
              <a:stretch>
                <a:fillRect l="0" t="-20761" r="0" b="-20761"/>
              </a:stretch>
            </a:blipFill>
          </p:spPr>
        </p:sp>
        <p:sp>
          <p:nvSpPr>
            <p:cNvPr name="TextBox 10" id="10"/>
            <p:cNvSpPr txBox="true"/>
            <p:nvPr/>
          </p:nvSpPr>
          <p:spPr>
            <a:xfrm>
              <a:off x="0" y="-104775"/>
              <a:ext cx="12618720" cy="3579495"/>
            </a:xfrm>
            <a:prstGeom prst="rect">
              <a:avLst/>
            </a:prstGeom>
          </p:spPr>
          <p:txBody>
            <a:bodyPr anchor="ctr" rtlCol="false" tIns="0" lIns="0" bIns="0" rIns="0"/>
            <a:lstStyle/>
            <a:p>
              <a:pPr algn="l">
                <a:lnSpc>
                  <a:spcPts val="3159"/>
                </a:lnSpc>
              </a:pPr>
              <a:r>
                <a:rPr lang="en-US" sz="2025">
                  <a:solidFill>
                    <a:srgbClr val="0E1220"/>
                  </a:solidFill>
                  <a:latin typeface="Calibri (MS)"/>
                  <a:ea typeface="Calibri (MS)"/>
                  <a:cs typeface="Calibri (MS)"/>
                  <a:sym typeface="Calibri (MS)"/>
                </a:rPr>
                <a:t>Optuna busca sobre el mismo espacio de arquitectura de la DNN de la Parte 1, número de capas, unidades por capa, dropout, learning rate. Cada trial entrena una versión corta para explorar rápido, la mejor configuración se reentrena luego con el presupuesto completo y el mismo criterio de early stopping.</a:t>
              </a:r>
            </a:p>
          </p:txBody>
        </p:sp>
      </p:grpSp>
      <p:grpSp>
        <p:nvGrpSpPr>
          <p:cNvPr name="Group 11" id="11"/>
          <p:cNvGrpSpPr/>
          <p:nvPr/>
        </p:nvGrpSpPr>
        <p:grpSpPr>
          <a:xfrm rot="0">
            <a:off x="813435" y="5339715"/>
            <a:ext cx="9483090" cy="2625090"/>
            <a:chOff x="0" y="0"/>
            <a:chExt cx="12644120" cy="3500120"/>
          </a:xfrm>
        </p:grpSpPr>
        <p:sp>
          <p:nvSpPr>
            <p:cNvPr name="Freeform 12" id="12"/>
            <p:cNvSpPr/>
            <p:nvPr/>
          </p:nvSpPr>
          <p:spPr>
            <a:xfrm flipH="false" flipV="false" rot="0">
              <a:off x="0" y="0"/>
              <a:ext cx="12644120" cy="3500120"/>
            </a:xfrm>
            <a:custGeom>
              <a:avLst/>
              <a:gdLst/>
              <a:ahLst/>
              <a:cxnLst/>
              <a:rect r="r" b="b" t="t" l="l"/>
              <a:pathLst>
                <a:path h="3500120" w="12644120">
                  <a:moveTo>
                    <a:pt x="0" y="184150"/>
                  </a:moveTo>
                  <a:cubicBezTo>
                    <a:pt x="0" y="82423"/>
                    <a:pt x="82423" y="0"/>
                    <a:pt x="184150" y="0"/>
                  </a:cubicBezTo>
                  <a:lnTo>
                    <a:pt x="12459970" y="0"/>
                  </a:lnTo>
                  <a:cubicBezTo>
                    <a:pt x="12561697" y="0"/>
                    <a:pt x="12644120" y="82423"/>
                    <a:pt x="12644120" y="184150"/>
                  </a:cubicBezTo>
                  <a:lnTo>
                    <a:pt x="12644120" y="3315970"/>
                  </a:lnTo>
                  <a:cubicBezTo>
                    <a:pt x="12644120" y="3417697"/>
                    <a:pt x="12561697" y="3500120"/>
                    <a:pt x="12459970" y="3500120"/>
                  </a:cubicBezTo>
                  <a:lnTo>
                    <a:pt x="184150" y="3500120"/>
                  </a:lnTo>
                  <a:cubicBezTo>
                    <a:pt x="82423" y="3500120"/>
                    <a:pt x="0" y="3417697"/>
                    <a:pt x="0" y="3315970"/>
                  </a:cubicBezTo>
                  <a:close/>
                </a:path>
              </a:pathLst>
            </a:custGeom>
            <a:solidFill>
              <a:srgbClr val="FFFFFF"/>
            </a:solidFill>
            <a:ln w="19050" cap="sq">
              <a:solidFill>
                <a:srgbClr val="E3E6F0"/>
              </a:solidFill>
              <a:prstDash val="solid"/>
              <a:miter/>
            </a:ln>
          </p:spPr>
        </p:sp>
      </p:grpSp>
      <p:grpSp>
        <p:nvGrpSpPr>
          <p:cNvPr name="Group 13" id="13"/>
          <p:cNvGrpSpPr/>
          <p:nvPr/>
        </p:nvGrpSpPr>
        <p:grpSpPr>
          <a:xfrm rot="0">
            <a:off x="1234440" y="5623560"/>
            <a:ext cx="8641080" cy="411480"/>
            <a:chOff x="0" y="0"/>
            <a:chExt cx="11521440" cy="548640"/>
          </a:xfrm>
        </p:grpSpPr>
        <p:sp>
          <p:nvSpPr>
            <p:cNvPr name="Freeform 14" id="14"/>
            <p:cNvSpPr/>
            <p:nvPr/>
          </p:nvSpPr>
          <p:spPr>
            <a:xfrm flipH="false" flipV="false" rot="0">
              <a:off x="0" y="0"/>
              <a:ext cx="11521440" cy="548640"/>
            </a:xfrm>
            <a:custGeom>
              <a:avLst/>
              <a:gdLst/>
              <a:ahLst/>
              <a:cxnLst/>
              <a:rect r="r" b="b" t="t" l="l"/>
              <a:pathLst>
                <a:path h="548640" w="11521440">
                  <a:moveTo>
                    <a:pt x="0" y="0"/>
                  </a:moveTo>
                  <a:lnTo>
                    <a:pt x="11521440" y="0"/>
                  </a:lnTo>
                  <a:lnTo>
                    <a:pt x="11521440" y="548640"/>
                  </a:lnTo>
                  <a:lnTo>
                    <a:pt x="0" y="548640"/>
                  </a:lnTo>
                  <a:close/>
                </a:path>
              </a:pathLst>
            </a:custGeom>
            <a:blipFill>
              <a:blip r:embed="rId2">
                <a:alphaModFix amt="0"/>
              </a:blip>
              <a:stretch>
                <a:fillRect l="0" t="-359185" r="0" b="-359185"/>
              </a:stretch>
            </a:blipFill>
          </p:spPr>
        </p:sp>
        <p:sp>
          <p:nvSpPr>
            <p:cNvPr name="TextBox 15" id="15"/>
            <p:cNvSpPr txBox="true"/>
            <p:nvPr/>
          </p:nvSpPr>
          <p:spPr>
            <a:xfrm>
              <a:off x="0" y="-19050"/>
              <a:ext cx="11521440" cy="567690"/>
            </a:xfrm>
            <a:prstGeom prst="rect">
              <a:avLst/>
            </a:prstGeom>
          </p:spPr>
          <p:txBody>
            <a:bodyPr anchor="ctr" rtlCol="false" tIns="0" lIns="0" bIns="0" rIns="0"/>
            <a:lstStyle/>
            <a:p>
              <a:pPr algn="l">
                <a:lnSpc>
                  <a:spcPts val="1889"/>
                </a:lnSpc>
              </a:pPr>
              <a:r>
                <a:rPr lang="en-US" b="true" sz="1575" spc="224">
                  <a:solidFill>
                    <a:srgbClr val="2F5DFF"/>
                  </a:solidFill>
                  <a:latin typeface="Calibri (MS) Bold"/>
                  <a:ea typeface="Calibri (MS) Bold"/>
                  <a:cs typeface="Calibri (MS) Bold"/>
                  <a:sym typeface="Calibri (MS) Bold"/>
                </a:rPr>
                <a:t>MEJOR CONFIGURACIÓN ENCONTRADA</a:t>
              </a:r>
            </a:p>
          </p:txBody>
        </p:sp>
      </p:grpSp>
      <p:grpSp>
        <p:nvGrpSpPr>
          <p:cNvPr name="Group 16" id="16"/>
          <p:cNvGrpSpPr/>
          <p:nvPr/>
        </p:nvGrpSpPr>
        <p:grpSpPr>
          <a:xfrm rot="0">
            <a:off x="1234440" y="6103620"/>
            <a:ext cx="8641080" cy="685800"/>
            <a:chOff x="0" y="0"/>
            <a:chExt cx="11521440" cy="914400"/>
          </a:xfrm>
        </p:grpSpPr>
        <p:sp>
          <p:nvSpPr>
            <p:cNvPr name="Freeform 17" id="17"/>
            <p:cNvSpPr/>
            <p:nvPr/>
          </p:nvSpPr>
          <p:spPr>
            <a:xfrm flipH="false" flipV="false" rot="0">
              <a:off x="0" y="0"/>
              <a:ext cx="11521440" cy="914400"/>
            </a:xfrm>
            <a:custGeom>
              <a:avLst/>
              <a:gdLst/>
              <a:ahLst/>
              <a:cxnLst/>
              <a:rect r="r" b="b" t="t" l="l"/>
              <a:pathLst>
                <a:path h="914400" w="11521440">
                  <a:moveTo>
                    <a:pt x="0" y="0"/>
                  </a:moveTo>
                  <a:lnTo>
                    <a:pt x="11521440" y="0"/>
                  </a:lnTo>
                  <a:lnTo>
                    <a:pt x="11521440" y="914400"/>
                  </a:lnTo>
                  <a:lnTo>
                    <a:pt x="0" y="914400"/>
                  </a:lnTo>
                  <a:close/>
                </a:path>
              </a:pathLst>
            </a:custGeom>
            <a:blipFill>
              <a:blip r:embed="rId2">
                <a:alphaModFix amt="0"/>
              </a:blip>
              <a:stretch>
                <a:fillRect l="0" t="-195511" r="0" b="-195511"/>
              </a:stretch>
            </a:blipFill>
          </p:spPr>
        </p:sp>
        <p:sp>
          <p:nvSpPr>
            <p:cNvPr name="TextBox 18" id="18"/>
            <p:cNvSpPr txBox="true"/>
            <p:nvPr/>
          </p:nvSpPr>
          <p:spPr>
            <a:xfrm>
              <a:off x="0" y="-47625"/>
              <a:ext cx="11521440" cy="962025"/>
            </a:xfrm>
            <a:prstGeom prst="rect">
              <a:avLst/>
            </a:prstGeom>
          </p:spPr>
          <p:txBody>
            <a:bodyPr anchor="ctr" rtlCol="false" tIns="0" lIns="0" bIns="0" rIns="0"/>
            <a:lstStyle/>
            <a:p>
              <a:pPr algn="l">
                <a:lnSpc>
                  <a:spcPts val="2520"/>
                </a:lnSpc>
              </a:pPr>
              <a:r>
                <a:rPr lang="en-US" sz="2100" b="true">
                  <a:solidFill>
                    <a:srgbClr val="0E1220"/>
                  </a:solidFill>
                  <a:latin typeface="Calibri (MS) Bold"/>
                  <a:ea typeface="Calibri (MS) Bold"/>
                  <a:cs typeface="Calibri (MS) Bold"/>
                  <a:sym typeface="Calibri (MS) Bold"/>
                </a:rPr>
                <a:t>1 capa oculta</a:t>
              </a:r>
              <a:r>
                <a:rPr lang="en-US" sz="2100">
                  <a:solidFill>
                    <a:srgbClr val="6B7280"/>
                  </a:solidFill>
                  <a:latin typeface="Calibri (MS)"/>
                  <a:ea typeface="Calibri (MS)"/>
                  <a:cs typeface="Calibri (MS)"/>
                  <a:sym typeface="Calibri (MS)"/>
                </a:rPr>
                <a:t>  ·  </a:t>
              </a:r>
              <a:r>
                <a:rPr lang="en-US" sz="2100" b="true">
                  <a:solidFill>
                    <a:srgbClr val="0E1220"/>
                  </a:solidFill>
                  <a:latin typeface="Calibri (MS) Bold"/>
                  <a:ea typeface="Calibri (MS) Bold"/>
                  <a:cs typeface="Calibri (MS) Bold"/>
                  <a:sym typeface="Calibri (MS) Bold"/>
                </a:rPr>
                <a:t>64 unidades</a:t>
              </a:r>
              <a:r>
                <a:rPr lang="en-US" sz="2100">
                  <a:solidFill>
                    <a:srgbClr val="6B7280"/>
                  </a:solidFill>
                  <a:latin typeface="Calibri (MS)"/>
                  <a:ea typeface="Calibri (MS)"/>
                  <a:cs typeface="Calibri (MS)"/>
                  <a:sym typeface="Calibri (MS)"/>
                </a:rPr>
                <a:t>  ·  </a:t>
              </a:r>
              <a:r>
                <a:rPr lang="en-US" sz="2100" b="true">
                  <a:solidFill>
                    <a:srgbClr val="0E1220"/>
                  </a:solidFill>
                  <a:latin typeface="Calibri (MS) Bold"/>
                  <a:ea typeface="Calibri (MS) Bold"/>
                  <a:cs typeface="Calibri (MS) Bold"/>
                  <a:sym typeface="Calibri (MS) Bold"/>
                </a:rPr>
                <a:t>dropout 0.140</a:t>
              </a:r>
              <a:r>
                <a:rPr lang="en-US" sz="2100">
                  <a:solidFill>
                    <a:srgbClr val="6B7280"/>
                  </a:solidFill>
                  <a:latin typeface="Calibri (MS)"/>
                  <a:ea typeface="Calibri (MS)"/>
                  <a:cs typeface="Calibri (MS)"/>
                  <a:sym typeface="Calibri (MS)"/>
                </a:rPr>
                <a:t>  ·  </a:t>
              </a:r>
              <a:r>
                <a:rPr lang="en-US" sz="2100" b="true">
                  <a:solidFill>
                    <a:srgbClr val="0E1220"/>
                  </a:solidFill>
                  <a:latin typeface="Calibri (MS) Bold"/>
                  <a:ea typeface="Calibri (MS) Bold"/>
                  <a:cs typeface="Calibri (MS) Bold"/>
                  <a:sym typeface="Calibri (MS) Bold"/>
                </a:rPr>
                <a:t>lr 0.00122</a:t>
              </a:r>
            </a:p>
          </p:txBody>
        </p:sp>
      </p:grpSp>
      <p:grpSp>
        <p:nvGrpSpPr>
          <p:cNvPr name="Group 19" id="19"/>
          <p:cNvGrpSpPr/>
          <p:nvPr/>
        </p:nvGrpSpPr>
        <p:grpSpPr>
          <a:xfrm rot="0">
            <a:off x="1234440" y="6858000"/>
            <a:ext cx="8641080" cy="480060"/>
            <a:chOff x="0" y="0"/>
            <a:chExt cx="11521440" cy="640080"/>
          </a:xfrm>
        </p:grpSpPr>
        <p:sp>
          <p:nvSpPr>
            <p:cNvPr name="Freeform 20" id="20"/>
            <p:cNvSpPr/>
            <p:nvPr/>
          </p:nvSpPr>
          <p:spPr>
            <a:xfrm flipH="false" flipV="false" rot="0">
              <a:off x="0" y="0"/>
              <a:ext cx="11521440" cy="640080"/>
            </a:xfrm>
            <a:custGeom>
              <a:avLst/>
              <a:gdLst/>
              <a:ahLst/>
              <a:cxnLst/>
              <a:rect r="r" b="b" t="t" l="l"/>
              <a:pathLst>
                <a:path h="640080" w="11521440">
                  <a:moveTo>
                    <a:pt x="0" y="0"/>
                  </a:moveTo>
                  <a:lnTo>
                    <a:pt x="11521440" y="0"/>
                  </a:lnTo>
                  <a:lnTo>
                    <a:pt x="11521440" y="640080"/>
                  </a:lnTo>
                  <a:lnTo>
                    <a:pt x="0" y="640080"/>
                  </a:lnTo>
                  <a:close/>
                </a:path>
              </a:pathLst>
            </a:custGeom>
            <a:blipFill>
              <a:blip r:embed="rId2">
                <a:alphaModFix amt="0"/>
              </a:blip>
              <a:stretch>
                <a:fillRect l="0" t="-300730" r="0" b="-300730"/>
              </a:stretch>
            </a:blipFill>
          </p:spPr>
        </p:sp>
        <p:sp>
          <p:nvSpPr>
            <p:cNvPr name="TextBox 21" id="21"/>
            <p:cNvSpPr txBox="true"/>
            <p:nvPr/>
          </p:nvSpPr>
          <p:spPr>
            <a:xfrm>
              <a:off x="0" y="-38100"/>
              <a:ext cx="11521440" cy="678180"/>
            </a:xfrm>
            <a:prstGeom prst="rect">
              <a:avLst/>
            </a:prstGeom>
          </p:spPr>
          <p:txBody>
            <a:bodyPr anchor="ctr" rtlCol="false" tIns="0" lIns="0" bIns="0" rIns="0"/>
            <a:lstStyle/>
            <a:p>
              <a:pPr algn="l">
                <a:lnSpc>
                  <a:spcPts val="2070"/>
                </a:lnSpc>
              </a:pPr>
              <a:r>
                <a:rPr lang="en-US" sz="1725" i="true">
                  <a:solidFill>
                    <a:srgbClr val="6B7280"/>
                  </a:solidFill>
                  <a:latin typeface="Calibri (MS) Italics"/>
                  <a:ea typeface="Calibri (MS) Italics"/>
                  <a:cs typeface="Calibri (MS) Italics"/>
                  <a:sym typeface="Calibri (MS) Italics"/>
                </a:rPr>
                <a:t>8 trials · 55.6 s de búsqueda</a:t>
              </a:r>
            </a:p>
          </p:txBody>
        </p:sp>
      </p:grpSp>
      <p:grpSp>
        <p:nvGrpSpPr>
          <p:cNvPr name="Group 22" id="22"/>
          <p:cNvGrpSpPr/>
          <p:nvPr/>
        </p:nvGrpSpPr>
        <p:grpSpPr>
          <a:xfrm rot="0">
            <a:off x="1234440" y="7338060"/>
            <a:ext cx="8641080" cy="548640"/>
            <a:chOff x="0" y="0"/>
            <a:chExt cx="11521440" cy="731520"/>
          </a:xfrm>
        </p:grpSpPr>
        <p:sp>
          <p:nvSpPr>
            <p:cNvPr name="Freeform 23" id="23"/>
            <p:cNvSpPr/>
            <p:nvPr/>
          </p:nvSpPr>
          <p:spPr>
            <a:xfrm flipH="false" flipV="false" rot="0">
              <a:off x="0" y="0"/>
              <a:ext cx="11521440" cy="731520"/>
            </a:xfrm>
            <a:custGeom>
              <a:avLst/>
              <a:gdLst/>
              <a:ahLst/>
              <a:cxnLst/>
              <a:rect r="r" b="b" t="t" l="l"/>
              <a:pathLst>
                <a:path h="731520" w="11521440">
                  <a:moveTo>
                    <a:pt x="0" y="0"/>
                  </a:moveTo>
                  <a:lnTo>
                    <a:pt x="11521440" y="0"/>
                  </a:lnTo>
                  <a:lnTo>
                    <a:pt x="11521440" y="731520"/>
                  </a:lnTo>
                  <a:lnTo>
                    <a:pt x="0" y="731520"/>
                  </a:lnTo>
                  <a:close/>
                </a:path>
              </a:pathLst>
            </a:custGeom>
            <a:blipFill>
              <a:blip r:embed="rId2">
                <a:alphaModFix amt="0"/>
              </a:blip>
              <a:stretch>
                <a:fillRect l="0" t="-256889" r="0" b="-256889"/>
              </a:stretch>
            </a:blipFill>
          </p:spPr>
        </p:sp>
        <p:sp>
          <p:nvSpPr>
            <p:cNvPr name="TextBox 24" id="24"/>
            <p:cNvSpPr txBox="true"/>
            <p:nvPr/>
          </p:nvSpPr>
          <p:spPr>
            <a:xfrm>
              <a:off x="0" y="-57150"/>
              <a:ext cx="11521440" cy="788670"/>
            </a:xfrm>
            <a:prstGeom prst="rect">
              <a:avLst/>
            </a:prstGeom>
          </p:spPr>
          <p:txBody>
            <a:bodyPr anchor="ctr" rtlCol="false" tIns="0" lIns="0" bIns="0" rIns="0"/>
            <a:lstStyle/>
            <a:p>
              <a:pPr algn="l">
                <a:lnSpc>
                  <a:spcPts val="2277"/>
                </a:lnSpc>
              </a:pPr>
              <a:r>
                <a:rPr lang="en-US" sz="1650">
                  <a:solidFill>
                    <a:srgbClr val="6B7280"/>
                  </a:solidFill>
                  <a:latin typeface="Calibri (MS)"/>
                  <a:ea typeface="Calibri (MS)"/>
                  <a:cs typeface="Calibri (MS)"/>
                  <a:sym typeface="Calibri (MS)"/>
                </a:rPr>
                <a:t>Una arquitectura mucho más chica que la manual (1 capa vs. varias, 6.095 vs. 21.263 parámetros) — el espacio de búsqueda favoreció simplicidad.</a:t>
              </a:r>
            </a:p>
          </p:txBody>
        </p:sp>
      </p:grpSp>
      <p:grpSp>
        <p:nvGrpSpPr>
          <p:cNvPr name="Group 25" id="25"/>
          <p:cNvGrpSpPr/>
          <p:nvPr/>
        </p:nvGrpSpPr>
        <p:grpSpPr>
          <a:xfrm rot="0">
            <a:off x="11109960" y="2537460"/>
            <a:ext cx="6309360" cy="5417820"/>
            <a:chOff x="0" y="0"/>
            <a:chExt cx="8412480" cy="7223760"/>
          </a:xfrm>
        </p:grpSpPr>
        <p:sp>
          <p:nvSpPr>
            <p:cNvPr name="Freeform 26" id="26"/>
            <p:cNvSpPr/>
            <p:nvPr/>
          </p:nvSpPr>
          <p:spPr>
            <a:xfrm flipH="false" flipV="false" rot="0">
              <a:off x="0" y="0"/>
              <a:ext cx="8412480" cy="7223760"/>
            </a:xfrm>
            <a:custGeom>
              <a:avLst/>
              <a:gdLst/>
              <a:ahLst/>
              <a:cxnLst/>
              <a:rect r="r" b="b" t="t" l="l"/>
              <a:pathLst>
                <a:path h="7223760" w="8412480">
                  <a:moveTo>
                    <a:pt x="0" y="182880"/>
                  </a:moveTo>
                  <a:cubicBezTo>
                    <a:pt x="0" y="81915"/>
                    <a:pt x="81915" y="0"/>
                    <a:pt x="182880" y="0"/>
                  </a:cubicBezTo>
                  <a:lnTo>
                    <a:pt x="8229600" y="0"/>
                  </a:lnTo>
                  <a:cubicBezTo>
                    <a:pt x="8330565" y="0"/>
                    <a:pt x="8412480" y="81915"/>
                    <a:pt x="8412480" y="182880"/>
                  </a:cubicBezTo>
                  <a:lnTo>
                    <a:pt x="8412480" y="7040880"/>
                  </a:lnTo>
                  <a:cubicBezTo>
                    <a:pt x="8412480" y="7141845"/>
                    <a:pt x="8330565" y="7223760"/>
                    <a:pt x="8229600" y="7223760"/>
                  </a:cubicBezTo>
                  <a:lnTo>
                    <a:pt x="182880" y="7223760"/>
                  </a:lnTo>
                  <a:cubicBezTo>
                    <a:pt x="81915" y="7223760"/>
                    <a:pt x="0" y="7141845"/>
                    <a:pt x="0" y="7040880"/>
                  </a:cubicBezTo>
                  <a:close/>
                </a:path>
              </a:pathLst>
            </a:custGeom>
            <a:solidFill>
              <a:srgbClr val="10162B"/>
            </a:solidFill>
          </p:spPr>
        </p:sp>
      </p:grpSp>
      <p:grpSp>
        <p:nvGrpSpPr>
          <p:cNvPr name="Group 27" id="27"/>
          <p:cNvGrpSpPr/>
          <p:nvPr/>
        </p:nvGrpSpPr>
        <p:grpSpPr>
          <a:xfrm rot="0">
            <a:off x="11590020" y="2880360"/>
            <a:ext cx="5349240" cy="411480"/>
            <a:chOff x="0" y="0"/>
            <a:chExt cx="7132320" cy="548640"/>
          </a:xfrm>
        </p:grpSpPr>
        <p:sp>
          <p:nvSpPr>
            <p:cNvPr name="Freeform 28" id="28"/>
            <p:cNvSpPr/>
            <p:nvPr/>
          </p:nvSpPr>
          <p:spPr>
            <a:xfrm flipH="false" flipV="false" rot="0">
              <a:off x="0" y="0"/>
              <a:ext cx="7132320" cy="548640"/>
            </a:xfrm>
            <a:custGeom>
              <a:avLst/>
              <a:gdLst/>
              <a:ahLst/>
              <a:cxnLst/>
              <a:rect r="r" b="b" t="t" l="l"/>
              <a:pathLst>
                <a:path h="548640" w="7132320">
                  <a:moveTo>
                    <a:pt x="0" y="0"/>
                  </a:moveTo>
                  <a:lnTo>
                    <a:pt x="7132320" y="0"/>
                  </a:lnTo>
                  <a:lnTo>
                    <a:pt x="7132320" y="548640"/>
                  </a:lnTo>
                  <a:lnTo>
                    <a:pt x="0" y="548640"/>
                  </a:lnTo>
                  <a:close/>
                </a:path>
              </a:pathLst>
            </a:custGeom>
            <a:blipFill>
              <a:blip r:embed="rId2">
                <a:alphaModFix amt="0"/>
              </a:blip>
              <a:stretch>
                <a:fillRect l="0" t="-203305" r="0" b="-203305"/>
              </a:stretch>
            </a:blipFill>
          </p:spPr>
        </p:sp>
        <p:sp>
          <p:nvSpPr>
            <p:cNvPr name="TextBox 29" id="29"/>
            <p:cNvSpPr txBox="true"/>
            <p:nvPr/>
          </p:nvSpPr>
          <p:spPr>
            <a:xfrm>
              <a:off x="0" y="-19050"/>
              <a:ext cx="7132320" cy="567690"/>
            </a:xfrm>
            <a:prstGeom prst="rect">
              <a:avLst/>
            </a:prstGeom>
          </p:spPr>
          <p:txBody>
            <a:bodyPr anchor="ctr" rtlCol="false" tIns="0" lIns="0" bIns="0" rIns="0"/>
            <a:lstStyle/>
            <a:p>
              <a:pPr algn="l">
                <a:lnSpc>
                  <a:spcPts val="1889"/>
                </a:lnSpc>
              </a:pPr>
              <a:r>
                <a:rPr lang="en-US" b="true" sz="1575" spc="224">
                  <a:solidFill>
                    <a:srgbClr val="00D1B2"/>
                  </a:solidFill>
                  <a:latin typeface="Calibri (MS) Bold"/>
                  <a:ea typeface="Calibri (MS) Bold"/>
                  <a:cs typeface="Calibri (MS) Bold"/>
                  <a:sym typeface="Calibri (MS) Bold"/>
                </a:rPr>
                <a:t>DNN + NAS — TEST</a:t>
              </a:r>
            </a:p>
          </p:txBody>
        </p:sp>
      </p:grpSp>
      <p:grpSp>
        <p:nvGrpSpPr>
          <p:cNvPr name="Group 30" id="30"/>
          <p:cNvGrpSpPr/>
          <p:nvPr/>
        </p:nvGrpSpPr>
        <p:grpSpPr>
          <a:xfrm rot="0">
            <a:off x="11590020" y="3291840"/>
            <a:ext cx="3017520" cy="822960"/>
            <a:chOff x="0" y="0"/>
            <a:chExt cx="4023360" cy="1097280"/>
          </a:xfrm>
        </p:grpSpPr>
        <p:sp>
          <p:nvSpPr>
            <p:cNvPr name="Freeform 31" id="31"/>
            <p:cNvSpPr/>
            <p:nvPr/>
          </p:nvSpPr>
          <p:spPr>
            <a:xfrm flipH="false" flipV="false" rot="0">
              <a:off x="0" y="0"/>
              <a:ext cx="4023360" cy="1097280"/>
            </a:xfrm>
            <a:custGeom>
              <a:avLst/>
              <a:gdLst/>
              <a:ahLst/>
              <a:cxnLst/>
              <a:rect r="r" b="b" t="t" l="l"/>
              <a:pathLst>
                <a:path h="1097280" w="4023360">
                  <a:moveTo>
                    <a:pt x="0" y="0"/>
                  </a:moveTo>
                  <a:lnTo>
                    <a:pt x="4023360" y="0"/>
                  </a:lnTo>
                  <a:lnTo>
                    <a:pt x="4023360" y="1097280"/>
                  </a:lnTo>
                  <a:lnTo>
                    <a:pt x="0" y="1097280"/>
                  </a:lnTo>
                  <a:close/>
                </a:path>
              </a:pathLst>
            </a:custGeom>
            <a:blipFill>
              <a:blip r:embed="rId2">
                <a:alphaModFix amt="0"/>
              </a:blip>
              <a:stretch>
                <a:fillRect l="0" t="-21445" r="0" b="-21445"/>
              </a:stretch>
            </a:blipFill>
          </p:spPr>
        </p:sp>
        <p:sp>
          <p:nvSpPr>
            <p:cNvPr name="TextBox 32" id="32"/>
            <p:cNvSpPr txBox="true"/>
            <p:nvPr/>
          </p:nvSpPr>
          <p:spPr>
            <a:xfrm>
              <a:off x="0" y="-19050"/>
              <a:ext cx="4023360" cy="1116330"/>
            </a:xfrm>
            <a:prstGeom prst="rect">
              <a:avLst/>
            </a:prstGeom>
          </p:spPr>
          <p:txBody>
            <a:bodyPr anchor="ctr" rtlCol="false" tIns="0" lIns="0" bIns="0" rIns="0"/>
            <a:lstStyle/>
            <a:p>
              <a:pPr algn="l">
                <a:lnSpc>
                  <a:spcPts val="5400"/>
                </a:lnSpc>
              </a:pPr>
              <a:r>
                <a:rPr lang="en-US" sz="4500" b="true">
                  <a:solidFill>
                    <a:srgbClr val="FFFFFF"/>
                  </a:solidFill>
                  <a:latin typeface="Cambria Bold"/>
                  <a:ea typeface="Cambria Bold"/>
                  <a:cs typeface="Cambria Bold"/>
                  <a:sym typeface="Cambria Bold"/>
                </a:rPr>
                <a:t>0.765</a:t>
              </a:r>
            </a:p>
          </p:txBody>
        </p:sp>
      </p:grpSp>
      <p:grpSp>
        <p:nvGrpSpPr>
          <p:cNvPr name="Group 33" id="33"/>
          <p:cNvGrpSpPr/>
          <p:nvPr/>
        </p:nvGrpSpPr>
        <p:grpSpPr>
          <a:xfrm rot="0">
            <a:off x="11590020" y="4114800"/>
            <a:ext cx="3017520" cy="411480"/>
            <a:chOff x="0" y="0"/>
            <a:chExt cx="4023360" cy="548640"/>
          </a:xfrm>
        </p:grpSpPr>
        <p:sp>
          <p:nvSpPr>
            <p:cNvPr name="Freeform 34" id="34"/>
            <p:cNvSpPr/>
            <p:nvPr/>
          </p:nvSpPr>
          <p:spPr>
            <a:xfrm flipH="false" flipV="false" rot="0">
              <a:off x="0" y="0"/>
              <a:ext cx="4023360" cy="548640"/>
            </a:xfrm>
            <a:custGeom>
              <a:avLst/>
              <a:gdLst/>
              <a:ahLst/>
              <a:cxnLst/>
              <a:rect r="r" b="b" t="t" l="l"/>
              <a:pathLst>
                <a:path h="548640" w="4023360">
                  <a:moveTo>
                    <a:pt x="0" y="0"/>
                  </a:moveTo>
                  <a:lnTo>
                    <a:pt x="4023360" y="0"/>
                  </a:lnTo>
                  <a:lnTo>
                    <a:pt x="4023360" y="548640"/>
                  </a:lnTo>
                  <a:lnTo>
                    <a:pt x="0" y="548640"/>
                  </a:lnTo>
                  <a:close/>
                </a:path>
              </a:pathLst>
            </a:custGeom>
            <a:blipFill>
              <a:blip r:embed="rId2">
                <a:alphaModFix amt="0"/>
              </a:blip>
              <a:stretch>
                <a:fillRect l="0" t="-92890" r="0" b="-92890"/>
              </a:stretch>
            </a:blipFill>
          </p:spPr>
        </p:sp>
        <p:sp>
          <p:nvSpPr>
            <p:cNvPr name="TextBox 35" id="35"/>
            <p:cNvSpPr txBox="true"/>
            <p:nvPr/>
          </p:nvSpPr>
          <p:spPr>
            <a:xfrm>
              <a:off x="0" y="-19050"/>
              <a:ext cx="4023360" cy="567690"/>
            </a:xfrm>
            <a:prstGeom prst="rect">
              <a:avLst/>
            </a:prstGeom>
          </p:spPr>
          <p:txBody>
            <a:bodyPr anchor="ctr" rtlCol="false" tIns="0" lIns="0" bIns="0" rIns="0"/>
            <a:lstStyle/>
            <a:p>
              <a:pPr algn="l">
                <a:lnSpc>
                  <a:spcPts val="1889"/>
                </a:lnSpc>
              </a:pPr>
              <a:r>
                <a:rPr lang="en-US" sz="1575">
                  <a:solidFill>
                    <a:srgbClr val="B9C0E0"/>
                  </a:solidFill>
                  <a:latin typeface="Calibri (MS)"/>
                  <a:ea typeface="Calibri (MS)"/>
                  <a:cs typeface="Calibri (MS)"/>
                  <a:sym typeface="Calibri (MS)"/>
                </a:rPr>
                <a:t>macro-F1</a:t>
              </a:r>
            </a:p>
          </p:txBody>
        </p:sp>
      </p:grpSp>
      <p:grpSp>
        <p:nvGrpSpPr>
          <p:cNvPr name="Group 36" id="36"/>
          <p:cNvGrpSpPr/>
          <p:nvPr/>
        </p:nvGrpSpPr>
        <p:grpSpPr>
          <a:xfrm rot="0">
            <a:off x="11590020" y="4800600"/>
            <a:ext cx="2880360" cy="754380"/>
            <a:chOff x="0" y="0"/>
            <a:chExt cx="3840480" cy="1005840"/>
          </a:xfrm>
        </p:grpSpPr>
        <p:sp>
          <p:nvSpPr>
            <p:cNvPr name="Freeform 37" id="37"/>
            <p:cNvSpPr/>
            <p:nvPr/>
          </p:nvSpPr>
          <p:spPr>
            <a:xfrm flipH="false" flipV="false" rot="0">
              <a:off x="0" y="0"/>
              <a:ext cx="3840480" cy="1005840"/>
            </a:xfrm>
            <a:custGeom>
              <a:avLst/>
              <a:gdLst/>
              <a:ahLst/>
              <a:cxnLst/>
              <a:rect r="r" b="b" t="t" l="l"/>
              <a:pathLst>
                <a:path h="1005840" w="3840480">
                  <a:moveTo>
                    <a:pt x="0" y="0"/>
                  </a:moveTo>
                  <a:lnTo>
                    <a:pt x="3840480" y="0"/>
                  </a:lnTo>
                  <a:lnTo>
                    <a:pt x="3840480" y="1005840"/>
                  </a:lnTo>
                  <a:lnTo>
                    <a:pt x="0" y="1005840"/>
                  </a:lnTo>
                  <a:close/>
                </a:path>
              </a:pathLst>
            </a:custGeom>
            <a:blipFill>
              <a:blip r:embed="rId2">
                <a:alphaModFix amt="0"/>
              </a:blip>
              <a:stretch>
                <a:fillRect l="0" t="-24397" r="0" b="-24397"/>
              </a:stretch>
            </a:blipFill>
          </p:spPr>
        </p:sp>
        <p:sp>
          <p:nvSpPr>
            <p:cNvPr name="TextBox 38" id="38"/>
            <p:cNvSpPr txBox="true"/>
            <p:nvPr/>
          </p:nvSpPr>
          <p:spPr>
            <a:xfrm>
              <a:off x="0" y="-19050"/>
              <a:ext cx="3840480" cy="1024890"/>
            </a:xfrm>
            <a:prstGeom prst="rect">
              <a:avLst/>
            </a:prstGeom>
          </p:spPr>
          <p:txBody>
            <a:bodyPr anchor="ctr" rtlCol="false" tIns="0" lIns="0" bIns="0" rIns="0"/>
            <a:lstStyle/>
            <a:p>
              <a:pPr algn="l">
                <a:lnSpc>
                  <a:spcPts val="1889"/>
                </a:lnSpc>
              </a:pPr>
              <a:r>
                <a:rPr lang="en-US" sz="1575">
                  <a:solidFill>
                    <a:srgbClr val="8A93B8"/>
                  </a:solidFill>
                  <a:latin typeface="Calibri (MS)"/>
                  <a:ea typeface="Calibri (MS)"/>
                  <a:cs typeface="Calibri (MS)"/>
                  <a:sym typeface="Calibri (MS)"/>
                </a:rPr>
                <a:t>Parámetros</a:t>
              </a:r>
            </a:p>
          </p:txBody>
        </p:sp>
      </p:grpSp>
      <p:grpSp>
        <p:nvGrpSpPr>
          <p:cNvPr name="Group 39" id="39"/>
          <p:cNvGrpSpPr/>
          <p:nvPr/>
        </p:nvGrpSpPr>
        <p:grpSpPr>
          <a:xfrm rot="0">
            <a:off x="14401800" y="4800600"/>
            <a:ext cx="2537460" cy="754380"/>
            <a:chOff x="0" y="0"/>
            <a:chExt cx="3383280" cy="1005840"/>
          </a:xfrm>
        </p:grpSpPr>
        <p:sp>
          <p:nvSpPr>
            <p:cNvPr name="Freeform 40" id="40"/>
            <p:cNvSpPr/>
            <p:nvPr/>
          </p:nvSpPr>
          <p:spPr>
            <a:xfrm flipH="false" flipV="false" rot="0">
              <a:off x="0" y="0"/>
              <a:ext cx="3383280" cy="1005840"/>
            </a:xfrm>
            <a:custGeom>
              <a:avLst/>
              <a:gdLst/>
              <a:ahLst/>
              <a:cxnLst/>
              <a:rect r="r" b="b" t="t" l="l"/>
              <a:pathLst>
                <a:path h="1005840" w="3383280">
                  <a:moveTo>
                    <a:pt x="0" y="0"/>
                  </a:moveTo>
                  <a:lnTo>
                    <a:pt x="3383280" y="0"/>
                  </a:lnTo>
                  <a:lnTo>
                    <a:pt x="3383280" y="1005840"/>
                  </a:lnTo>
                  <a:lnTo>
                    <a:pt x="0" y="1005840"/>
                  </a:lnTo>
                  <a:close/>
                </a:path>
              </a:pathLst>
            </a:custGeom>
            <a:blipFill>
              <a:blip r:embed="rId2">
                <a:alphaModFix amt="0"/>
              </a:blip>
              <a:stretch>
                <a:fillRect l="0" t="-15540" r="0" b="-15540"/>
              </a:stretch>
            </a:blipFill>
          </p:spPr>
        </p:sp>
        <p:sp>
          <p:nvSpPr>
            <p:cNvPr name="TextBox 41" id="41"/>
            <p:cNvSpPr txBox="true"/>
            <p:nvPr/>
          </p:nvSpPr>
          <p:spPr>
            <a:xfrm>
              <a:off x="0" y="-38100"/>
              <a:ext cx="3383280" cy="1043940"/>
            </a:xfrm>
            <a:prstGeom prst="rect">
              <a:avLst/>
            </a:prstGeom>
          </p:spPr>
          <p:txBody>
            <a:bodyPr anchor="ctr" rtlCol="false" tIns="0" lIns="0" bIns="0" rIns="0"/>
            <a:lstStyle/>
            <a:p>
              <a:pPr algn="r">
                <a:lnSpc>
                  <a:spcPts val="2070"/>
                </a:lnSpc>
              </a:pPr>
              <a:r>
                <a:rPr lang="en-US" sz="1725" b="true">
                  <a:solidFill>
                    <a:srgbClr val="00D1B2"/>
                  </a:solidFill>
                  <a:latin typeface="Calibri (MS) Bold"/>
                  <a:ea typeface="Calibri (MS) Bold"/>
                  <a:cs typeface="Calibri (MS) Bold"/>
                  <a:sym typeface="Calibri (MS) Bold"/>
                </a:rPr>
                <a:t>6.095 (−71% vs. manual)</a:t>
              </a:r>
            </a:p>
          </p:txBody>
        </p:sp>
      </p:grpSp>
      <p:grpSp>
        <p:nvGrpSpPr>
          <p:cNvPr name="Group 42" id="42"/>
          <p:cNvGrpSpPr/>
          <p:nvPr/>
        </p:nvGrpSpPr>
        <p:grpSpPr>
          <a:xfrm rot="0">
            <a:off x="11590020" y="5650992"/>
            <a:ext cx="2880360" cy="754380"/>
            <a:chOff x="0" y="0"/>
            <a:chExt cx="3840480" cy="1005840"/>
          </a:xfrm>
        </p:grpSpPr>
        <p:sp>
          <p:nvSpPr>
            <p:cNvPr name="Freeform 43" id="43"/>
            <p:cNvSpPr/>
            <p:nvPr/>
          </p:nvSpPr>
          <p:spPr>
            <a:xfrm flipH="false" flipV="false" rot="0">
              <a:off x="0" y="0"/>
              <a:ext cx="3840480" cy="1005840"/>
            </a:xfrm>
            <a:custGeom>
              <a:avLst/>
              <a:gdLst/>
              <a:ahLst/>
              <a:cxnLst/>
              <a:rect r="r" b="b" t="t" l="l"/>
              <a:pathLst>
                <a:path h="1005840" w="3840480">
                  <a:moveTo>
                    <a:pt x="0" y="0"/>
                  </a:moveTo>
                  <a:lnTo>
                    <a:pt x="3840480" y="0"/>
                  </a:lnTo>
                  <a:lnTo>
                    <a:pt x="3840480" y="1005840"/>
                  </a:lnTo>
                  <a:lnTo>
                    <a:pt x="0" y="1005840"/>
                  </a:lnTo>
                  <a:close/>
                </a:path>
              </a:pathLst>
            </a:custGeom>
            <a:blipFill>
              <a:blip r:embed="rId2">
                <a:alphaModFix amt="0"/>
              </a:blip>
              <a:stretch>
                <a:fillRect l="0" t="-24397" r="0" b="-24397"/>
              </a:stretch>
            </a:blipFill>
          </p:spPr>
        </p:sp>
        <p:sp>
          <p:nvSpPr>
            <p:cNvPr name="TextBox 44" id="44"/>
            <p:cNvSpPr txBox="true"/>
            <p:nvPr/>
          </p:nvSpPr>
          <p:spPr>
            <a:xfrm>
              <a:off x="0" y="-19050"/>
              <a:ext cx="3840480" cy="1024890"/>
            </a:xfrm>
            <a:prstGeom prst="rect">
              <a:avLst/>
            </a:prstGeom>
          </p:spPr>
          <p:txBody>
            <a:bodyPr anchor="ctr" rtlCol="false" tIns="0" lIns="0" bIns="0" rIns="0"/>
            <a:lstStyle/>
            <a:p>
              <a:pPr algn="l">
                <a:lnSpc>
                  <a:spcPts val="1889"/>
                </a:lnSpc>
              </a:pPr>
              <a:r>
                <a:rPr lang="en-US" sz="1575">
                  <a:solidFill>
                    <a:srgbClr val="8A93B8"/>
                  </a:solidFill>
                  <a:latin typeface="Calibri (MS)"/>
                  <a:ea typeface="Calibri (MS)"/>
                  <a:cs typeface="Calibri (MS)"/>
                  <a:sym typeface="Calibri (MS)"/>
                </a:rPr>
                <a:t>Balanced accuracy</a:t>
              </a:r>
            </a:p>
          </p:txBody>
        </p:sp>
      </p:grpSp>
      <p:grpSp>
        <p:nvGrpSpPr>
          <p:cNvPr name="Group 45" id="45"/>
          <p:cNvGrpSpPr/>
          <p:nvPr/>
        </p:nvGrpSpPr>
        <p:grpSpPr>
          <a:xfrm rot="0">
            <a:off x="14401800" y="5650992"/>
            <a:ext cx="2537460" cy="754380"/>
            <a:chOff x="0" y="0"/>
            <a:chExt cx="3383280" cy="1005840"/>
          </a:xfrm>
        </p:grpSpPr>
        <p:sp>
          <p:nvSpPr>
            <p:cNvPr name="Freeform 46" id="46"/>
            <p:cNvSpPr/>
            <p:nvPr/>
          </p:nvSpPr>
          <p:spPr>
            <a:xfrm flipH="false" flipV="false" rot="0">
              <a:off x="0" y="0"/>
              <a:ext cx="3383280" cy="1005840"/>
            </a:xfrm>
            <a:custGeom>
              <a:avLst/>
              <a:gdLst/>
              <a:ahLst/>
              <a:cxnLst/>
              <a:rect r="r" b="b" t="t" l="l"/>
              <a:pathLst>
                <a:path h="1005840" w="3383280">
                  <a:moveTo>
                    <a:pt x="0" y="0"/>
                  </a:moveTo>
                  <a:lnTo>
                    <a:pt x="3383280" y="0"/>
                  </a:lnTo>
                  <a:lnTo>
                    <a:pt x="3383280" y="1005840"/>
                  </a:lnTo>
                  <a:lnTo>
                    <a:pt x="0" y="1005840"/>
                  </a:lnTo>
                  <a:close/>
                </a:path>
              </a:pathLst>
            </a:custGeom>
            <a:blipFill>
              <a:blip r:embed="rId2">
                <a:alphaModFix amt="0"/>
              </a:blip>
              <a:stretch>
                <a:fillRect l="0" t="-15540" r="0" b="-15540"/>
              </a:stretch>
            </a:blipFill>
          </p:spPr>
        </p:sp>
        <p:sp>
          <p:nvSpPr>
            <p:cNvPr name="TextBox 47" id="47"/>
            <p:cNvSpPr txBox="true"/>
            <p:nvPr/>
          </p:nvSpPr>
          <p:spPr>
            <a:xfrm>
              <a:off x="0" y="-38100"/>
              <a:ext cx="3383280" cy="1043940"/>
            </a:xfrm>
            <a:prstGeom prst="rect">
              <a:avLst/>
            </a:prstGeom>
          </p:spPr>
          <p:txBody>
            <a:bodyPr anchor="ctr" rtlCol="false" tIns="0" lIns="0" bIns="0" rIns="0"/>
            <a:lstStyle/>
            <a:p>
              <a:pPr algn="r">
                <a:lnSpc>
                  <a:spcPts val="2070"/>
                </a:lnSpc>
              </a:pPr>
              <a:r>
                <a:rPr lang="en-US" sz="1725" b="true">
                  <a:solidFill>
                    <a:srgbClr val="00D1B2"/>
                  </a:solidFill>
                  <a:latin typeface="Calibri (MS) Bold"/>
                  <a:ea typeface="Calibri (MS) Bold"/>
                  <a:cs typeface="Calibri (MS) Bold"/>
                  <a:sym typeface="Calibri (MS) Bold"/>
                </a:rPr>
                <a:t>0.851</a:t>
              </a:r>
            </a:p>
          </p:txBody>
        </p:sp>
      </p:grpSp>
      <p:grpSp>
        <p:nvGrpSpPr>
          <p:cNvPr name="Group 48" id="48"/>
          <p:cNvGrpSpPr/>
          <p:nvPr/>
        </p:nvGrpSpPr>
        <p:grpSpPr>
          <a:xfrm rot="0">
            <a:off x="11590020" y="6501384"/>
            <a:ext cx="2880360" cy="754380"/>
            <a:chOff x="0" y="0"/>
            <a:chExt cx="3840480" cy="1005840"/>
          </a:xfrm>
        </p:grpSpPr>
        <p:sp>
          <p:nvSpPr>
            <p:cNvPr name="Freeform 49" id="49"/>
            <p:cNvSpPr/>
            <p:nvPr/>
          </p:nvSpPr>
          <p:spPr>
            <a:xfrm flipH="false" flipV="false" rot="0">
              <a:off x="0" y="0"/>
              <a:ext cx="3840480" cy="1005840"/>
            </a:xfrm>
            <a:custGeom>
              <a:avLst/>
              <a:gdLst/>
              <a:ahLst/>
              <a:cxnLst/>
              <a:rect r="r" b="b" t="t" l="l"/>
              <a:pathLst>
                <a:path h="1005840" w="3840480">
                  <a:moveTo>
                    <a:pt x="0" y="0"/>
                  </a:moveTo>
                  <a:lnTo>
                    <a:pt x="3840480" y="0"/>
                  </a:lnTo>
                  <a:lnTo>
                    <a:pt x="3840480" y="1005840"/>
                  </a:lnTo>
                  <a:lnTo>
                    <a:pt x="0" y="1005840"/>
                  </a:lnTo>
                  <a:close/>
                </a:path>
              </a:pathLst>
            </a:custGeom>
            <a:blipFill>
              <a:blip r:embed="rId2">
                <a:alphaModFix amt="0"/>
              </a:blip>
              <a:stretch>
                <a:fillRect l="0" t="-24397" r="0" b="-24397"/>
              </a:stretch>
            </a:blipFill>
          </p:spPr>
        </p:sp>
        <p:sp>
          <p:nvSpPr>
            <p:cNvPr name="TextBox 50" id="50"/>
            <p:cNvSpPr txBox="true"/>
            <p:nvPr/>
          </p:nvSpPr>
          <p:spPr>
            <a:xfrm>
              <a:off x="0" y="-19050"/>
              <a:ext cx="3840480" cy="1024890"/>
            </a:xfrm>
            <a:prstGeom prst="rect">
              <a:avLst/>
            </a:prstGeom>
          </p:spPr>
          <p:txBody>
            <a:bodyPr anchor="ctr" rtlCol="false" tIns="0" lIns="0" bIns="0" rIns="0"/>
            <a:lstStyle/>
            <a:p>
              <a:pPr algn="l">
                <a:lnSpc>
                  <a:spcPts val="1889"/>
                </a:lnSpc>
              </a:pPr>
              <a:r>
                <a:rPr lang="en-US" sz="1575">
                  <a:solidFill>
                    <a:srgbClr val="8A93B8"/>
                  </a:solidFill>
                  <a:latin typeface="Calibri (MS)"/>
                  <a:ea typeface="Calibri (MS)"/>
                  <a:cs typeface="Calibri (MS)"/>
                  <a:sym typeface="Calibri (MS)"/>
                </a:rPr>
                <a:t>Gap val→test</a:t>
              </a:r>
            </a:p>
          </p:txBody>
        </p:sp>
      </p:grpSp>
      <p:grpSp>
        <p:nvGrpSpPr>
          <p:cNvPr name="Group 51" id="51"/>
          <p:cNvGrpSpPr/>
          <p:nvPr/>
        </p:nvGrpSpPr>
        <p:grpSpPr>
          <a:xfrm rot="0">
            <a:off x="14401800" y="6501384"/>
            <a:ext cx="2537460" cy="754380"/>
            <a:chOff x="0" y="0"/>
            <a:chExt cx="3383280" cy="1005840"/>
          </a:xfrm>
        </p:grpSpPr>
        <p:sp>
          <p:nvSpPr>
            <p:cNvPr name="Freeform 52" id="52"/>
            <p:cNvSpPr/>
            <p:nvPr/>
          </p:nvSpPr>
          <p:spPr>
            <a:xfrm flipH="false" flipV="false" rot="0">
              <a:off x="0" y="0"/>
              <a:ext cx="3383280" cy="1005840"/>
            </a:xfrm>
            <a:custGeom>
              <a:avLst/>
              <a:gdLst/>
              <a:ahLst/>
              <a:cxnLst/>
              <a:rect r="r" b="b" t="t" l="l"/>
              <a:pathLst>
                <a:path h="1005840" w="3383280">
                  <a:moveTo>
                    <a:pt x="0" y="0"/>
                  </a:moveTo>
                  <a:lnTo>
                    <a:pt x="3383280" y="0"/>
                  </a:lnTo>
                  <a:lnTo>
                    <a:pt x="3383280" y="1005840"/>
                  </a:lnTo>
                  <a:lnTo>
                    <a:pt x="0" y="1005840"/>
                  </a:lnTo>
                  <a:close/>
                </a:path>
              </a:pathLst>
            </a:custGeom>
            <a:blipFill>
              <a:blip r:embed="rId2">
                <a:alphaModFix amt="0"/>
              </a:blip>
              <a:stretch>
                <a:fillRect l="0" t="-15540" r="0" b="-15540"/>
              </a:stretch>
            </a:blipFill>
          </p:spPr>
        </p:sp>
        <p:sp>
          <p:nvSpPr>
            <p:cNvPr name="TextBox 53" id="53"/>
            <p:cNvSpPr txBox="true"/>
            <p:nvPr/>
          </p:nvSpPr>
          <p:spPr>
            <a:xfrm>
              <a:off x="0" y="-38100"/>
              <a:ext cx="3383280" cy="1043940"/>
            </a:xfrm>
            <a:prstGeom prst="rect">
              <a:avLst/>
            </a:prstGeom>
          </p:spPr>
          <p:txBody>
            <a:bodyPr anchor="ctr" rtlCol="false" tIns="0" lIns="0" bIns="0" rIns="0"/>
            <a:lstStyle/>
            <a:p>
              <a:pPr algn="r">
                <a:lnSpc>
                  <a:spcPts val="2070"/>
                </a:lnSpc>
              </a:pPr>
              <a:r>
                <a:rPr lang="en-US" sz="1725" b="true">
                  <a:solidFill>
                    <a:srgbClr val="00D1B2"/>
                  </a:solidFill>
                  <a:latin typeface="Calibri (MS) Bold"/>
                  <a:ea typeface="Calibri (MS) Bold"/>
                  <a:cs typeface="Calibri (MS) Bold"/>
                  <a:sym typeface="Calibri (MS) Bold"/>
                </a:rPr>
                <a:t>0.0013</a:t>
              </a:r>
            </a:p>
          </p:txBody>
        </p:sp>
      </p:grpSp>
      <p:grpSp>
        <p:nvGrpSpPr>
          <p:cNvPr name="Group 54" id="54"/>
          <p:cNvGrpSpPr/>
          <p:nvPr/>
        </p:nvGrpSpPr>
        <p:grpSpPr>
          <a:xfrm rot="0">
            <a:off x="17053103" y="9601200"/>
            <a:ext cx="822960" cy="411480"/>
            <a:chOff x="0" y="0"/>
            <a:chExt cx="1097280" cy="548640"/>
          </a:xfrm>
        </p:grpSpPr>
        <p:sp>
          <p:nvSpPr>
            <p:cNvPr name="Freeform 55" id="55"/>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56" id="56"/>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12</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2 · 2.3 COMPARACIÓN CRÍTICA</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Cuatro soluciones, un mismo problema</a:t>
              </a:r>
            </a:p>
          </p:txBody>
        </p:sp>
      </p:grpSp>
      <p:grpSp>
        <p:nvGrpSpPr>
          <p:cNvPr name="Group 8" id="8"/>
          <p:cNvGrpSpPr/>
          <p:nvPr/>
        </p:nvGrpSpPr>
        <p:grpSpPr>
          <a:xfrm rot="0">
            <a:off x="822960" y="2537460"/>
            <a:ext cx="4800600" cy="685800"/>
            <a:chOff x="0" y="0"/>
            <a:chExt cx="6400800" cy="914400"/>
          </a:xfrm>
        </p:grpSpPr>
        <p:sp>
          <p:nvSpPr>
            <p:cNvPr name="Freeform 9" id="9"/>
            <p:cNvSpPr/>
            <p:nvPr/>
          </p:nvSpPr>
          <p:spPr>
            <a:xfrm flipH="false" flipV="false" rot="0">
              <a:off x="0" y="0"/>
              <a:ext cx="6400800" cy="914400"/>
            </a:xfrm>
            <a:custGeom>
              <a:avLst/>
              <a:gdLst/>
              <a:ahLst/>
              <a:cxnLst/>
              <a:rect r="r" b="b" t="t" l="l"/>
              <a:pathLst>
                <a:path h="914400" w="6400800">
                  <a:moveTo>
                    <a:pt x="0" y="0"/>
                  </a:moveTo>
                  <a:lnTo>
                    <a:pt x="6400800" y="0"/>
                  </a:lnTo>
                  <a:lnTo>
                    <a:pt x="6400800" y="914400"/>
                  </a:lnTo>
                  <a:lnTo>
                    <a:pt x="0" y="914400"/>
                  </a:lnTo>
                  <a:close/>
                </a:path>
              </a:pathLst>
            </a:custGeom>
            <a:solidFill>
              <a:srgbClr val="10162B"/>
            </a:solidFill>
          </p:spPr>
        </p:sp>
      </p:grpSp>
      <p:grpSp>
        <p:nvGrpSpPr>
          <p:cNvPr name="Group 10" id="10"/>
          <p:cNvGrpSpPr/>
          <p:nvPr/>
        </p:nvGrpSpPr>
        <p:grpSpPr>
          <a:xfrm rot="0">
            <a:off x="822960" y="2537460"/>
            <a:ext cx="4800600" cy="685800"/>
            <a:chOff x="0" y="0"/>
            <a:chExt cx="6400800" cy="914400"/>
          </a:xfrm>
        </p:grpSpPr>
        <p:sp>
          <p:nvSpPr>
            <p:cNvPr name="Freeform 11" id="11"/>
            <p:cNvSpPr/>
            <p:nvPr/>
          </p:nvSpPr>
          <p:spPr>
            <a:xfrm flipH="false" flipV="false" rot="0">
              <a:off x="0" y="0"/>
              <a:ext cx="6400800" cy="914400"/>
            </a:xfrm>
            <a:custGeom>
              <a:avLst/>
              <a:gdLst/>
              <a:ahLst/>
              <a:cxnLst/>
              <a:rect r="r" b="b" t="t" l="l"/>
              <a:pathLst>
                <a:path h="914400" w="6400800">
                  <a:moveTo>
                    <a:pt x="0" y="0"/>
                  </a:moveTo>
                  <a:lnTo>
                    <a:pt x="6400800" y="0"/>
                  </a:lnTo>
                  <a:lnTo>
                    <a:pt x="6400800" y="914400"/>
                  </a:lnTo>
                  <a:lnTo>
                    <a:pt x="0" y="914400"/>
                  </a:lnTo>
                  <a:close/>
                </a:path>
              </a:pathLst>
            </a:custGeom>
            <a:blipFill>
              <a:blip r:embed="rId2">
                <a:alphaModFix amt="0"/>
              </a:blip>
              <a:stretch>
                <a:fillRect l="0" t="-86395" r="0" b="-86395"/>
              </a:stretch>
            </a:blipFill>
          </p:spPr>
        </p:sp>
        <p:sp>
          <p:nvSpPr>
            <p:cNvPr name="TextBox 12" id="12"/>
            <p:cNvSpPr txBox="true"/>
            <p:nvPr/>
          </p:nvSpPr>
          <p:spPr>
            <a:xfrm>
              <a:off x="0" y="-28575"/>
              <a:ext cx="6400800" cy="942975"/>
            </a:xfrm>
            <a:prstGeom prst="rect">
              <a:avLst/>
            </a:prstGeom>
          </p:spPr>
          <p:txBody>
            <a:bodyPr anchor="ctr" rtlCol="false" tIns="0" lIns="0" bIns="0" rIns="0"/>
            <a:lstStyle/>
            <a:p>
              <a:pPr algn="l">
                <a:lnSpc>
                  <a:spcPts val="1980"/>
                </a:lnSpc>
              </a:pPr>
              <a:r>
                <a:rPr lang="en-US" sz="1650" b="true">
                  <a:solidFill>
                    <a:srgbClr val="FFFFFF"/>
                  </a:solidFill>
                  <a:latin typeface="Calibri (MS) Bold"/>
                  <a:ea typeface="Calibri (MS) Bold"/>
                  <a:cs typeface="Calibri (MS) Bold"/>
                  <a:sym typeface="Calibri (MS) Bold"/>
                </a:rPr>
                <a:t>Modelo</a:t>
              </a:r>
            </a:p>
          </p:txBody>
        </p:sp>
      </p:grpSp>
      <p:grpSp>
        <p:nvGrpSpPr>
          <p:cNvPr name="Group 13" id="13"/>
          <p:cNvGrpSpPr/>
          <p:nvPr/>
        </p:nvGrpSpPr>
        <p:grpSpPr>
          <a:xfrm rot="0">
            <a:off x="5623560" y="2537460"/>
            <a:ext cx="2606040" cy="685800"/>
            <a:chOff x="0" y="0"/>
            <a:chExt cx="3474720" cy="914400"/>
          </a:xfrm>
        </p:grpSpPr>
        <p:sp>
          <p:nvSpPr>
            <p:cNvPr name="Freeform 14" id="14"/>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solidFill>
              <a:srgbClr val="10162B"/>
            </a:solidFill>
          </p:spPr>
        </p:sp>
      </p:grpSp>
      <p:grpSp>
        <p:nvGrpSpPr>
          <p:cNvPr name="Group 15" id="15"/>
          <p:cNvGrpSpPr/>
          <p:nvPr/>
        </p:nvGrpSpPr>
        <p:grpSpPr>
          <a:xfrm rot="0">
            <a:off x="5623560" y="2537460"/>
            <a:ext cx="2606040" cy="685800"/>
            <a:chOff x="0" y="0"/>
            <a:chExt cx="3474720" cy="914400"/>
          </a:xfrm>
        </p:grpSpPr>
        <p:sp>
          <p:nvSpPr>
            <p:cNvPr name="Freeform 16" id="16"/>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17" id="17"/>
            <p:cNvSpPr txBox="true"/>
            <p:nvPr/>
          </p:nvSpPr>
          <p:spPr>
            <a:xfrm>
              <a:off x="0" y="-28575"/>
              <a:ext cx="3474720" cy="94297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macro-F1</a:t>
              </a:r>
            </a:p>
          </p:txBody>
        </p:sp>
      </p:grpSp>
      <p:grpSp>
        <p:nvGrpSpPr>
          <p:cNvPr name="Group 18" id="18"/>
          <p:cNvGrpSpPr/>
          <p:nvPr/>
        </p:nvGrpSpPr>
        <p:grpSpPr>
          <a:xfrm rot="0">
            <a:off x="8229600" y="2537460"/>
            <a:ext cx="3566160" cy="685800"/>
            <a:chOff x="0" y="0"/>
            <a:chExt cx="4754880" cy="914400"/>
          </a:xfrm>
        </p:grpSpPr>
        <p:sp>
          <p:nvSpPr>
            <p:cNvPr name="Freeform 19" id="19"/>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solidFill>
              <a:srgbClr val="10162B"/>
            </a:solidFill>
          </p:spPr>
        </p:sp>
      </p:grpSp>
      <p:grpSp>
        <p:nvGrpSpPr>
          <p:cNvPr name="Group 20" id="20"/>
          <p:cNvGrpSpPr/>
          <p:nvPr/>
        </p:nvGrpSpPr>
        <p:grpSpPr>
          <a:xfrm rot="0">
            <a:off x="8229600" y="2537460"/>
            <a:ext cx="3566160" cy="685800"/>
            <a:chOff x="0" y="0"/>
            <a:chExt cx="4754880" cy="914400"/>
          </a:xfrm>
        </p:grpSpPr>
        <p:sp>
          <p:nvSpPr>
            <p:cNvPr name="Freeform 21" id="21"/>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2">
                <a:alphaModFix amt="0"/>
              </a:blip>
              <a:stretch>
                <a:fillRect l="0" t="-51322" r="0" b="-51322"/>
              </a:stretch>
            </a:blipFill>
          </p:spPr>
        </p:sp>
        <p:sp>
          <p:nvSpPr>
            <p:cNvPr name="TextBox 22" id="22"/>
            <p:cNvSpPr txBox="true"/>
            <p:nvPr/>
          </p:nvSpPr>
          <p:spPr>
            <a:xfrm>
              <a:off x="0" y="-28575"/>
              <a:ext cx="4754880" cy="94297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Parámetros/reglas</a:t>
              </a:r>
            </a:p>
          </p:txBody>
        </p:sp>
      </p:grpSp>
      <p:grpSp>
        <p:nvGrpSpPr>
          <p:cNvPr name="Group 23" id="23"/>
          <p:cNvGrpSpPr/>
          <p:nvPr/>
        </p:nvGrpSpPr>
        <p:grpSpPr>
          <a:xfrm rot="0">
            <a:off x="11795760" y="2537460"/>
            <a:ext cx="2606040" cy="685800"/>
            <a:chOff x="0" y="0"/>
            <a:chExt cx="3474720" cy="914400"/>
          </a:xfrm>
        </p:grpSpPr>
        <p:sp>
          <p:nvSpPr>
            <p:cNvPr name="Freeform 24" id="24"/>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solidFill>
              <a:srgbClr val="10162B"/>
            </a:solidFill>
          </p:spPr>
        </p:sp>
      </p:grpSp>
      <p:grpSp>
        <p:nvGrpSpPr>
          <p:cNvPr name="Group 25" id="25"/>
          <p:cNvGrpSpPr/>
          <p:nvPr/>
        </p:nvGrpSpPr>
        <p:grpSpPr>
          <a:xfrm rot="0">
            <a:off x="11795760" y="2537460"/>
            <a:ext cx="2606040" cy="685800"/>
            <a:chOff x="0" y="0"/>
            <a:chExt cx="3474720" cy="914400"/>
          </a:xfrm>
        </p:grpSpPr>
        <p:sp>
          <p:nvSpPr>
            <p:cNvPr name="Freeform 26" id="26"/>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27" id="27"/>
            <p:cNvSpPr txBox="true"/>
            <p:nvPr/>
          </p:nvSpPr>
          <p:spPr>
            <a:xfrm>
              <a:off x="0" y="-28575"/>
              <a:ext cx="3474720" cy="94297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Tiempo (s)</a:t>
              </a:r>
            </a:p>
          </p:txBody>
        </p:sp>
      </p:grpSp>
      <p:grpSp>
        <p:nvGrpSpPr>
          <p:cNvPr name="Group 28" id="28"/>
          <p:cNvGrpSpPr/>
          <p:nvPr/>
        </p:nvGrpSpPr>
        <p:grpSpPr>
          <a:xfrm rot="0">
            <a:off x="14401800" y="2537460"/>
            <a:ext cx="2606040" cy="685800"/>
            <a:chOff x="0" y="0"/>
            <a:chExt cx="3474720" cy="914400"/>
          </a:xfrm>
        </p:grpSpPr>
        <p:sp>
          <p:nvSpPr>
            <p:cNvPr name="Freeform 29" id="29"/>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solidFill>
              <a:srgbClr val="10162B"/>
            </a:solidFill>
          </p:spPr>
        </p:sp>
      </p:grpSp>
      <p:grpSp>
        <p:nvGrpSpPr>
          <p:cNvPr name="Group 30" id="30"/>
          <p:cNvGrpSpPr/>
          <p:nvPr/>
        </p:nvGrpSpPr>
        <p:grpSpPr>
          <a:xfrm rot="0">
            <a:off x="14401800" y="2537460"/>
            <a:ext cx="2606040" cy="685800"/>
            <a:chOff x="0" y="0"/>
            <a:chExt cx="3474720" cy="914400"/>
          </a:xfrm>
        </p:grpSpPr>
        <p:sp>
          <p:nvSpPr>
            <p:cNvPr name="Freeform 31" id="31"/>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32" id="32"/>
            <p:cNvSpPr txBox="true"/>
            <p:nvPr/>
          </p:nvSpPr>
          <p:spPr>
            <a:xfrm>
              <a:off x="0" y="-28575"/>
              <a:ext cx="3474720" cy="94297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Gap val→test</a:t>
              </a:r>
            </a:p>
          </p:txBody>
        </p:sp>
      </p:grpSp>
      <p:grpSp>
        <p:nvGrpSpPr>
          <p:cNvPr name="Group 33" id="33"/>
          <p:cNvGrpSpPr/>
          <p:nvPr/>
        </p:nvGrpSpPr>
        <p:grpSpPr>
          <a:xfrm rot="0">
            <a:off x="815816" y="3216116"/>
            <a:ext cx="4814888" cy="700088"/>
            <a:chOff x="0" y="0"/>
            <a:chExt cx="6419850" cy="933450"/>
          </a:xfrm>
        </p:grpSpPr>
        <p:sp>
          <p:nvSpPr>
            <p:cNvPr name="Freeform 34" id="34"/>
            <p:cNvSpPr/>
            <p:nvPr/>
          </p:nvSpPr>
          <p:spPr>
            <a:xfrm flipH="false" flipV="false" rot="0">
              <a:off x="0" y="0"/>
              <a:ext cx="6419850" cy="933450"/>
            </a:xfrm>
            <a:custGeom>
              <a:avLst/>
              <a:gdLst/>
              <a:ahLst/>
              <a:cxnLst/>
              <a:rect r="r" b="b" t="t" l="l"/>
              <a:pathLst>
                <a:path h="933450" w="6419850">
                  <a:moveTo>
                    <a:pt x="0" y="0"/>
                  </a:moveTo>
                  <a:lnTo>
                    <a:pt x="6419850" y="0"/>
                  </a:lnTo>
                  <a:lnTo>
                    <a:pt x="6419850" y="933450"/>
                  </a:lnTo>
                  <a:lnTo>
                    <a:pt x="0" y="933450"/>
                  </a:lnTo>
                  <a:close/>
                </a:path>
              </a:pathLst>
            </a:custGeom>
            <a:solidFill>
              <a:srgbClr val="FFFFFF"/>
            </a:solidFill>
            <a:ln w="14288" cap="sq">
              <a:solidFill>
                <a:srgbClr val="E3E6F0"/>
              </a:solidFill>
              <a:prstDash val="solid"/>
              <a:miter/>
            </a:ln>
          </p:spPr>
        </p:sp>
      </p:grpSp>
      <p:grpSp>
        <p:nvGrpSpPr>
          <p:cNvPr name="Group 35" id="35"/>
          <p:cNvGrpSpPr/>
          <p:nvPr/>
        </p:nvGrpSpPr>
        <p:grpSpPr>
          <a:xfrm rot="0">
            <a:off x="822960" y="3223260"/>
            <a:ext cx="4800600" cy="685800"/>
            <a:chOff x="0" y="0"/>
            <a:chExt cx="6400800" cy="914400"/>
          </a:xfrm>
        </p:grpSpPr>
        <p:sp>
          <p:nvSpPr>
            <p:cNvPr name="Freeform 36" id="36"/>
            <p:cNvSpPr/>
            <p:nvPr/>
          </p:nvSpPr>
          <p:spPr>
            <a:xfrm flipH="false" flipV="false" rot="0">
              <a:off x="0" y="0"/>
              <a:ext cx="6400800" cy="914400"/>
            </a:xfrm>
            <a:custGeom>
              <a:avLst/>
              <a:gdLst/>
              <a:ahLst/>
              <a:cxnLst/>
              <a:rect r="r" b="b" t="t" l="l"/>
              <a:pathLst>
                <a:path h="914400" w="6400800">
                  <a:moveTo>
                    <a:pt x="0" y="0"/>
                  </a:moveTo>
                  <a:lnTo>
                    <a:pt x="6400800" y="0"/>
                  </a:lnTo>
                  <a:lnTo>
                    <a:pt x="6400800" y="914400"/>
                  </a:lnTo>
                  <a:lnTo>
                    <a:pt x="0" y="914400"/>
                  </a:lnTo>
                  <a:close/>
                </a:path>
              </a:pathLst>
            </a:custGeom>
            <a:blipFill>
              <a:blip r:embed="rId2">
                <a:alphaModFix amt="0"/>
              </a:blip>
              <a:stretch>
                <a:fillRect l="0" t="-86395" r="0" b="-86395"/>
              </a:stretch>
            </a:blipFill>
          </p:spPr>
        </p:sp>
        <p:sp>
          <p:nvSpPr>
            <p:cNvPr name="TextBox 37" id="37"/>
            <p:cNvSpPr txBox="true"/>
            <p:nvPr/>
          </p:nvSpPr>
          <p:spPr>
            <a:xfrm>
              <a:off x="0" y="-38100"/>
              <a:ext cx="6400800" cy="952500"/>
            </a:xfrm>
            <a:prstGeom prst="rect">
              <a:avLst/>
            </a:prstGeom>
          </p:spPr>
          <p:txBody>
            <a:bodyPr anchor="ctr" rtlCol="false" tIns="0" lIns="0" bIns="0" rIns="0"/>
            <a:lstStyle/>
            <a:p>
              <a:pPr algn="l">
                <a:lnSpc>
                  <a:spcPts val="2070"/>
                </a:lnSpc>
              </a:pPr>
              <a:r>
                <a:rPr lang="en-US" sz="1725" b="true">
                  <a:solidFill>
                    <a:srgbClr val="0E1220"/>
                  </a:solidFill>
                  <a:latin typeface="Calibri (MS) Bold"/>
                  <a:ea typeface="Calibri (MS) Bold"/>
                  <a:cs typeface="Calibri (MS) Bold"/>
                  <a:sym typeface="Calibri (MS) Bold"/>
                </a:rPr>
                <a:t>Regresión Logística</a:t>
              </a:r>
            </a:p>
          </p:txBody>
        </p:sp>
      </p:grpSp>
      <p:grpSp>
        <p:nvGrpSpPr>
          <p:cNvPr name="Group 38" id="38"/>
          <p:cNvGrpSpPr/>
          <p:nvPr/>
        </p:nvGrpSpPr>
        <p:grpSpPr>
          <a:xfrm rot="0">
            <a:off x="5616416" y="3216116"/>
            <a:ext cx="2620328" cy="700088"/>
            <a:chOff x="0" y="0"/>
            <a:chExt cx="3493770" cy="933450"/>
          </a:xfrm>
        </p:grpSpPr>
        <p:sp>
          <p:nvSpPr>
            <p:cNvPr name="Freeform 39" id="39"/>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FFFFFF"/>
            </a:solidFill>
            <a:ln w="14288" cap="sq">
              <a:solidFill>
                <a:srgbClr val="E3E6F0"/>
              </a:solidFill>
              <a:prstDash val="solid"/>
              <a:miter/>
            </a:ln>
          </p:spPr>
        </p:sp>
      </p:grpSp>
      <p:grpSp>
        <p:nvGrpSpPr>
          <p:cNvPr name="Group 40" id="40"/>
          <p:cNvGrpSpPr/>
          <p:nvPr/>
        </p:nvGrpSpPr>
        <p:grpSpPr>
          <a:xfrm rot="0">
            <a:off x="5623560" y="3223260"/>
            <a:ext cx="2606040" cy="685800"/>
            <a:chOff x="0" y="0"/>
            <a:chExt cx="3474720" cy="914400"/>
          </a:xfrm>
        </p:grpSpPr>
        <p:sp>
          <p:nvSpPr>
            <p:cNvPr name="Freeform 41" id="41"/>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42" id="42"/>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0.416</a:t>
              </a:r>
            </a:p>
          </p:txBody>
        </p:sp>
      </p:grpSp>
      <p:grpSp>
        <p:nvGrpSpPr>
          <p:cNvPr name="Group 43" id="43"/>
          <p:cNvGrpSpPr/>
          <p:nvPr/>
        </p:nvGrpSpPr>
        <p:grpSpPr>
          <a:xfrm rot="0">
            <a:off x="8222456" y="3216116"/>
            <a:ext cx="3580447" cy="700088"/>
            <a:chOff x="0" y="0"/>
            <a:chExt cx="4773930" cy="933450"/>
          </a:xfrm>
        </p:grpSpPr>
        <p:sp>
          <p:nvSpPr>
            <p:cNvPr name="Freeform 44" id="44"/>
            <p:cNvSpPr/>
            <p:nvPr/>
          </p:nvSpPr>
          <p:spPr>
            <a:xfrm flipH="false" flipV="false" rot="0">
              <a:off x="0" y="0"/>
              <a:ext cx="4773930" cy="933450"/>
            </a:xfrm>
            <a:custGeom>
              <a:avLst/>
              <a:gdLst/>
              <a:ahLst/>
              <a:cxnLst/>
              <a:rect r="r" b="b" t="t" l="l"/>
              <a:pathLst>
                <a:path h="933450" w="4773930">
                  <a:moveTo>
                    <a:pt x="0" y="0"/>
                  </a:moveTo>
                  <a:lnTo>
                    <a:pt x="4773930" y="0"/>
                  </a:lnTo>
                  <a:lnTo>
                    <a:pt x="4773930" y="933450"/>
                  </a:lnTo>
                  <a:lnTo>
                    <a:pt x="0" y="933450"/>
                  </a:lnTo>
                  <a:close/>
                </a:path>
              </a:pathLst>
            </a:custGeom>
            <a:solidFill>
              <a:srgbClr val="FFFFFF"/>
            </a:solidFill>
            <a:ln w="14288" cap="sq">
              <a:solidFill>
                <a:srgbClr val="E3E6F0"/>
              </a:solidFill>
              <a:prstDash val="solid"/>
              <a:miter/>
            </a:ln>
          </p:spPr>
        </p:sp>
      </p:grpSp>
      <p:grpSp>
        <p:nvGrpSpPr>
          <p:cNvPr name="Group 45" id="45"/>
          <p:cNvGrpSpPr/>
          <p:nvPr/>
        </p:nvGrpSpPr>
        <p:grpSpPr>
          <a:xfrm rot="0">
            <a:off x="8229600" y="3223260"/>
            <a:ext cx="3566160" cy="685800"/>
            <a:chOff x="0" y="0"/>
            <a:chExt cx="4754880" cy="914400"/>
          </a:xfrm>
        </p:grpSpPr>
        <p:sp>
          <p:nvSpPr>
            <p:cNvPr name="Freeform 46" id="46"/>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2">
                <a:alphaModFix amt="0"/>
              </a:blip>
              <a:stretch>
                <a:fillRect l="0" t="-51322" r="0" b="-51322"/>
              </a:stretch>
            </a:blipFill>
          </p:spPr>
        </p:sp>
        <p:sp>
          <p:nvSpPr>
            <p:cNvPr name="TextBox 47" id="47"/>
            <p:cNvSpPr txBox="true"/>
            <p:nvPr/>
          </p:nvSpPr>
          <p:spPr>
            <a:xfrm>
              <a:off x="0" y="-38100"/>
              <a:ext cx="475488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1.155</a:t>
              </a:r>
            </a:p>
          </p:txBody>
        </p:sp>
      </p:grpSp>
      <p:grpSp>
        <p:nvGrpSpPr>
          <p:cNvPr name="Group 48" id="48"/>
          <p:cNvGrpSpPr/>
          <p:nvPr/>
        </p:nvGrpSpPr>
        <p:grpSpPr>
          <a:xfrm rot="0">
            <a:off x="11788616" y="3216116"/>
            <a:ext cx="2620328" cy="700088"/>
            <a:chOff x="0" y="0"/>
            <a:chExt cx="3493770" cy="933450"/>
          </a:xfrm>
        </p:grpSpPr>
        <p:sp>
          <p:nvSpPr>
            <p:cNvPr name="Freeform 49" id="49"/>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FFFFFF"/>
            </a:solidFill>
            <a:ln w="14288" cap="sq">
              <a:solidFill>
                <a:srgbClr val="E3E6F0"/>
              </a:solidFill>
              <a:prstDash val="solid"/>
              <a:miter/>
            </a:ln>
          </p:spPr>
        </p:sp>
      </p:grpSp>
      <p:grpSp>
        <p:nvGrpSpPr>
          <p:cNvPr name="Group 50" id="50"/>
          <p:cNvGrpSpPr/>
          <p:nvPr/>
        </p:nvGrpSpPr>
        <p:grpSpPr>
          <a:xfrm rot="0">
            <a:off x="11795760" y="3223260"/>
            <a:ext cx="2606040" cy="685800"/>
            <a:chOff x="0" y="0"/>
            <a:chExt cx="3474720" cy="914400"/>
          </a:xfrm>
        </p:grpSpPr>
        <p:sp>
          <p:nvSpPr>
            <p:cNvPr name="Freeform 51" id="51"/>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52" id="52"/>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402.8</a:t>
              </a:r>
            </a:p>
          </p:txBody>
        </p:sp>
      </p:grpSp>
      <p:grpSp>
        <p:nvGrpSpPr>
          <p:cNvPr name="Group 53" id="53"/>
          <p:cNvGrpSpPr/>
          <p:nvPr/>
        </p:nvGrpSpPr>
        <p:grpSpPr>
          <a:xfrm rot="0">
            <a:off x="14394656" y="3216116"/>
            <a:ext cx="2620328" cy="700088"/>
            <a:chOff x="0" y="0"/>
            <a:chExt cx="3493770" cy="933450"/>
          </a:xfrm>
        </p:grpSpPr>
        <p:sp>
          <p:nvSpPr>
            <p:cNvPr name="Freeform 54" id="54"/>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FFFFFF"/>
            </a:solidFill>
            <a:ln w="14288" cap="sq">
              <a:solidFill>
                <a:srgbClr val="E3E6F0"/>
              </a:solidFill>
              <a:prstDash val="solid"/>
              <a:miter/>
            </a:ln>
          </p:spPr>
        </p:sp>
      </p:grpSp>
      <p:grpSp>
        <p:nvGrpSpPr>
          <p:cNvPr name="Group 55" id="55"/>
          <p:cNvGrpSpPr/>
          <p:nvPr/>
        </p:nvGrpSpPr>
        <p:grpSpPr>
          <a:xfrm rot="0">
            <a:off x="14401800" y="3223260"/>
            <a:ext cx="2606040" cy="685800"/>
            <a:chOff x="0" y="0"/>
            <a:chExt cx="3474720" cy="914400"/>
          </a:xfrm>
        </p:grpSpPr>
        <p:sp>
          <p:nvSpPr>
            <p:cNvPr name="Freeform 56" id="56"/>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57" id="57"/>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a:t>
              </a:r>
            </a:p>
          </p:txBody>
        </p:sp>
      </p:grpSp>
      <p:grpSp>
        <p:nvGrpSpPr>
          <p:cNvPr name="Group 58" id="58"/>
          <p:cNvGrpSpPr/>
          <p:nvPr/>
        </p:nvGrpSpPr>
        <p:grpSpPr>
          <a:xfrm rot="0">
            <a:off x="815816" y="3901916"/>
            <a:ext cx="4814888" cy="700088"/>
            <a:chOff x="0" y="0"/>
            <a:chExt cx="6419850" cy="933450"/>
          </a:xfrm>
        </p:grpSpPr>
        <p:sp>
          <p:nvSpPr>
            <p:cNvPr name="Freeform 59" id="59"/>
            <p:cNvSpPr/>
            <p:nvPr/>
          </p:nvSpPr>
          <p:spPr>
            <a:xfrm flipH="false" flipV="false" rot="0">
              <a:off x="0" y="0"/>
              <a:ext cx="6419850" cy="933450"/>
            </a:xfrm>
            <a:custGeom>
              <a:avLst/>
              <a:gdLst/>
              <a:ahLst/>
              <a:cxnLst/>
              <a:rect r="r" b="b" t="t" l="l"/>
              <a:pathLst>
                <a:path h="933450" w="6419850">
                  <a:moveTo>
                    <a:pt x="0" y="0"/>
                  </a:moveTo>
                  <a:lnTo>
                    <a:pt x="6419850" y="0"/>
                  </a:lnTo>
                  <a:lnTo>
                    <a:pt x="6419850" y="933450"/>
                  </a:lnTo>
                  <a:lnTo>
                    <a:pt x="0" y="933450"/>
                  </a:lnTo>
                  <a:close/>
                </a:path>
              </a:pathLst>
            </a:custGeom>
            <a:solidFill>
              <a:srgbClr val="F7F8FC"/>
            </a:solidFill>
            <a:ln w="14288" cap="sq">
              <a:solidFill>
                <a:srgbClr val="E3E6F0"/>
              </a:solidFill>
              <a:prstDash val="solid"/>
              <a:miter/>
            </a:ln>
          </p:spPr>
        </p:sp>
      </p:grpSp>
      <p:grpSp>
        <p:nvGrpSpPr>
          <p:cNvPr name="Group 60" id="60"/>
          <p:cNvGrpSpPr/>
          <p:nvPr/>
        </p:nvGrpSpPr>
        <p:grpSpPr>
          <a:xfrm rot="0">
            <a:off x="822960" y="3909060"/>
            <a:ext cx="4800600" cy="685800"/>
            <a:chOff x="0" y="0"/>
            <a:chExt cx="6400800" cy="914400"/>
          </a:xfrm>
        </p:grpSpPr>
        <p:sp>
          <p:nvSpPr>
            <p:cNvPr name="Freeform 61" id="61"/>
            <p:cNvSpPr/>
            <p:nvPr/>
          </p:nvSpPr>
          <p:spPr>
            <a:xfrm flipH="false" flipV="false" rot="0">
              <a:off x="0" y="0"/>
              <a:ext cx="6400800" cy="914400"/>
            </a:xfrm>
            <a:custGeom>
              <a:avLst/>
              <a:gdLst/>
              <a:ahLst/>
              <a:cxnLst/>
              <a:rect r="r" b="b" t="t" l="l"/>
              <a:pathLst>
                <a:path h="914400" w="6400800">
                  <a:moveTo>
                    <a:pt x="0" y="0"/>
                  </a:moveTo>
                  <a:lnTo>
                    <a:pt x="6400800" y="0"/>
                  </a:lnTo>
                  <a:lnTo>
                    <a:pt x="6400800" y="914400"/>
                  </a:lnTo>
                  <a:lnTo>
                    <a:pt x="0" y="914400"/>
                  </a:lnTo>
                  <a:close/>
                </a:path>
              </a:pathLst>
            </a:custGeom>
            <a:blipFill>
              <a:blip r:embed="rId2">
                <a:alphaModFix amt="0"/>
              </a:blip>
              <a:stretch>
                <a:fillRect l="0" t="-86395" r="0" b="-86395"/>
              </a:stretch>
            </a:blipFill>
          </p:spPr>
        </p:sp>
        <p:sp>
          <p:nvSpPr>
            <p:cNvPr name="TextBox 62" id="62"/>
            <p:cNvSpPr txBox="true"/>
            <p:nvPr/>
          </p:nvSpPr>
          <p:spPr>
            <a:xfrm>
              <a:off x="0" y="-38100"/>
              <a:ext cx="6400800" cy="952500"/>
            </a:xfrm>
            <a:prstGeom prst="rect">
              <a:avLst/>
            </a:prstGeom>
          </p:spPr>
          <p:txBody>
            <a:bodyPr anchor="ctr" rtlCol="false" tIns="0" lIns="0" bIns="0" rIns="0"/>
            <a:lstStyle/>
            <a:p>
              <a:pPr algn="l">
                <a:lnSpc>
                  <a:spcPts val="2070"/>
                </a:lnSpc>
              </a:pPr>
              <a:r>
                <a:rPr lang="en-US" sz="1725" b="true">
                  <a:solidFill>
                    <a:srgbClr val="0E1220"/>
                  </a:solidFill>
                  <a:latin typeface="Calibri (MS) Bold"/>
                  <a:ea typeface="Calibri (MS) Bold"/>
                  <a:cs typeface="Calibri (MS) Bold"/>
                  <a:sym typeface="Calibri (MS) Bold"/>
                </a:rPr>
                <a:t>SVM (RBF)</a:t>
              </a:r>
            </a:p>
          </p:txBody>
        </p:sp>
      </p:grpSp>
      <p:grpSp>
        <p:nvGrpSpPr>
          <p:cNvPr name="Group 63" id="63"/>
          <p:cNvGrpSpPr/>
          <p:nvPr/>
        </p:nvGrpSpPr>
        <p:grpSpPr>
          <a:xfrm rot="0">
            <a:off x="5616416" y="3901916"/>
            <a:ext cx="2620328" cy="700088"/>
            <a:chOff x="0" y="0"/>
            <a:chExt cx="3493770" cy="933450"/>
          </a:xfrm>
        </p:grpSpPr>
        <p:sp>
          <p:nvSpPr>
            <p:cNvPr name="Freeform 64" id="64"/>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F7F8FC"/>
            </a:solidFill>
            <a:ln w="14288" cap="sq">
              <a:solidFill>
                <a:srgbClr val="E3E6F0"/>
              </a:solidFill>
              <a:prstDash val="solid"/>
              <a:miter/>
            </a:ln>
          </p:spPr>
        </p:sp>
      </p:grpSp>
      <p:grpSp>
        <p:nvGrpSpPr>
          <p:cNvPr name="Group 65" id="65"/>
          <p:cNvGrpSpPr/>
          <p:nvPr/>
        </p:nvGrpSpPr>
        <p:grpSpPr>
          <a:xfrm rot="0">
            <a:off x="5623560" y="3909060"/>
            <a:ext cx="2606040" cy="685800"/>
            <a:chOff x="0" y="0"/>
            <a:chExt cx="3474720" cy="914400"/>
          </a:xfrm>
        </p:grpSpPr>
        <p:sp>
          <p:nvSpPr>
            <p:cNvPr name="Freeform 66" id="66"/>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67" id="67"/>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0.361</a:t>
              </a:r>
            </a:p>
          </p:txBody>
        </p:sp>
      </p:grpSp>
      <p:grpSp>
        <p:nvGrpSpPr>
          <p:cNvPr name="Group 68" id="68"/>
          <p:cNvGrpSpPr/>
          <p:nvPr/>
        </p:nvGrpSpPr>
        <p:grpSpPr>
          <a:xfrm rot="0">
            <a:off x="8222456" y="3901916"/>
            <a:ext cx="3580447" cy="700088"/>
            <a:chOff x="0" y="0"/>
            <a:chExt cx="4773930" cy="933450"/>
          </a:xfrm>
        </p:grpSpPr>
        <p:sp>
          <p:nvSpPr>
            <p:cNvPr name="Freeform 69" id="69"/>
            <p:cNvSpPr/>
            <p:nvPr/>
          </p:nvSpPr>
          <p:spPr>
            <a:xfrm flipH="false" flipV="false" rot="0">
              <a:off x="0" y="0"/>
              <a:ext cx="4773930" cy="933450"/>
            </a:xfrm>
            <a:custGeom>
              <a:avLst/>
              <a:gdLst/>
              <a:ahLst/>
              <a:cxnLst/>
              <a:rect r="r" b="b" t="t" l="l"/>
              <a:pathLst>
                <a:path h="933450" w="4773930">
                  <a:moveTo>
                    <a:pt x="0" y="0"/>
                  </a:moveTo>
                  <a:lnTo>
                    <a:pt x="4773930" y="0"/>
                  </a:lnTo>
                  <a:lnTo>
                    <a:pt x="4773930" y="933450"/>
                  </a:lnTo>
                  <a:lnTo>
                    <a:pt x="0" y="933450"/>
                  </a:lnTo>
                  <a:close/>
                </a:path>
              </a:pathLst>
            </a:custGeom>
            <a:solidFill>
              <a:srgbClr val="F7F8FC"/>
            </a:solidFill>
            <a:ln w="14288" cap="sq">
              <a:solidFill>
                <a:srgbClr val="E3E6F0"/>
              </a:solidFill>
              <a:prstDash val="solid"/>
              <a:miter/>
            </a:ln>
          </p:spPr>
        </p:sp>
      </p:grpSp>
      <p:grpSp>
        <p:nvGrpSpPr>
          <p:cNvPr name="Group 70" id="70"/>
          <p:cNvGrpSpPr/>
          <p:nvPr/>
        </p:nvGrpSpPr>
        <p:grpSpPr>
          <a:xfrm rot="0">
            <a:off x="8229600" y="3909060"/>
            <a:ext cx="3566160" cy="685800"/>
            <a:chOff x="0" y="0"/>
            <a:chExt cx="4754880" cy="914400"/>
          </a:xfrm>
        </p:grpSpPr>
        <p:sp>
          <p:nvSpPr>
            <p:cNvPr name="Freeform 71" id="71"/>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2">
                <a:alphaModFix amt="0"/>
              </a:blip>
              <a:stretch>
                <a:fillRect l="0" t="-51322" r="0" b="-51322"/>
              </a:stretch>
            </a:blipFill>
          </p:spPr>
        </p:sp>
        <p:sp>
          <p:nvSpPr>
            <p:cNvPr name="TextBox 72" id="72"/>
            <p:cNvSpPr txBox="true"/>
            <p:nvPr/>
          </p:nvSpPr>
          <p:spPr>
            <a:xfrm>
              <a:off x="0" y="-38100"/>
              <a:ext cx="475488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4.000</a:t>
              </a:r>
            </a:p>
          </p:txBody>
        </p:sp>
      </p:grpSp>
      <p:grpSp>
        <p:nvGrpSpPr>
          <p:cNvPr name="Group 73" id="73"/>
          <p:cNvGrpSpPr/>
          <p:nvPr/>
        </p:nvGrpSpPr>
        <p:grpSpPr>
          <a:xfrm rot="0">
            <a:off x="11788616" y="3901916"/>
            <a:ext cx="2620328" cy="700088"/>
            <a:chOff x="0" y="0"/>
            <a:chExt cx="3493770" cy="933450"/>
          </a:xfrm>
        </p:grpSpPr>
        <p:sp>
          <p:nvSpPr>
            <p:cNvPr name="Freeform 74" id="74"/>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F7F8FC"/>
            </a:solidFill>
            <a:ln w="14288" cap="sq">
              <a:solidFill>
                <a:srgbClr val="E3E6F0"/>
              </a:solidFill>
              <a:prstDash val="solid"/>
              <a:miter/>
            </a:ln>
          </p:spPr>
        </p:sp>
      </p:grpSp>
      <p:grpSp>
        <p:nvGrpSpPr>
          <p:cNvPr name="Group 75" id="75"/>
          <p:cNvGrpSpPr/>
          <p:nvPr/>
        </p:nvGrpSpPr>
        <p:grpSpPr>
          <a:xfrm rot="0">
            <a:off x="11795760" y="3909060"/>
            <a:ext cx="2606040" cy="685800"/>
            <a:chOff x="0" y="0"/>
            <a:chExt cx="3474720" cy="914400"/>
          </a:xfrm>
        </p:grpSpPr>
        <p:sp>
          <p:nvSpPr>
            <p:cNvPr name="Freeform 76" id="76"/>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77" id="77"/>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1.2</a:t>
              </a:r>
            </a:p>
          </p:txBody>
        </p:sp>
      </p:grpSp>
      <p:grpSp>
        <p:nvGrpSpPr>
          <p:cNvPr name="Group 78" id="78"/>
          <p:cNvGrpSpPr/>
          <p:nvPr/>
        </p:nvGrpSpPr>
        <p:grpSpPr>
          <a:xfrm rot="0">
            <a:off x="14394656" y="3901916"/>
            <a:ext cx="2620328" cy="700088"/>
            <a:chOff x="0" y="0"/>
            <a:chExt cx="3493770" cy="933450"/>
          </a:xfrm>
        </p:grpSpPr>
        <p:sp>
          <p:nvSpPr>
            <p:cNvPr name="Freeform 79" id="79"/>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F7F8FC"/>
            </a:solidFill>
            <a:ln w="14288" cap="sq">
              <a:solidFill>
                <a:srgbClr val="E3E6F0"/>
              </a:solidFill>
              <a:prstDash val="solid"/>
              <a:miter/>
            </a:ln>
          </p:spPr>
        </p:sp>
      </p:grpSp>
      <p:grpSp>
        <p:nvGrpSpPr>
          <p:cNvPr name="Group 80" id="80"/>
          <p:cNvGrpSpPr/>
          <p:nvPr/>
        </p:nvGrpSpPr>
        <p:grpSpPr>
          <a:xfrm rot="0">
            <a:off x="14401800" y="3909060"/>
            <a:ext cx="2606040" cy="685800"/>
            <a:chOff x="0" y="0"/>
            <a:chExt cx="3474720" cy="914400"/>
          </a:xfrm>
        </p:grpSpPr>
        <p:sp>
          <p:nvSpPr>
            <p:cNvPr name="Freeform 81" id="81"/>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82" id="82"/>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a:t>
              </a:r>
            </a:p>
          </p:txBody>
        </p:sp>
      </p:grpSp>
      <p:grpSp>
        <p:nvGrpSpPr>
          <p:cNvPr name="Group 83" id="83"/>
          <p:cNvGrpSpPr/>
          <p:nvPr/>
        </p:nvGrpSpPr>
        <p:grpSpPr>
          <a:xfrm rot="0">
            <a:off x="815816" y="4587716"/>
            <a:ext cx="4814888" cy="700088"/>
            <a:chOff x="0" y="0"/>
            <a:chExt cx="6419850" cy="933450"/>
          </a:xfrm>
        </p:grpSpPr>
        <p:sp>
          <p:nvSpPr>
            <p:cNvPr name="Freeform 84" id="84"/>
            <p:cNvSpPr/>
            <p:nvPr/>
          </p:nvSpPr>
          <p:spPr>
            <a:xfrm flipH="false" flipV="false" rot="0">
              <a:off x="0" y="0"/>
              <a:ext cx="6419850" cy="933450"/>
            </a:xfrm>
            <a:custGeom>
              <a:avLst/>
              <a:gdLst/>
              <a:ahLst/>
              <a:cxnLst/>
              <a:rect r="r" b="b" t="t" l="l"/>
              <a:pathLst>
                <a:path h="933450" w="6419850">
                  <a:moveTo>
                    <a:pt x="0" y="0"/>
                  </a:moveTo>
                  <a:lnTo>
                    <a:pt x="6419850" y="0"/>
                  </a:lnTo>
                  <a:lnTo>
                    <a:pt x="6419850" y="933450"/>
                  </a:lnTo>
                  <a:lnTo>
                    <a:pt x="0" y="933450"/>
                  </a:lnTo>
                  <a:close/>
                </a:path>
              </a:pathLst>
            </a:custGeom>
            <a:solidFill>
              <a:srgbClr val="FFFFFF"/>
            </a:solidFill>
            <a:ln w="14288" cap="sq">
              <a:solidFill>
                <a:srgbClr val="E3E6F0"/>
              </a:solidFill>
              <a:prstDash val="solid"/>
              <a:miter/>
            </a:ln>
          </p:spPr>
        </p:sp>
      </p:grpSp>
      <p:grpSp>
        <p:nvGrpSpPr>
          <p:cNvPr name="Group 85" id="85"/>
          <p:cNvGrpSpPr/>
          <p:nvPr/>
        </p:nvGrpSpPr>
        <p:grpSpPr>
          <a:xfrm rot="0">
            <a:off x="822960" y="4594860"/>
            <a:ext cx="4800600" cy="685800"/>
            <a:chOff x="0" y="0"/>
            <a:chExt cx="6400800" cy="914400"/>
          </a:xfrm>
        </p:grpSpPr>
        <p:sp>
          <p:nvSpPr>
            <p:cNvPr name="Freeform 86" id="86"/>
            <p:cNvSpPr/>
            <p:nvPr/>
          </p:nvSpPr>
          <p:spPr>
            <a:xfrm flipH="false" flipV="false" rot="0">
              <a:off x="0" y="0"/>
              <a:ext cx="6400800" cy="914400"/>
            </a:xfrm>
            <a:custGeom>
              <a:avLst/>
              <a:gdLst/>
              <a:ahLst/>
              <a:cxnLst/>
              <a:rect r="r" b="b" t="t" l="l"/>
              <a:pathLst>
                <a:path h="914400" w="6400800">
                  <a:moveTo>
                    <a:pt x="0" y="0"/>
                  </a:moveTo>
                  <a:lnTo>
                    <a:pt x="6400800" y="0"/>
                  </a:lnTo>
                  <a:lnTo>
                    <a:pt x="6400800" y="914400"/>
                  </a:lnTo>
                  <a:lnTo>
                    <a:pt x="0" y="914400"/>
                  </a:lnTo>
                  <a:close/>
                </a:path>
              </a:pathLst>
            </a:custGeom>
            <a:blipFill>
              <a:blip r:embed="rId2">
                <a:alphaModFix amt="0"/>
              </a:blip>
              <a:stretch>
                <a:fillRect l="0" t="-86395" r="0" b="-86395"/>
              </a:stretch>
            </a:blipFill>
          </p:spPr>
        </p:sp>
        <p:sp>
          <p:nvSpPr>
            <p:cNvPr name="TextBox 87" id="87"/>
            <p:cNvSpPr txBox="true"/>
            <p:nvPr/>
          </p:nvSpPr>
          <p:spPr>
            <a:xfrm>
              <a:off x="0" y="-38100"/>
              <a:ext cx="6400800" cy="952500"/>
            </a:xfrm>
            <a:prstGeom prst="rect">
              <a:avLst/>
            </a:prstGeom>
          </p:spPr>
          <p:txBody>
            <a:bodyPr anchor="ctr" rtlCol="false" tIns="0" lIns="0" bIns="0" rIns="0"/>
            <a:lstStyle/>
            <a:p>
              <a:pPr algn="l">
                <a:lnSpc>
                  <a:spcPts val="2070"/>
                </a:lnSpc>
              </a:pPr>
              <a:r>
                <a:rPr lang="en-US" sz="1725" b="true">
                  <a:solidFill>
                    <a:srgbClr val="0E1220"/>
                  </a:solidFill>
                  <a:latin typeface="Calibri (MS) Bold"/>
                  <a:ea typeface="Calibri (MS) Bold"/>
                  <a:cs typeface="Calibri (MS) Bold"/>
                  <a:sym typeface="Calibri (MS) Bold"/>
                </a:rPr>
                <a:t>DNN manual</a:t>
              </a:r>
            </a:p>
          </p:txBody>
        </p:sp>
      </p:grpSp>
      <p:grpSp>
        <p:nvGrpSpPr>
          <p:cNvPr name="Group 88" id="88"/>
          <p:cNvGrpSpPr/>
          <p:nvPr/>
        </p:nvGrpSpPr>
        <p:grpSpPr>
          <a:xfrm rot="0">
            <a:off x="5616416" y="4587716"/>
            <a:ext cx="2620328" cy="700088"/>
            <a:chOff x="0" y="0"/>
            <a:chExt cx="3493770" cy="933450"/>
          </a:xfrm>
        </p:grpSpPr>
        <p:sp>
          <p:nvSpPr>
            <p:cNvPr name="Freeform 89" id="89"/>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FFFFFF"/>
            </a:solidFill>
            <a:ln w="14288" cap="sq">
              <a:solidFill>
                <a:srgbClr val="E3E6F0"/>
              </a:solidFill>
              <a:prstDash val="solid"/>
              <a:miter/>
            </a:ln>
          </p:spPr>
        </p:sp>
      </p:grpSp>
      <p:grpSp>
        <p:nvGrpSpPr>
          <p:cNvPr name="Group 90" id="90"/>
          <p:cNvGrpSpPr/>
          <p:nvPr/>
        </p:nvGrpSpPr>
        <p:grpSpPr>
          <a:xfrm rot="0">
            <a:off x="5623560" y="4594860"/>
            <a:ext cx="2606040" cy="685800"/>
            <a:chOff x="0" y="0"/>
            <a:chExt cx="3474720" cy="914400"/>
          </a:xfrm>
        </p:grpSpPr>
        <p:sp>
          <p:nvSpPr>
            <p:cNvPr name="Freeform 91" id="91"/>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92" id="92"/>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0.604</a:t>
              </a:r>
            </a:p>
          </p:txBody>
        </p:sp>
      </p:grpSp>
      <p:grpSp>
        <p:nvGrpSpPr>
          <p:cNvPr name="Group 93" id="93"/>
          <p:cNvGrpSpPr/>
          <p:nvPr/>
        </p:nvGrpSpPr>
        <p:grpSpPr>
          <a:xfrm rot="0">
            <a:off x="8222456" y="4587716"/>
            <a:ext cx="3580447" cy="700088"/>
            <a:chOff x="0" y="0"/>
            <a:chExt cx="4773930" cy="933450"/>
          </a:xfrm>
        </p:grpSpPr>
        <p:sp>
          <p:nvSpPr>
            <p:cNvPr name="Freeform 94" id="94"/>
            <p:cNvSpPr/>
            <p:nvPr/>
          </p:nvSpPr>
          <p:spPr>
            <a:xfrm flipH="false" flipV="false" rot="0">
              <a:off x="0" y="0"/>
              <a:ext cx="4773930" cy="933450"/>
            </a:xfrm>
            <a:custGeom>
              <a:avLst/>
              <a:gdLst/>
              <a:ahLst/>
              <a:cxnLst/>
              <a:rect r="r" b="b" t="t" l="l"/>
              <a:pathLst>
                <a:path h="933450" w="4773930">
                  <a:moveTo>
                    <a:pt x="0" y="0"/>
                  </a:moveTo>
                  <a:lnTo>
                    <a:pt x="4773930" y="0"/>
                  </a:lnTo>
                  <a:lnTo>
                    <a:pt x="4773930" y="933450"/>
                  </a:lnTo>
                  <a:lnTo>
                    <a:pt x="0" y="933450"/>
                  </a:lnTo>
                  <a:close/>
                </a:path>
              </a:pathLst>
            </a:custGeom>
            <a:solidFill>
              <a:srgbClr val="FFFFFF"/>
            </a:solidFill>
            <a:ln w="14288" cap="sq">
              <a:solidFill>
                <a:srgbClr val="E3E6F0"/>
              </a:solidFill>
              <a:prstDash val="solid"/>
              <a:miter/>
            </a:ln>
          </p:spPr>
        </p:sp>
      </p:grpSp>
      <p:grpSp>
        <p:nvGrpSpPr>
          <p:cNvPr name="Group 95" id="95"/>
          <p:cNvGrpSpPr/>
          <p:nvPr/>
        </p:nvGrpSpPr>
        <p:grpSpPr>
          <a:xfrm rot="0">
            <a:off x="8229600" y="4594860"/>
            <a:ext cx="3566160" cy="685800"/>
            <a:chOff x="0" y="0"/>
            <a:chExt cx="4754880" cy="914400"/>
          </a:xfrm>
        </p:grpSpPr>
        <p:sp>
          <p:nvSpPr>
            <p:cNvPr name="Freeform 96" id="96"/>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2">
                <a:alphaModFix amt="0"/>
              </a:blip>
              <a:stretch>
                <a:fillRect l="0" t="-51322" r="0" b="-51322"/>
              </a:stretch>
            </a:blipFill>
          </p:spPr>
        </p:sp>
        <p:sp>
          <p:nvSpPr>
            <p:cNvPr name="TextBox 97" id="97"/>
            <p:cNvSpPr txBox="true"/>
            <p:nvPr/>
          </p:nvSpPr>
          <p:spPr>
            <a:xfrm>
              <a:off x="0" y="-38100"/>
              <a:ext cx="475488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21.263</a:t>
              </a:r>
            </a:p>
          </p:txBody>
        </p:sp>
      </p:grpSp>
      <p:grpSp>
        <p:nvGrpSpPr>
          <p:cNvPr name="Group 98" id="98"/>
          <p:cNvGrpSpPr/>
          <p:nvPr/>
        </p:nvGrpSpPr>
        <p:grpSpPr>
          <a:xfrm rot="0">
            <a:off x="11788616" y="4587716"/>
            <a:ext cx="2620328" cy="700088"/>
            <a:chOff x="0" y="0"/>
            <a:chExt cx="3493770" cy="933450"/>
          </a:xfrm>
        </p:grpSpPr>
        <p:sp>
          <p:nvSpPr>
            <p:cNvPr name="Freeform 99" id="99"/>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FFFFFF"/>
            </a:solidFill>
            <a:ln w="14288" cap="sq">
              <a:solidFill>
                <a:srgbClr val="E3E6F0"/>
              </a:solidFill>
              <a:prstDash val="solid"/>
              <a:miter/>
            </a:ln>
          </p:spPr>
        </p:sp>
      </p:grpSp>
      <p:grpSp>
        <p:nvGrpSpPr>
          <p:cNvPr name="Group 100" id="100"/>
          <p:cNvGrpSpPr/>
          <p:nvPr/>
        </p:nvGrpSpPr>
        <p:grpSpPr>
          <a:xfrm rot="0">
            <a:off x="11795760" y="4594860"/>
            <a:ext cx="2606040" cy="685800"/>
            <a:chOff x="0" y="0"/>
            <a:chExt cx="3474720" cy="914400"/>
          </a:xfrm>
        </p:grpSpPr>
        <p:sp>
          <p:nvSpPr>
            <p:cNvPr name="Freeform 101" id="101"/>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102" id="102"/>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a:t>
              </a:r>
            </a:p>
          </p:txBody>
        </p:sp>
      </p:grpSp>
      <p:grpSp>
        <p:nvGrpSpPr>
          <p:cNvPr name="Group 103" id="103"/>
          <p:cNvGrpSpPr/>
          <p:nvPr/>
        </p:nvGrpSpPr>
        <p:grpSpPr>
          <a:xfrm rot="0">
            <a:off x="14394656" y="4587716"/>
            <a:ext cx="2620328" cy="700088"/>
            <a:chOff x="0" y="0"/>
            <a:chExt cx="3493770" cy="933450"/>
          </a:xfrm>
        </p:grpSpPr>
        <p:sp>
          <p:nvSpPr>
            <p:cNvPr name="Freeform 104" id="104"/>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FFFFFF"/>
            </a:solidFill>
            <a:ln w="14288" cap="sq">
              <a:solidFill>
                <a:srgbClr val="E3E6F0"/>
              </a:solidFill>
              <a:prstDash val="solid"/>
              <a:miter/>
            </a:ln>
          </p:spPr>
        </p:sp>
      </p:grpSp>
      <p:grpSp>
        <p:nvGrpSpPr>
          <p:cNvPr name="Group 105" id="105"/>
          <p:cNvGrpSpPr/>
          <p:nvPr/>
        </p:nvGrpSpPr>
        <p:grpSpPr>
          <a:xfrm rot="0">
            <a:off x="14401800" y="4594860"/>
            <a:ext cx="2606040" cy="685800"/>
            <a:chOff x="0" y="0"/>
            <a:chExt cx="3474720" cy="914400"/>
          </a:xfrm>
        </p:grpSpPr>
        <p:sp>
          <p:nvSpPr>
            <p:cNvPr name="Freeform 106" id="106"/>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107" id="107"/>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0.0113</a:t>
              </a:r>
            </a:p>
          </p:txBody>
        </p:sp>
      </p:grpSp>
      <p:grpSp>
        <p:nvGrpSpPr>
          <p:cNvPr name="Group 108" id="108"/>
          <p:cNvGrpSpPr/>
          <p:nvPr/>
        </p:nvGrpSpPr>
        <p:grpSpPr>
          <a:xfrm rot="0">
            <a:off x="815816" y="5273516"/>
            <a:ext cx="4814888" cy="700088"/>
            <a:chOff x="0" y="0"/>
            <a:chExt cx="6419850" cy="933450"/>
          </a:xfrm>
        </p:grpSpPr>
        <p:sp>
          <p:nvSpPr>
            <p:cNvPr name="Freeform 109" id="109"/>
            <p:cNvSpPr/>
            <p:nvPr/>
          </p:nvSpPr>
          <p:spPr>
            <a:xfrm flipH="false" flipV="false" rot="0">
              <a:off x="0" y="0"/>
              <a:ext cx="6419850" cy="933450"/>
            </a:xfrm>
            <a:custGeom>
              <a:avLst/>
              <a:gdLst/>
              <a:ahLst/>
              <a:cxnLst/>
              <a:rect r="r" b="b" t="t" l="l"/>
              <a:pathLst>
                <a:path h="933450" w="6419850">
                  <a:moveTo>
                    <a:pt x="0" y="0"/>
                  </a:moveTo>
                  <a:lnTo>
                    <a:pt x="6419850" y="0"/>
                  </a:lnTo>
                  <a:lnTo>
                    <a:pt x="6419850" y="933450"/>
                  </a:lnTo>
                  <a:lnTo>
                    <a:pt x="0" y="933450"/>
                  </a:lnTo>
                  <a:close/>
                </a:path>
              </a:pathLst>
            </a:custGeom>
            <a:solidFill>
              <a:srgbClr val="E9FBF6"/>
            </a:solidFill>
            <a:ln w="14288" cap="sq">
              <a:solidFill>
                <a:srgbClr val="E3E6F0"/>
              </a:solidFill>
              <a:prstDash val="solid"/>
              <a:miter/>
            </a:ln>
          </p:spPr>
        </p:sp>
      </p:grpSp>
      <p:grpSp>
        <p:nvGrpSpPr>
          <p:cNvPr name="Group 110" id="110"/>
          <p:cNvGrpSpPr/>
          <p:nvPr/>
        </p:nvGrpSpPr>
        <p:grpSpPr>
          <a:xfrm rot="0">
            <a:off x="822960" y="5280660"/>
            <a:ext cx="4800600" cy="685800"/>
            <a:chOff x="0" y="0"/>
            <a:chExt cx="6400800" cy="914400"/>
          </a:xfrm>
        </p:grpSpPr>
        <p:sp>
          <p:nvSpPr>
            <p:cNvPr name="Freeform 111" id="111"/>
            <p:cNvSpPr/>
            <p:nvPr/>
          </p:nvSpPr>
          <p:spPr>
            <a:xfrm flipH="false" flipV="false" rot="0">
              <a:off x="0" y="0"/>
              <a:ext cx="6400800" cy="914400"/>
            </a:xfrm>
            <a:custGeom>
              <a:avLst/>
              <a:gdLst/>
              <a:ahLst/>
              <a:cxnLst/>
              <a:rect r="r" b="b" t="t" l="l"/>
              <a:pathLst>
                <a:path h="914400" w="6400800">
                  <a:moveTo>
                    <a:pt x="0" y="0"/>
                  </a:moveTo>
                  <a:lnTo>
                    <a:pt x="6400800" y="0"/>
                  </a:lnTo>
                  <a:lnTo>
                    <a:pt x="6400800" y="914400"/>
                  </a:lnTo>
                  <a:lnTo>
                    <a:pt x="0" y="914400"/>
                  </a:lnTo>
                  <a:close/>
                </a:path>
              </a:pathLst>
            </a:custGeom>
            <a:blipFill>
              <a:blip r:embed="rId2">
                <a:alphaModFix amt="0"/>
              </a:blip>
              <a:stretch>
                <a:fillRect l="0" t="-86395" r="0" b="-86395"/>
              </a:stretch>
            </a:blipFill>
          </p:spPr>
        </p:sp>
        <p:sp>
          <p:nvSpPr>
            <p:cNvPr name="TextBox 112" id="112"/>
            <p:cNvSpPr txBox="true"/>
            <p:nvPr/>
          </p:nvSpPr>
          <p:spPr>
            <a:xfrm>
              <a:off x="0" y="-38100"/>
              <a:ext cx="6400800" cy="952500"/>
            </a:xfrm>
            <a:prstGeom prst="rect">
              <a:avLst/>
            </a:prstGeom>
          </p:spPr>
          <p:txBody>
            <a:bodyPr anchor="ctr" rtlCol="false" tIns="0" lIns="0" bIns="0" rIns="0"/>
            <a:lstStyle/>
            <a:p>
              <a:pPr algn="l">
                <a:lnSpc>
                  <a:spcPts val="2070"/>
                </a:lnSpc>
              </a:pPr>
              <a:r>
                <a:rPr lang="en-US" sz="1725" b="true">
                  <a:solidFill>
                    <a:srgbClr val="0E1220"/>
                  </a:solidFill>
                  <a:latin typeface="Calibri (MS) Bold"/>
                  <a:ea typeface="Calibri (MS) Bold"/>
                  <a:cs typeface="Calibri (MS) Bold"/>
                  <a:sym typeface="Calibri (MS) Bold"/>
                </a:rPr>
                <a:t>AutoML — Extra Trees</a:t>
              </a:r>
            </a:p>
          </p:txBody>
        </p:sp>
      </p:grpSp>
      <p:grpSp>
        <p:nvGrpSpPr>
          <p:cNvPr name="Group 113" id="113"/>
          <p:cNvGrpSpPr/>
          <p:nvPr/>
        </p:nvGrpSpPr>
        <p:grpSpPr>
          <a:xfrm rot="0">
            <a:off x="5616416" y="5273516"/>
            <a:ext cx="2620328" cy="700088"/>
            <a:chOff x="0" y="0"/>
            <a:chExt cx="3493770" cy="933450"/>
          </a:xfrm>
        </p:grpSpPr>
        <p:sp>
          <p:nvSpPr>
            <p:cNvPr name="Freeform 114" id="114"/>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E9FBF6"/>
            </a:solidFill>
            <a:ln w="14288" cap="sq">
              <a:solidFill>
                <a:srgbClr val="E3E6F0"/>
              </a:solidFill>
              <a:prstDash val="solid"/>
              <a:miter/>
            </a:ln>
          </p:spPr>
        </p:sp>
      </p:grpSp>
      <p:grpSp>
        <p:nvGrpSpPr>
          <p:cNvPr name="Group 115" id="115"/>
          <p:cNvGrpSpPr/>
          <p:nvPr/>
        </p:nvGrpSpPr>
        <p:grpSpPr>
          <a:xfrm rot="0">
            <a:off x="5623560" y="5280660"/>
            <a:ext cx="2606040" cy="685800"/>
            <a:chOff x="0" y="0"/>
            <a:chExt cx="3474720" cy="914400"/>
          </a:xfrm>
        </p:grpSpPr>
        <p:sp>
          <p:nvSpPr>
            <p:cNvPr name="Freeform 116" id="116"/>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117" id="117"/>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b="true">
                  <a:solidFill>
                    <a:srgbClr val="00D1B2"/>
                  </a:solidFill>
                  <a:latin typeface="Calibri (MS) Bold"/>
                  <a:ea typeface="Calibri (MS) Bold"/>
                  <a:cs typeface="Calibri (MS) Bold"/>
                  <a:sym typeface="Calibri (MS) Bold"/>
                </a:rPr>
                <a:t>0.885</a:t>
              </a:r>
            </a:p>
          </p:txBody>
        </p:sp>
      </p:grpSp>
      <p:grpSp>
        <p:nvGrpSpPr>
          <p:cNvPr name="Group 118" id="118"/>
          <p:cNvGrpSpPr/>
          <p:nvPr/>
        </p:nvGrpSpPr>
        <p:grpSpPr>
          <a:xfrm rot="0">
            <a:off x="8222456" y="5273516"/>
            <a:ext cx="3580447" cy="700088"/>
            <a:chOff x="0" y="0"/>
            <a:chExt cx="4773930" cy="933450"/>
          </a:xfrm>
        </p:grpSpPr>
        <p:sp>
          <p:nvSpPr>
            <p:cNvPr name="Freeform 119" id="119"/>
            <p:cNvSpPr/>
            <p:nvPr/>
          </p:nvSpPr>
          <p:spPr>
            <a:xfrm flipH="false" flipV="false" rot="0">
              <a:off x="0" y="0"/>
              <a:ext cx="4773930" cy="933450"/>
            </a:xfrm>
            <a:custGeom>
              <a:avLst/>
              <a:gdLst/>
              <a:ahLst/>
              <a:cxnLst/>
              <a:rect r="r" b="b" t="t" l="l"/>
              <a:pathLst>
                <a:path h="933450" w="4773930">
                  <a:moveTo>
                    <a:pt x="0" y="0"/>
                  </a:moveTo>
                  <a:lnTo>
                    <a:pt x="4773930" y="0"/>
                  </a:lnTo>
                  <a:lnTo>
                    <a:pt x="4773930" y="933450"/>
                  </a:lnTo>
                  <a:lnTo>
                    <a:pt x="0" y="933450"/>
                  </a:lnTo>
                  <a:close/>
                </a:path>
              </a:pathLst>
            </a:custGeom>
            <a:solidFill>
              <a:srgbClr val="E9FBF6"/>
            </a:solidFill>
            <a:ln w="14288" cap="sq">
              <a:solidFill>
                <a:srgbClr val="E3E6F0"/>
              </a:solidFill>
              <a:prstDash val="solid"/>
              <a:miter/>
            </a:ln>
          </p:spPr>
        </p:sp>
      </p:grpSp>
      <p:grpSp>
        <p:nvGrpSpPr>
          <p:cNvPr name="Group 120" id="120"/>
          <p:cNvGrpSpPr/>
          <p:nvPr/>
        </p:nvGrpSpPr>
        <p:grpSpPr>
          <a:xfrm rot="0">
            <a:off x="8229600" y="5280660"/>
            <a:ext cx="3566160" cy="685800"/>
            <a:chOff x="0" y="0"/>
            <a:chExt cx="4754880" cy="914400"/>
          </a:xfrm>
        </p:grpSpPr>
        <p:sp>
          <p:nvSpPr>
            <p:cNvPr name="Freeform 121" id="121"/>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2">
                <a:alphaModFix amt="0"/>
              </a:blip>
              <a:stretch>
                <a:fillRect l="0" t="-51322" r="0" b="-51322"/>
              </a:stretch>
            </a:blipFill>
          </p:spPr>
        </p:sp>
        <p:sp>
          <p:nvSpPr>
            <p:cNvPr name="TextBox 122" id="122"/>
            <p:cNvSpPr txBox="true"/>
            <p:nvPr/>
          </p:nvSpPr>
          <p:spPr>
            <a:xfrm>
              <a:off x="0" y="-38100"/>
              <a:ext cx="475488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a:t>
              </a:r>
            </a:p>
          </p:txBody>
        </p:sp>
      </p:grpSp>
      <p:grpSp>
        <p:nvGrpSpPr>
          <p:cNvPr name="Group 123" id="123"/>
          <p:cNvGrpSpPr/>
          <p:nvPr/>
        </p:nvGrpSpPr>
        <p:grpSpPr>
          <a:xfrm rot="0">
            <a:off x="11788616" y="5273516"/>
            <a:ext cx="2620328" cy="700088"/>
            <a:chOff x="0" y="0"/>
            <a:chExt cx="3493770" cy="933450"/>
          </a:xfrm>
        </p:grpSpPr>
        <p:sp>
          <p:nvSpPr>
            <p:cNvPr name="Freeform 124" id="124"/>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E9FBF6"/>
            </a:solidFill>
            <a:ln w="14288" cap="sq">
              <a:solidFill>
                <a:srgbClr val="E3E6F0"/>
              </a:solidFill>
              <a:prstDash val="solid"/>
              <a:miter/>
            </a:ln>
          </p:spPr>
        </p:sp>
      </p:grpSp>
      <p:grpSp>
        <p:nvGrpSpPr>
          <p:cNvPr name="Group 125" id="125"/>
          <p:cNvGrpSpPr/>
          <p:nvPr/>
        </p:nvGrpSpPr>
        <p:grpSpPr>
          <a:xfrm rot="0">
            <a:off x="11795760" y="5280660"/>
            <a:ext cx="2606040" cy="685800"/>
            <a:chOff x="0" y="0"/>
            <a:chExt cx="3474720" cy="914400"/>
          </a:xfrm>
        </p:grpSpPr>
        <p:sp>
          <p:nvSpPr>
            <p:cNvPr name="Freeform 126" id="126"/>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127" id="127"/>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29.9</a:t>
              </a:r>
            </a:p>
          </p:txBody>
        </p:sp>
      </p:grpSp>
      <p:grpSp>
        <p:nvGrpSpPr>
          <p:cNvPr name="Group 128" id="128"/>
          <p:cNvGrpSpPr/>
          <p:nvPr/>
        </p:nvGrpSpPr>
        <p:grpSpPr>
          <a:xfrm rot="0">
            <a:off x="14394656" y="5273516"/>
            <a:ext cx="2620328" cy="700088"/>
            <a:chOff x="0" y="0"/>
            <a:chExt cx="3493770" cy="933450"/>
          </a:xfrm>
        </p:grpSpPr>
        <p:sp>
          <p:nvSpPr>
            <p:cNvPr name="Freeform 129" id="129"/>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E9FBF6"/>
            </a:solidFill>
            <a:ln w="14288" cap="sq">
              <a:solidFill>
                <a:srgbClr val="E3E6F0"/>
              </a:solidFill>
              <a:prstDash val="solid"/>
              <a:miter/>
            </a:ln>
          </p:spPr>
        </p:sp>
      </p:grpSp>
      <p:grpSp>
        <p:nvGrpSpPr>
          <p:cNvPr name="Group 130" id="130"/>
          <p:cNvGrpSpPr/>
          <p:nvPr/>
        </p:nvGrpSpPr>
        <p:grpSpPr>
          <a:xfrm rot="0">
            <a:off x="14401800" y="5280660"/>
            <a:ext cx="2606040" cy="685800"/>
            <a:chOff x="0" y="0"/>
            <a:chExt cx="3474720" cy="914400"/>
          </a:xfrm>
        </p:grpSpPr>
        <p:sp>
          <p:nvSpPr>
            <p:cNvPr name="Freeform 131" id="131"/>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132" id="132"/>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a:t>
              </a:r>
            </a:p>
          </p:txBody>
        </p:sp>
      </p:grpSp>
      <p:grpSp>
        <p:nvGrpSpPr>
          <p:cNvPr name="Group 133" id="133"/>
          <p:cNvGrpSpPr/>
          <p:nvPr/>
        </p:nvGrpSpPr>
        <p:grpSpPr>
          <a:xfrm rot="0">
            <a:off x="815816" y="5959316"/>
            <a:ext cx="4814888" cy="700088"/>
            <a:chOff x="0" y="0"/>
            <a:chExt cx="6419850" cy="933450"/>
          </a:xfrm>
        </p:grpSpPr>
        <p:sp>
          <p:nvSpPr>
            <p:cNvPr name="Freeform 134" id="134"/>
            <p:cNvSpPr/>
            <p:nvPr/>
          </p:nvSpPr>
          <p:spPr>
            <a:xfrm flipH="false" flipV="false" rot="0">
              <a:off x="0" y="0"/>
              <a:ext cx="6419850" cy="933450"/>
            </a:xfrm>
            <a:custGeom>
              <a:avLst/>
              <a:gdLst/>
              <a:ahLst/>
              <a:cxnLst/>
              <a:rect r="r" b="b" t="t" l="l"/>
              <a:pathLst>
                <a:path h="933450" w="6419850">
                  <a:moveTo>
                    <a:pt x="0" y="0"/>
                  </a:moveTo>
                  <a:lnTo>
                    <a:pt x="6419850" y="0"/>
                  </a:lnTo>
                  <a:lnTo>
                    <a:pt x="6419850" y="933450"/>
                  </a:lnTo>
                  <a:lnTo>
                    <a:pt x="0" y="933450"/>
                  </a:lnTo>
                  <a:close/>
                </a:path>
              </a:pathLst>
            </a:custGeom>
            <a:solidFill>
              <a:srgbClr val="FFFFFF"/>
            </a:solidFill>
            <a:ln w="14288" cap="sq">
              <a:solidFill>
                <a:srgbClr val="E3E6F0"/>
              </a:solidFill>
              <a:prstDash val="solid"/>
              <a:miter/>
            </a:ln>
          </p:spPr>
        </p:sp>
      </p:grpSp>
      <p:grpSp>
        <p:nvGrpSpPr>
          <p:cNvPr name="Group 135" id="135"/>
          <p:cNvGrpSpPr/>
          <p:nvPr/>
        </p:nvGrpSpPr>
        <p:grpSpPr>
          <a:xfrm rot="0">
            <a:off x="822960" y="5966460"/>
            <a:ext cx="4800600" cy="685800"/>
            <a:chOff x="0" y="0"/>
            <a:chExt cx="6400800" cy="914400"/>
          </a:xfrm>
        </p:grpSpPr>
        <p:sp>
          <p:nvSpPr>
            <p:cNvPr name="Freeform 136" id="136"/>
            <p:cNvSpPr/>
            <p:nvPr/>
          </p:nvSpPr>
          <p:spPr>
            <a:xfrm flipH="false" flipV="false" rot="0">
              <a:off x="0" y="0"/>
              <a:ext cx="6400800" cy="914400"/>
            </a:xfrm>
            <a:custGeom>
              <a:avLst/>
              <a:gdLst/>
              <a:ahLst/>
              <a:cxnLst/>
              <a:rect r="r" b="b" t="t" l="l"/>
              <a:pathLst>
                <a:path h="914400" w="6400800">
                  <a:moveTo>
                    <a:pt x="0" y="0"/>
                  </a:moveTo>
                  <a:lnTo>
                    <a:pt x="6400800" y="0"/>
                  </a:lnTo>
                  <a:lnTo>
                    <a:pt x="6400800" y="914400"/>
                  </a:lnTo>
                  <a:lnTo>
                    <a:pt x="0" y="914400"/>
                  </a:lnTo>
                  <a:close/>
                </a:path>
              </a:pathLst>
            </a:custGeom>
            <a:blipFill>
              <a:blip r:embed="rId2">
                <a:alphaModFix amt="0"/>
              </a:blip>
              <a:stretch>
                <a:fillRect l="0" t="-86395" r="0" b="-86395"/>
              </a:stretch>
            </a:blipFill>
          </p:spPr>
        </p:sp>
        <p:sp>
          <p:nvSpPr>
            <p:cNvPr name="TextBox 137" id="137"/>
            <p:cNvSpPr txBox="true"/>
            <p:nvPr/>
          </p:nvSpPr>
          <p:spPr>
            <a:xfrm>
              <a:off x="0" y="-38100"/>
              <a:ext cx="6400800" cy="952500"/>
            </a:xfrm>
            <a:prstGeom prst="rect">
              <a:avLst/>
            </a:prstGeom>
          </p:spPr>
          <p:txBody>
            <a:bodyPr anchor="ctr" rtlCol="false" tIns="0" lIns="0" bIns="0" rIns="0"/>
            <a:lstStyle/>
            <a:p>
              <a:pPr algn="l">
                <a:lnSpc>
                  <a:spcPts val="2070"/>
                </a:lnSpc>
              </a:pPr>
              <a:r>
                <a:rPr lang="en-US" sz="1725" b="true">
                  <a:solidFill>
                    <a:srgbClr val="0E1220"/>
                  </a:solidFill>
                  <a:latin typeface="Calibri (MS) Bold"/>
                  <a:ea typeface="Calibri (MS) Bold"/>
                  <a:cs typeface="Calibri (MS) Bold"/>
                  <a:sym typeface="Calibri (MS) Bold"/>
                </a:rPr>
                <a:t>DNN + NAS</a:t>
              </a:r>
            </a:p>
          </p:txBody>
        </p:sp>
      </p:grpSp>
      <p:grpSp>
        <p:nvGrpSpPr>
          <p:cNvPr name="Group 138" id="138"/>
          <p:cNvGrpSpPr/>
          <p:nvPr/>
        </p:nvGrpSpPr>
        <p:grpSpPr>
          <a:xfrm rot="0">
            <a:off x="5616416" y="5959316"/>
            <a:ext cx="2620328" cy="700088"/>
            <a:chOff x="0" y="0"/>
            <a:chExt cx="3493770" cy="933450"/>
          </a:xfrm>
        </p:grpSpPr>
        <p:sp>
          <p:nvSpPr>
            <p:cNvPr name="Freeform 139" id="139"/>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FFFFFF"/>
            </a:solidFill>
            <a:ln w="14288" cap="sq">
              <a:solidFill>
                <a:srgbClr val="E3E6F0"/>
              </a:solidFill>
              <a:prstDash val="solid"/>
              <a:miter/>
            </a:ln>
          </p:spPr>
        </p:sp>
      </p:grpSp>
      <p:grpSp>
        <p:nvGrpSpPr>
          <p:cNvPr name="Group 140" id="140"/>
          <p:cNvGrpSpPr/>
          <p:nvPr/>
        </p:nvGrpSpPr>
        <p:grpSpPr>
          <a:xfrm rot="0">
            <a:off x="5623560" y="5966460"/>
            <a:ext cx="2606040" cy="685800"/>
            <a:chOff x="0" y="0"/>
            <a:chExt cx="3474720" cy="914400"/>
          </a:xfrm>
        </p:grpSpPr>
        <p:sp>
          <p:nvSpPr>
            <p:cNvPr name="Freeform 141" id="141"/>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142" id="142"/>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0.765</a:t>
              </a:r>
            </a:p>
          </p:txBody>
        </p:sp>
      </p:grpSp>
      <p:grpSp>
        <p:nvGrpSpPr>
          <p:cNvPr name="Group 143" id="143"/>
          <p:cNvGrpSpPr/>
          <p:nvPr/>
        </p:nvGrpSpPr>
        <p:grpSpPr>
          <a:xfrm rot="0">
            <a:off x="8222456" y="5959316"/>
            <a:ext cx="3580447" cy="700088"/>
            <a:chOff x="0" y="0"/>
            <a:chExt cx="4773930" cy="933450"/>
          </a:xfrm>
        </p:grpSpPr>
        <p:sp>
          <p:nvSpPr>
            <p:cNvPr name="Freeform 144" id="144"/>
            <p:cNvSpPr/>
            <p:nvPr/>
          </p:nvSpPr>
          <p:spPr>
            <a:xfrm flipH="false" flipV="false" rot="0">
              <a:off x="0" y="0"/>
              <a:ext cx="4773930" cy="933450"/>
            </a:xfrm>
            <a:custGeom>
              <a:avLst/>
              <a:gdLst/>
              <a:ahLst/>
              <a:cxnLst/>
              <a:rect r="r" b="b" t="t" l="l"/>
              <a:pathLst>
                <a:path h="933450" w="4773930">
                  <a:moveTo>
                    <a:pt x="0" y="0"/>
                  </a:moveTo>
                  <a:lnTo>
                    <a:pt x="4773930" y="0"/>
                  </a:lnTo>
                  <a:lnTo>
                    <a:pt x="4773930" y="933450"/>
                  </a:lnTo>
                  <a:lnTo>
                    <a:pt x="0" y="933450"/>
                  </a:lnTo>
                  <a:close/>
                </a:path>
              </a:pathLst>
            </a:custGeom>
            <a:solidFill>
              <a:srgbClr val="FFFFFF"/>
            </a:solidFill>
            <a:ln w="14288" cap="sq">
              <a:solidFill>
                <a:srgbClr val="E3E6F0"/>
              </a:solidFill>
              <a:prstDash val="solid"/>
              <a:miter/>
            </a:ln>
          </p:spPr>
        </p:sp>
      </p:grpSp>
      <p:grpSp>
        <p:nvGrpSpPr>
          <p:cNvPr name="Group 145" id="145"/>
          <p:cNvGrpSpPr/>
          <p:nvPr/>
        </p:nvGrpSpPr>
        <p:grpSpPr>
          <a:xfrm rot="0">
            <a:off x="8229600" y="5966460"/>
            <a:ext cx="3566160" cy="685800"/>
            <a:chOff x="0" y="0"/>
            <a:chExt cx="4754880" cy="914400"/>
          </a:xfrm>
        </p:grpSpPr>
        <p:sp>
          <p:nvSpPr>
            <p:cNvPr name="Freeform 146" id="146"/>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2">
                <a:alphaModFix amt="0"/>
              </a:blip>
              <a:stretch>
                <a:fillRect l="0" t="-51322" r="0" b="-51322"/>
              </a:stretch>
            </a:blipFill>
          </p:spPr>
        </p:sp>
        <p:sp>
          <p:nvSpPr>
            <p:cNvPr name="TextBox 147" id="147"/>
            <p:cNvSpPr txBox="true"/>
            <p:nvPr/>
          </p:nvSpPr>
          <p:spPr>
            <a:xfrm>
              <a:off x="0" y="-38100"/>
              <a:ext cx="475488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6.095</a:t>
              </a:r>
            </a:p>
          </p:txBody>
        </p:sp>
      </p:grpSp>
      <p:grpSp>
        <p:nvGrpSpPr>
          <p:cNvPr name="Group 148" id="148"/>
          <p:cNvGrpSpPr/>
          <p:nvPr/>
        </p:nvGrpSpPr>
        <p:grpSpPr>
          <a:xfrm rot="0">
            <a:off x="11788616" y="5959316"/>
            <a:ext cx="2620328" cy="700088"/>
            <a:chOff x="0" y="0"/>
            <a:chExt cx="3493770" cy="933450"/>
          </a:xfrm>
        </p:grpSpPr>
        <p:sp>
          <p:nvSpPr>
            <p:cNvPr name="Freeform 149" id="149"/>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FFFFFF"/>
            </a:solidFill>
            <a:ln w="14288" cap="sq">
              <a:solidFill>
                <a:srgbClr val="E3E6F0"/>
              </a:solidFill>
              <a:prstDash val="solid"/>
              <a:miter/>
            </a:ln>
          </p:spPr>
        </p:sp>
      </p:grpSp>
      <p:grpSp>
        <p:nvGrpSpPr>
          <p:cNvPr name="Group 150" id="150"/>
          <p:cNvGrpSpPr/>
          <p:nvPr/>
        </p:nvGrpSpPr>
        <p:grpSpPr>
          <a:xfrm rot="0">
            <a:off x="11795760" y="5966460"/>
            <a:ext cx="2606040" cy="685800"/>
            <a:chOff x="0" y="0"/>
            <a:chExt cx="3474720" cy="914400"/>
          </a:xfrm>
        </p:grpSpPr>
        <p:sp>
          <p:nvSpPr>
            <p:cNvPr name="Freeform 151" id="151"/>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152" id="152"/>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8.9</a:t>
              </a:r>
            </a:p>
          </p:txBody>
        </p:sp>
      </p:grpSp>
      <p:grpSp>
        <p:nvGrpSpPr>
          <p:cNvPr name="Group 153" id="153"/>
          <p:cNvGrpSpPr/>
          <p:nvPr/>
        </p:nvGrpSpPr>
        <p:grpSpPr>
          <a:xfrm rot="0">
            <a:off x="14394656" y="5959316"/>
            <a:ext cx="2620328" cy="700088"/>
            <a:chOff x="0" y="0"/>
            <a:chExt cx="3493770" cy="933450"/>
          </a:xfrm>
        </p:grpSpPr>
        <p:sp>
          <p:nvSpPr>
            <p:cNvPr name="Freeform 154" id="154"/>
            <p:cNvSpPr/>
            <p:nvPr/>
          </p:nvSpPr>
          <p:spPr>
            <a:xfrm flipH="false" flipV="false" rot="0">
              <a:off x="0" y="0"/>
              <a:ext cx="3493770" cy="933450"/>
            </a:xfrm>
            <a:custGeom>
              <a:avLst/>
              <a:gdLst/>
              <a:ahLst/>
              <a:cxnLst/>
              <a:rect r="r" b="b" t="t" l="l"/>
              <a:pathLst>
                <a:path h="933450" w="3493770">
                  <a:moveTo>
                    <a:pt x="0" y="0"/>
                  </a:moveTo>
                  <a:lnTo>
                    <a:pt x="3493770" y="0"/>
                  </a:lnTo>
                  <a:lnTo>
                    <a:pt x="3493770" y="933450"/>
                  </a:lnTo>
                  <a:lnTo>
                    <a:pt x="0" y="933450"/>
                  </a:lnTo>
                  <a:close/>
                </a:path>
              </a:pathLst>
            </a:custGeom>
            <a:solidFill>
              <a:srgbClr val="FFFFFF"/>
            </a:solidFill>
            <a:ln w="14288" cap="sq">
              <a:solidFill>
                <a:srgbClr val="E3E6F0"/>
              </a:solidFill>
              <a:prstDash val="solid"/>
              <a:miter/>
            </a:ln>
          </p:spPr>
        </p:sp>
      </p:grpSp>
      <p:grpSp>
        <p:nvGrpSpPr>
          <p:cNvPr name="Group 155" id="155"/>
          <p:cNvGrpSpPr/>
          <p:nvPr/>
        </p:nvGrpSpPr>
        <p:grpSpPr>
          <a:xfrm rot="0">
            <a:off x="14401800" y="5966460"/>
            <a:ext cx="2606040" cy="685800"/>
            <a:chOff x="0" y="0"/>
            <a:chExt cx="3474720" cy="914400"/>
          </a:xfrm>
        </p:grpSpPr>
        <p:sp>
          <p:nvSpPr>
            <p:cNvPr name="Freeform 156" id="156"/>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157" id="157"/>
            <p:cNvSpPr txBox="true"/>
            <p:nvPr/>
          </p:nvSpPr>
          <p:spPr>
            <a:xfrm>
              <a:off x="0" y="-38100"/>
              <a:ext cx="3474720" cy="952500"/>
            </a:xfrm>
            <a:prstGeom prst="rect">
              <a:avLst/>
            </a:prstGeom>
          </p:spPr>
          <p:txBody>
            <a:bodyPr anchor="ctr" rtlCol="false" tIns="0" lIns="0" bIns="0" rIns="0"/>
            <a:lstStyle/>
            <a:p>
              <a:pPr algn="ctr">
                <a:lnSpc>
                  <a:spcPts val="2070"/>
                </a:lnSpc>
              </a:pPr>
              <a:r>
                <a:rPr lang="en-US" sz="1725">
                  <a:solidFill>
                    <a:srgbClr val="0E1220"/>
                  </a:solidFill>
                  <a:latin typeface="Calibri (MS)"/>
                  <a:ea typeface="Calibri (MS)"/>
                  <a:cs typeface="Calibri (MS)"/>
                  <a:sym typeface="Calibri (MS)"/>
                </a:rPr>
                <a:t>0.0013</a:t>
              </a:r>
            </a:p>
          </p:txBody>
        </p:sp>
      </p:grpSp>
      <p:grpSp>
        <p:nvGrpSpPr>
          <p:cNvPr name="Group 158" id="158"/>
          <p:cNvGrpSpPr/>
          <p:nvPr/>
        </p:nvGrpSpPr>
        <p:grpSpPr>
          <a:xfrm rot="0">
            <a:off x="813435" y="7054215"/>
            <a:ext cx="16615410" cy="2419350"/>
            <a:chOff x="0" y="0"/>
            <a:chExt cx="22153880" cy="3225800"/>
          </a:xfrm>
        </p:grpSpPr>
        <p:sp>
          <p:nvSpPr>
            <p:cNvPr name="Freeform 159" id="159"/>
            <p:cNvSpPr/>
            <p:nvPr/>
          </p:nvSpPr>
          <p:spPr>
            <a:xfrm flipH="false" flipV="false" rot="0">
              <a:off x="0" y="0"/>
              <a:ext cx="22153880" cy="3225800"/>
            </a:xfrm>
            <a:custGeom>
              <a:avLst/>
              <a:gdLst/>
              <a:ahLst/>
              <a:cxnLst/>
              <a:rect r="r" b="b" t="t" l="l"/>
              <a:pathLst>
                <a:path h="3225800" w="22153880">
                  <a:moveTo>
                    <a:pt x="0" y="147447"/>
                  </a:moveTo>
                  <a:cubicBezTo>
                    <a:pt x="0" y="66040"/>
                    <a:pt x="66040" y="0"/>
                    <a:pt x="147447" y="0"/>
                  </a:cubicBezTo>
                  <a:lnTo>
                    <a:pt x="22006433" y="0"/>
                  </a:lnTo>
                  <a:cubicBezTo>
                    <a:pt x="22087841" y="0"/>
                    <a:pt x="22153880" y="66040"/>
                    <a:pt x="22153880" y="147447"/>
                  </a:cubicBezTo>
                  <a:lnTo>
                    <a:pt x="22153880" y="3078353"/>
                  </a:lnTo>
                  <a:cubicBezTo>
                    <a:pt x="22153880" y="3159760"/>
                    <a:pt x="22087841" y="3225800"/>
                    <a:pt x="22006433" y="3225800"/>
                  </a:cubicBezTo>
                  <a:lnTo>
                    <a:pt x="147447" y="3225800"/>
                  </a:lnTo>
                  <a:cubicBezTo>
                    <a:pt x="66040" y="3225800"/>
                    <a:pt x="0" y="3159760"/>
                    <a:pt x="0" y="3078353"/>
                  </a:cubicBezTo>
                  <a:close/>
                </a:path>
              </a:pathLst>
            </a:custGeom>
            <a:solidFill>
              <a:srgbClr val="FFF4F4"/>
            </a:solidFill>
            <a:ln w="19050" cap="sq">
              <a:solidFill>
                <a:srgbClr val="F3C6C6"/>
              </a:solidFill>
              <a:prstDash val="solid"/>
              <a:miter/>
            </a:ln>
          </p:spPr>
        </p:sp>
      </p:grpSp>
      <p:grpSp>
        <p:nvGrpSpPr>
          <p:cNvPr name="Group 160" id="160"/>
          <p:cNvGrpSpPr/>
          <p:nvPr/>
        </p:nvGrpSpPr>
        <p:grpSpPr>
          <a:xfrm rot="0">
            <a:off x="1234440" y="7269480"/>
            <a:ext cx="6858000" cy="411480"/>
            <a:chOff x="0" y="0"/>
            <a:chExt cx="9144000" cy="548640"/>
          </a:xfrm>
        </p:grpSpPr>
        <p:sp>
          <p:nvSpPr>
            <p:cNvPr name="Freeform 161" id="161"/>
            <p:cNvSpPr/>
            <p:nvPr/>
          </p:nvSpPr>
          <p:spPr>
            <a:xfrm flipH="false" flipV="false" rot="0">
              <a:off x="0" y="0"/>
              <a:ext cx="9144000" cy="548640"/>
            </a:xfrm>
            <a:custGeom>
              <a:avLst/>
              <a:gdLst/>
              <a:ahLst/>
              <a:cxnLst/>
              <a:rect r="r" b="b" t="t" l="l"/>
              <a:pathLst>
                <a:path h="548640" w="9144000">
                  <a:moveTo>
                    <a:pt x="0" y="0"/>
                  </a:moveTo>
                  <a:lnTo>
                    <a:pt x="9144000" y="0"/>
                  </a:lnTo>
                  <a:lnTo>
                    <a:pt x="9144000" y="548640"/>
                  </a:lnTo>
                  <a:lnTo>
                    <a:pt x="0" y="548640"/>
                  </a:lnTo>
                  <a:close/>
                </a:path>
              </a:pathLst>
            </a:custGeom>
            <a:blipFill>
              <a:blip r:embed="rId2">
                <a:alphaModFix amt="0"/>
              </a:blip>
              <a:stretch>
                <a:fillRect l="0" t="-274750" r="0" b="-274750"/>
              </a:stretch>
            </a:blipFill>
          </p:spPr>
        </p:sp>
        <p:sp>
          <p:nvSpPr>
            <p:cNvPr name="TextBox 162" id="162"/>
            <p:cNvSpPr txBox="true"/>
            <p:nvPr/>
          </p:nvSpPr>
          <p:spPr>
            <a:xfrm>
              <a:off x="0" y="-38100"/>
              <a:ext cx="9144000" cy="586740"/>
            </a:xfrm>
            <a:prstGeom prst="rect">
              <a:avLst/>
            </a:prstGeom>
          </p:spPr>
          <p:txBody>
            <a:bodyPr anchor="ctr" rtlCol="false" tIns="0" lIns="0" bIns="0" rIns="0"/>
            <a:lstStyle/>
            <a:p>
              <a:pPr algn="l">
                <a:lnSpc>
                  <a:spcPts val="2070"/>
                </a:lnSpc>
              </a:pPr>
              <a:r>
                <a:rPr lang="en-US" b="true" sz="1725" spc="149">
                  <a:solidFill>
                    <a:srgbClr val="FF5C5C"/>
                  </a:solidFill>
                  <a:latin typeface="Calibri (MS) Bold"/>
                  <a:ea typeface="Calibri (MS) Bold"/>
                  <a:cs typeface="Calibri (MS) Bold"/>
                  <a:sym typeface="Calibri (MS) Bold"/>
                </a:rPr>
                <a:t>Discusión crítica</a:t>
              </a:r>
            </a:p>
          </p:txBody>
        </p:sp>
      </p:grpSp>
      <p:grpSp>
        <p:nvGrpSpPr>
          <p:cNvPr name="Group 163" id="163"/>
          <p:cNvGrpSpPr/>
          <p:nvPr/>
        </p:nvGrpSpPr>
        <p:grpSpPr>
          <a:xfrm rot="0">
            <a:off x="1234440" y="7680960"/>
            <a:ext cx="15773400" cy="1645920"/>
            <a:chOff x="0" y="0"/>
            <a:chExt cx="21031200" cy="2194560"/>
          </a:xfrm>
        </p:grpSpPr>
        <p:sp>
          <p:nvSpPr>
            <p:cNvPr name="Freeform 164" id="164"/>
            <p:cNvSpPr/>
            <p:nvPr/>
          </p:nvSpPr>
          <p:spPr>
            <a:xfrm flipH="false" flipV="false" rot="0">
              <a:off x="0" y="0"/>
              <a:ext cx="21031200" cy="2194560"/>
            </a:xfrm>
            <a:custGeom>
              <a:avLst/>
              <a:gdLst/>
              <a:ahLst/>
              <a:cxnLst/>
              <a:rect r="r" b="b" t="t" l="l"/>
              <a:pathLst>
                <a:path h="2194560" w="21031200">
                  <a:moveTo>
                    <a:pt x="0" y="0"/>
                  </a:moveTo>
                  <a:lnTo>
                    <a:pt x="21031200" y="0"/>
                  </a:lnTo>
                  <a:lnTo>
                    <a:pt x="21031200" y="2194560"/>
                  </a:lnTo>
                  <a:lnTo>
                    <a:pt x="0" y="2194560"/>
                  </a:lnTo>
                  <a:close/>
                </a:path>
              </a:pathLst>
            </a:custGeom>
            <a:blipFill>
              <a:blip r:embed="rId2">
                <a:alphaModFix amt="0"/>
              </a:blip>
              <a:stretch>
                <a:fillRect l="0" t="-136731" r="0" b="-136731"/>
              </a:stretch>
            </a:blipFill>
          </p:spPr>
        </p:sp>
        <p:sp>
          <p:nvSpPr>
            <p:cNvPr name="TextBox 165" id="165"/>
            <p:cNvSpPr txBox="true"/>
            <p:nvPr/>
          </p:nvSpPr>
          <p:spPr>
            <a:xfrm>
              <a:off x="0" y="-76200"/>
              <a:ext cx="21031200" cy="2270760"/>
            </a:xfrm>
            <a:prstGeom prst="rect">
              <a:avLst/>
            </a:prstGeom>
          </p:spPr>
          <p:txBody>
            <a:bodyPr anchor="ctr" rtlCol="false" tIns="0" lIns="0" bIns="0" rIns="0"/>
            <a:lstStyle/>
            <a:p>
              <a:pPr algn="l">
                <a:lnSpc>
                  <a:spcPts val="2484"/>
                </a:lnSpc>
              </a:pPr>
              <a:r>
                <a:rPr lang="en-US" sz="1725" b="true">
                  <a:solidFill>
                    <a:srgbClr val="0E1220"/>
                  </a:solidFill>
                  <a:latin typeface="Calibri (MS) Bold"/>
                  <a:ea typeface="Calibri (MS) Bold"/>
                  <a:cs typeface="Calibri (MS) Bold"/>
                  <a:sym typeface="Calibri (MS) Bold"/>
                </a:rPr>
                <a:t>¿Se justifica la DNN? </a:t>
              </a:r>
              <a:r>
                <a:rPr lang="en-US" sz="1725">
                  <a:solidFill>
                    <a:srgbClr val="0E1220"/>
                  </a:solidFill>
                  <a:latin typeface="Calibri (MS)"/>
                  <a:ea typeface="Calibri (MS)"/>
                  <a:cs typeface="Calibri (MS)"/>
                  <a:sym typeface="Calibri (MS)"/>
                </a:rPr>
                <a:t>El AutoML de baja complejidad (Extra Trees) supera a la DNN manual y a la DNN+NAS en macro-F1 con menor costo en esta corrida rápida, la capacidad extra de una red profunda no se traduce en mejor desempeño estadístico. </a:t>
              </a:r>
              <a:r>
                <a:rPr lang="en-US" sz="1725" b="true">
                  <a:solidFill>
                    <a:srgbClr val="0E1220"/>
                  </a:solidFill>
                  <a:latin typeface="Calibri (MS) Bold"/>
                  <a:ea typeface="Calibri (MS) Bold"/>
                  <a:cs typeface="Calibri (MS) Bold"/>
                  <a:sym typeface="Calibri (MS) Bold"/>
                </a:rPr>
                <a:t>¿Aportó el diseño manual? </a:t>
              </a:r>
              <a:r>
                <a:rPr lang="en-US" sz="1725">
                  <a:solidFill>
                    <a:srgbClr val="0E1220"/>
                  </a:solidFill>
                  <a:latin typeface="Calibri (MS)"/>
                  <a:ea typeface="Calibri (MS)"/>
                  <a:cs typeface="Calibri (MS)"/>
                  <a:sym typeface="Calibri (MS)"/>
                </a:rPr>
                <a:t>Sí frente al NAS: NAS logra +0.16 sobre la DNN manual con 71% menos parámetros, mostrando que el diseño manual dejó margen de mejora arquitectónica, aunque ninguna DNN alcanza al AutoML de árboles en esta configuración.</a:t>
              </a:r>
            </a:p>
          </p:txBody>
        </p:sp>
      </p:grpSp>
      <p:grpSp>
        <p:nvGrpSpPr>
          <p:cNvPr name="Group 166" id="166"/>
          <p:cNvGrpSpPr/>
          <p:nvPr/>
        </p:nvGrpSpPr>
        <p:grpSpPr>
          <a:xfrm rot="0">
            <a:off x="17053103" y="9601200"/>
            <a:ext cx="822960" cy="411480"/>
            <a:chOff x="0" y="0"/>
            <a:chExt cx="1097280" cy="548640"/>
          </a:xfrm>
        </p:grpSpPr>
        <p:sp>
          <p:nvSpPr>
            <p:cNvPr name="Freeform 167" id="167"/>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168" id="168"/>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13</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0162B"/>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2 · NOTA SOBRE COSTO COMPUTACIONAL</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FFFFFF"/>
                  </a:solidFill>
                  <a:latin typeface="Cambria Bold"/>
                  <a:ea typeface="Cambria Bold"/>
                  <a:cs typeface="Cambria Bold"/>
                  <a:sym typeface="Cambria Bold"/>
                </a:rPr>
                <a:t>Ojo con el k-NN: el costo se paga en inferencia</a:t>
              </a:r>
            </a:p>
          </p:txBody>
        </p:sp>
      </p:grpSp>
      <p:grpSp>
        <p:nvGrpSpPr>
          <p:cNvPr name="Group 8" id="8"/>
          <p:cNvGrpSpPr/>
          <p:nvPr/>
        </p:nvGrpSpPr>
        <p:grpSpPr>
          <a:xfrm rot="0">
            <a:off x="822960" y="2743200"/>
            <a:ext cx="9189720" cy="1783080"/>
            <a:chOff x="0" y="0"/>
            <a:chExt cx="12252960" cy="2377440"/>
          </a:xfrm>
        </p:grpSpPr>
        <p:sp>
          <p:nvSpPr>
            <p:cNvPr name="Freeform 9" id="9"/>
            <p:cNvSpPr/>
            <p:nvPr/>
          </p:nvSpPr>
          <p:spPr>
            <a:xfrm flipH="false" flipV="false" rot="0">
              <a:off x="0" y="0"/>
              <a:ext cx="12252960" cy="2377440"/>
            </a:xfrm>
            <a:custGeom>
              <a:avLst/>
              <a:gdLst/>
              <a:ahLst/>
              <a:cxnLst/>
              <a:rect r="r" b="b" t="t" l="l"/>
              <a:pathLst>
                <a:path h="2377440" w="12252960">
                  <a:moveTo>
                    <a:pt x="0" y="0"/>
                  </a:moveTo>
                  <a:lnTo>
                    <a:pt x="12252960" y="0"/>
                  </a:lnTo>
                  <a:lnTo>
                    <a:pt x="12252960" y="2377440"/>
                  </a:lnTo>
                  <a:lnTo>
                    <a:pt x="0" y="2377440"/>
                  </a:lnTo>
                  <a:close/>
                </a:path>
              </a:pathLst>
            </a:custGeom>
            <a:blipFill>
              <a:blip r:embed="rId2">
                <a:alphaModFix amt="0"/>
              </a:blip>
              <a:stretch>
                <a:fillRect l="0" t="-50422" r="0" b="-50422"/>
              </a:stretch>
            </a:blipFill>
          </p:spPr>
        </p:sp>
        <p:sp>
          <p:nvSpPr>
            <p:cNvPr name="TextBox 10" id="10"/>
            <p:cNvSpPr txBox="true"/>
            <p:nvPr/>
          </p:nvSpPr>
          <p:spPr>
            <a:xfrm>
              <a:off x="0" y="-133350"/>
              <a:ext cx="12252960" cy="2510790"/>
            </a:xfrm>
            <a:prstGeom prst="rect">
              <a:avLst/>
            </a:prstGeom>
          </p:spPr>
          <p:txBody>
            <a:bodyPr anchor="ctr" rtlCol="false" tIns="0" lIns="0" bIns="0" rIns="0"/>
            <a:lstStyle/>
            <a:p>
              <a:pPr algn="l">
                <a:lnSpc>
                  <a:spcPts val="3510"/>
                </a:lnSpc>
              </a:pPr>
              <a:r>
                <a:rPr lang="en-US" sz="2250">
                  <a:solidFill>
                    <a:srgbClr val="FFFFFF"/>
                  </a:solidFill>
                  <a:latin typeface="Calibri (MS)"/>
                  <a:ea typeface="Calibri (MS)"/>
                  <a:cs typeface="Calibri (MS)"/>
                  <a:sym typeface="Calibri (MS)"/>
                </a:rPr>
                <a:t>Un k-NN “entrena” de forma instantánea, pero su costo de inferencia crece con el tamaño del train, porque compara contra todo el dataset en cada predicción.</a:t>
              </a:r>
            </a:p>
          </p:txBody>
        </p:sp>
      </p:grpSp>
      <p:grpSp>
        <p:nvGrpSpPr>
          <p:cNvPr name="Group 11" id="11"/>
          <p:cNvGrpSpPr/>
          <p:nvPr/>
        </p:nvGrpSpPr>
        <p:grpSpPr>
          <a:xfrm rot="0">
            <a:off x="822960" y="4594860"/>
            <a:ext cx="9189720" cy="2331720"/>
            <a:chOff x="0" y="0"/>
            <a:chExt cx="12252960" cy="3108960"/>
          </a:xfrm>
        </p:grpSpPr>
        <p:sp>
          <p:nvSpPr>
            <p:cNvPr name="Freeform 12" id="12"/>
            <p:cNvSpPr/>
            <p:nvPr/>
          </p:nvSpPr>
          <p:spPr>
            <a:xfrm flipH="false" flipV="false" rot="0">
              <a:off x="0" y="0"/>
              <a:ext cx="12252960" cy="3108960"/>
            </a:xfrm>
            <a:custGeom>
              <a:avLst/>
              <a:gdLst/>
              <a:ahLst/>
              <a:cxnLst/>
              <a:rect r="r" b="b" t="t" l="l"/>
              <a:pathLst>
                <a:path h="3108960" w="12252960">
                  <a:moveTo>
                    <a:pt x="0" y="0"/>
                  </a:moveTo>
                  <a:lnTo>
                    <a:pt x="12252960" y="0"/>
                  </a:lnTo>
                  <a:lnTo>
                    <a:pt x="12252960" y="3108960"/>
                  </a:lnTo>
                  <a:lnTo>
                    <a:pt x="0" y="3108960"/>
                  </a:lnTo>
                  <a:close/>
                </a:path>
              </a:pathLst>
            </a:custGeom>
            <a:blipFill>
              <a:blip r:embed="rId2">
                <a:alphaModFix amt="0"/>
              </a:blip>
              <a:stretch>
                <a:fillRect l="0" t="-26793" r="0" b="-26793"/>
              </a:stretch>
            </a:blipFill>
          </p:spPr>
        </p:sp>
        <p:sp>
          <p:nvSpPr>
            <p:cNvPr name="TextBox 13" id="13"/>
            <p:cNvSpPr txBox="true"/>
            <p:nvPr/>
          </p:nvSpPr>
          <p:spPr>
            <a:xfrm>
              <a:off x="0" y="-114300"/>
              <a:ext cx="12252960" cy="3223260"/>
            </a:xfrm>
            <a:prstGeom prst="rect">
              <a:avLst/>
            </a:prstGeom>
          </p:spPr>
          <p:txBody>
            <a:bodyPr anchor="ctr" rtlCol="false" tIns="0" lIns="0" bIns="0" rIns="0"/>
            <a:lstStyle/>
            <a:p>
              <a:pPr algn="l">
                <a:lnSpc>
                  <a:spcPts val="3042"/>
                </a:lnSpc>
              </a:pPr>
              <a:r>
                <a:rPr lang="en-US" sz="1950">
                  <a:solidFill>
                    <a:srgbClr val="B9C0E0"/>
                  </a:solidFill>
                  <a:latin typeface="Calibri (MS)"/>
                  <a:ea typeface="Calibri (MS)"/>
                  <a:cs typeface="Calibri (MS)"/>
                  <a:sym typeface="Calibri (MS)"/>
                </a:rPr>
                <a:t>En la corrida rápida (~19K filas de train) un k-NN puede ganar en macro-F1, pero eso no necesariamente se sostiene sobre el dataset completo (~2M+ filas): ahí el costo de inferencia por muestra sería órdenes de magnitud mayor que el de la DNN o el AutoML basado en árboles.</a:t>
              </a:r>
            </a:p>
          </p:txBody>
        </p:sp>
      </p:grpSp>
      <p:grpSp>
        <p:nvGrpSpPr>
          <p:cNvPr name="Group 14" id="14"/>
          <p:cNvGrpSpPr/>
          <p:nvPr/>
        </p:nvGrpSpPr>
        <p:grpSpPr>
          <a:xfrm rot="0">
            <a:off x="10835640" y="2743200"/>
            <a:ext cx="6583680" cy="4937760"/>
            <a:chOff x="0" y="0"/>
            <a:chExt cx="8778240" cy="6583680"/>
          </a:xfrm>
        </p:grpSpPr>
        <p:sp>
          <p:nvSpPr>
            <p:cNvPr name="Freeform 15" id="15"/>
            <p:cNvSpPr/>
            <p:nvPr/>
          </p:nvSpPr>
          <p:spPr>
            <a:xfrm flipH="false" flipV="false" rot="0">
              <a:off x="0" y="0"/>
              <a:ext cx="8778240" cy="6583680"/>
            </a:xfrm>
            <a:custGeom>
              <a:avLst/>
              <a:gdLst/>
              <a:ahLst/>
              <a:cxnLst/>
              <a:rect r="r" b="b" t="t" l="l"/>
              <a:pathLst>
                <a:path h="6583680" w="8778240">
                  <a:moveTo>
                    <a:pt x="0" y="182880"/>
                  </a:moveTo>
                  <a:cubicBezTo>
                    <a:pt x="0" y="81915"/>
                    <a:pt x="81915" y="0"/>
                    <a:pt x="182880" y="0"/>
                  </a:cubicBezTo>
                  <a:lnTo>
                    <a:pt x="8595360" y="0"/>
                  </a:lnTo>
                  <a:cubicBezTo>
                    <a:pt x="8696325" y="0"/>
                    <a:pt x="8778240" y="81915"/>
                    <a:pt x="8778240" y="182880"/>
                  </a:cubicBezTo>
                  <a:lnTo>
                    <a:pt x="8778240" y="6400800"/>
                  </a:lnTo>
                  <a:cubicBezTo>
                    <a:pt x="8778240" y="6501765"/>
                    <a:pt x="8696325" y="6583680"/>
                    <a:pt x="8595360" y="6583680"/>
                  </a:cubicBezTo>
                  <a:lnTo>
                    <a:pt x="182880" y="6583680"/>
                  </a:lnTo>
                  <a:cubicBezTo>
                    <a:pt x="81915" y="6583680"/>
                    <a:pt x="0" y="6501765"/>
                    <a:pt x="0" y="6400800"/>
                  </a:cubicBezTo>
                  <a:close/>
                </a:path>
              </a:pathLst>
            </a:custGeom>
            <a:solidFill>
              <a:srgbClr val="1B2340"/>
            </a:solidFill>
          </p:spPr>
        </p:sp>
      </p:grpSp>
      <p:grpSp>
        <p:nvGrpSpPr>
          <p:cNvPr name="Group 16" id="16"/>
          <p:cNvGrpSpPr/>
          <p:nvPr/>
        </p:nvGrpSpPr>
        <p:grpSpPr>
          <a:xfrm rot="0">
            <a:off x="11384280" y="3223260"/>
            <a:ext cx="5486400" cy="960120"/>
            <a:chOff x="0" y="0"/>
            <a:chExt cx="7315200" cy="1280160"/>
          </a:xfrm>
        </p:grpSpPr>
        <p:sp>
          <p:nvSpPr>
            <p:cNvPr name="Freeform 17" id="17"/>
            <p:cNvSpPr/>
            <p:nvPr/>
          </p:nvSpPr>
          <p:spPr>
            <a:xfrm flipH="false" flipV="false" rot="0">
              <a:off x="0" y="0"/>
              <a:ext cx="7315200" cy="1280160"/>
            </a:xfrm>
            <a:custGeom>
              <a:avLst/>
              <a:gdLst/>
              <a:ahLst/>
              <a:cxnLst/>
              <a:rect r="r" b="b" t="t" l="l"/>
              <a:pathLst>
                <a:path h="1280160" w="7315200">
                  <a:moveTo>
                    <a:pt x="0" y="0"/>
                  </a:moveTo>
                  <a:lnTo>
                    <a:pt x="7315200" y="0"/>
                  </a:lnTo>
                  <a:lnTo>
                    <a:pt x="7315200" y="1280160"/>
                  </a:lnTo>
                  <a:lnTo>
                    <a:pt x="0" y="1280160"/>
                  </a:lnTo>
                  <a:close/>
                </a:path>
              </a:pathLst>
            </a:custGeom>
            <a:blipFill>
              <a:blip r:embed="rId2">
                <a:alphaModFix amt="0"/>
              </a:blip>
              <a:stretch>
                <a:fillRect l="0" t="-61343" r="0" b="-61343"/>
              </a:stretch>
            </a:blipFill>
          </p:spPr>
        </p:sp>
        <p:sp>
          <p:nvSpPr>
            <p:cNvPr name="TextBox 18" id="18"/>
            <p:cNvSpPr txBox="true"/>
            <p:nvPr/>
          </p:nvSpPr>
          <p:spPr>
            <a:xfrm>
              <a:off x="0" y="-9525"/>
              <a:ext cx="7315200" cy="1289685"/>
            </a:xfrm>
            <a:prstGeom prst="rect">
              <a:avLst/>
            </a:prstGeom>
          </p:spPr>
          <p:txBody>
            <a:bodyPr anchor="ctr" rtlCol="false" tIns="0" lIns="0" bIns="0" rIns="0"/>
            <a:lstStyle/>
            <a:p>
              <a:pPr algn="l">
                <a:lnSpc>
                  <a:spcPts val="6120"/>
                </a:lnSpc>
              </a:pPr>
              <a:r>
                <a:rPr lang="en-US" sz="5100" b="true">
                  <a:solidFill>
                    <a:srgbClr val="00D1B2"/>
                  </a:solidFill>
                  <a:latin typeface="Cambria Bold"/>
                  <a:ea typeface="Cambria Bold"/>
                  <a:cs typeface="Cambria Bold"/>
                  <a:sym typeface="Cambria Bold"/>
                </a:rPr>
                <a:t>~19K</a:t>
              </a:r>
            </a:p>
          </p:txBody>
        </p:sp>
      </p:grpSp>
      <p:grpSp>
        <p:nvGrpSpPr>
          <p:cNvPr name="Group 19" id="19"/>
          <p:cNvGrpSpPr/>
          <p:nvPr/>
        </p:nvGrpSpPr>
        <p:grpSpPr>
          <a:xfrm rot="0">
            <a:off x="11384280" y="4183380"/>
            <a:ext cx="5486400" cy="822960"/>
            <a:chOff x="0" y="0"/>
            <a:chExt cx="7315200" cy="1097280"/>
          </a:xfrm>
        </p:grpSpPr>
        <p:sp>
          <p:nvSpPr>
            <p:cNvPr name="Freeform 20" id="20"/>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2">
                <a:alphaModFix amt="0"/>
              </a:blip>
              <a:stretch>
                <a:fillRect l="0" t="-79900" r="0" b="-79900"/>
              </a:stretch>
            </a:blipFill>
          </p:spPr>
        </p:sp>
        <p:sp>
          <p:nvSpPr>
            <p:cNvPr name="TextBox 21" id="21"/>
            <p:cNvSpPr txBox="true"/>
            <p:nvPr/>
          </p:nvSpPr>
          <p:spPr>
            <a:xfrm>
              <a:off x="0" y="-38100"/>
              <a:ext cx="7315200" cy="1135380"/>
            </a:xfrm>
            <a:prstGeom prst="rect">
              <a:avLst/>
            </a:prstGeom>
          </p:spPr>
          <p:txBody>
            <a:bodyPr anchor="ctr" rtlCol="false" tIns="0" lIns="0" bIns="0" rIns="0"/>
            <a:lstStyle/>
            <a:p>
              <a:pPr algn="l">
                <a:lnSpc>
                  <a:spcPts val="2070"/>
                </a:lnSpc>
              </a:pPr>
              <a:r>
                <a:rPr lang="en-US" sz="1725">
                  <a:solidFill>
                    <a:srgbClr val="B9C0E0"/>
                  </a:solidFill>
                  <a:latin typeface="Calibri (MS)"/>
                  <a:ea typeface="Calibri (MS)"/>
                  <a:cs typeface="Calibri (MS)"/>
                  <a:sym typeface="Calibri (MS)"/>
                </a:rPr>
                <a:t>filas de train en la corrida rápida de validación del pipeline</a:t>
              </a:r>
            </a:p>
          </p:txBody>
        </p:sp>
      </p:grpSp>
      <p:sp>
        <p:nvSpPr>
          <p:cNvPr name="AutoShape 22" id="22"/>
          <p:cNvSpPr/>
          <p:nvPr/>
        </p:nvSpPr>
        <p:spPr>
          <a:xfrm rot="11880">
            <a:off x="11374736" y="5138738"/>
            <a:ext cx="5505479" cy="0"/>
          </a:xfrm>
          <a:prstGeom prst="line">
            <a:avLst/>
          </a:prstGeom>
          <a:ln cap="rnd" w="9525">
            <a:solidFill>
              <a:srgbClr val="3A4470"/>
            </a:solidFill>
            <a:prstDash val="solid"/>
            <a:headEnd type="none" len="sm" w="sm"/>
            <a:tailEnd type="none" len="sm" w="sm"/>
          </a:ln>
        </p:spPr>
      </p:sp>
      <p:grpSp>
        <p:nvGrpSpPr>
          <p:cNvPr name="Group 23" id="23"/>
          <p:cNvGrpSpPr/>
          <p:nvPr/>
        </p:nvGrpSpPr>
        <p:grpSpPr>
          <a:xfrm rot="0">
            <a:off x="11384280" y="5417820"/>
            <a:ext cx="5486400" cy="960120"/>
            <a:chOff x="0" y="0"/>
            <a:chExt cx="7315200" cy="1280160"/>
          </a:xfrm>
        </p:grpSpPr>
        <p:sp>
          <p:nvSpPr>
            <p:cNvPr name="Freeform 24" id="24"/>
            <p:cNvSpPr/>
            <p:nvPr/>
          </p:nvSpPr>
          <p:spPr>
            <a:xfrm flipH="false" flipV="false" rot="0">
              <a:off x="0" y="0"/>
              <a:ext cx="7315200" cy="1280160"/>
            </a:xfrm>
            <a:custGeom>
              <a:avLst/>
              <a:gdLst/>
              <a:ahLst/>
              <a:cxnLst/>
              <a:rect r="r" b="b" t="t" l="l"/>
              <a:pathLst>
                <a:path h="1280160" w="7315200">
                  <a:moveTo>
                    <a:pt x="0" y="0"/>
                  </a:moveTo>
                  <a:lnTo>
                    <a:pt x="7315200" y="0"/>
                  </a:lnTo>
                  <a:lnTo>
                    <a:pt x="7315200" y="1280160"/>
                  </a:lnTo>
                  <a:lnTo>
                    <a:pt x="0" y="1280160"/>
                  </a:lnTo>
                  <a:close/>
                </a:path>
              </a:pathLst>
            </a:custGeom>
            <a:blipFill>
              <a:blip r:embed="rId2">
                <a:alphaModFix amt="0"/>
              </a:blip>
              <a:stretch>
                <a:fillRect l="0" t="-61343" r="0" b="-61343"/>
              </a:stretch>
            </a:blipFill>
          </p:spPr>
        </p:sp>
        <p:sp>
          <p:nvSpPr>
            <p:cNvPr name="TextBox 25" id="25"/>
            <p:cNvSpPr txBox="true"/>
            <p:nvPr/>
          </p:nvSpPr>
          <p:spPr>
            <a:xfrm>
              <a:off x="0" y="-9525"/>
              <a:ext cx="7315200" cy="1289685"/>
            </a:xfrm>
            <a:prstGeom prst="rect">
              <a:avLst/>
            </a:prstGeom>
          </p:spPr>
          <p:txBody>
            <a:bodyPr anchor="ctr" rtlCol="false" tIns="0" lIns="0" bIns="0" rIns="0"/>
            <a:lstStyle/>
            <a:p>
              <a:pPr algn="l">
                <a:lnSpc>
                  <a:spcPts val="6120"/>
                </a:lnSpc>
              </a:pPr>
              <a:r>
                <a:rPr lang="en-US" sz="5100" b="true">
                  <a:solidFill>
                    <a:srgbClr val="FF5C5C"/>
                  </a:solidFill>
                  <a:latin typeface="Cambria Bold"/>
                  <a:ea typeface="Cambria Bold"/>
                  <a:cs typeface="Cambria Bold"/>
                  <a:sym typeface="Cambria Bold"/>
                </a:rPr>
                <a:t>~2M+</a:t>
              </a:r>
            </a:p>
          </p:txBody>
        </p:sp>
      </p:grpSp>
      <p:grpSp>
        <p:nvGrpSpPr>
          <p:cNvPr name="Group 26" id="26"/>
          <p:cNvGrpSpPr/>
          <p:nvPr/>
        </p:nvGrpSpPr>
        <p:grpSpPr>
          <a:xfrm rot="0">
            <a:off x="11384280" y="6377940"/>
            <a:ext cx="5486400" cy="960120"/>
            <a:chOff x="0" y="0"/>
            <a:chExt cx="7315200" cy="1280160"/>
          </a:xfrm>
        </p:grpSpPr>
        <p:sp>
          <p:nvSpPr>
            <p:cNvPr name="Freeform 27" id="27"/>
            <p:cNvSpPr/>
            <p:nvPr/>
          </p:nvSpPr>
          <p:spPr>
            <a:xfrm flipH="false" flipV="false" rot="0">
              <a:off x="0" y="0"/>
              <a:ext cx="7315200" cy="1280160"/>
            </a:xfrm>
            <a:custGeom>
              <a:avLst/>
              <a:gdLst/>
              <a:ahLst/>
              <a:cxnLst/>
              <a:rect r="r" b="b" t="t" l="l"/>
              <a:pathLst>
                <a:path h="1280160" w="7315200">
                  <a:moveTo>
                    <a:pt x="0" y="0"/>
                  </a:moveTo>
                  <a:lnTo>
                    <a:pt x="7315200" y="0"/>
                  </a:lnTo>
                  <a:lnTo>
                    <a:pt x="7315200" y="1280160"/>
                  </a:lnTo>
                  <a:lnTo>
                    <a:pt x="0" y="1280160"/>
                  </a:lnTo>
                  <a:close/>
                </a:path>
              </a:pathLst>
            </a:custGeom>
            <a:blipFill>
              <a:blip r:embed="rId2">
                <a:alphaModFix amt="0"/>
              </a:blip>
              <a:stretch>
                <a:fillRect l="0" t="-61343" r="0" b="-61343"/>
              </a:stretch>
            </a:blipFill>
          </p:spPr>
        </p:sp>
        <p:sp>
          <p:nvSpPr>
            <p:cNvPr name="TextBox 28" id="28"/>
            <p:cNvSpPr txBox="true"/>
            <p:nvPr/>
          </p:nvSpPr>
          <p:spPr>
            <a:xfrm>
              <a:off x="0" y="-38100"/>
              <a:ext cx="7315200" cy="1318260"/>
            </a:xfrm>
            <a:prstGeom prst="rect">
              <a:avLst/>
            </a:prstGeom>
          </p:spPr>
          <p:txBody>
            <a:bodyPr anchor="ctr" rtlCol="false" tIns="0" lIns="0" bIns="0" rIns="0"/>
            <a:lstStyle/>
            <a:p>
              <a:pPr algn="l">
                <a:lnSpc>
                  <a:spcPts val="2070"/>
                </a:lnSpc>
              </a:pPr>
              <a:r>
                <a:rPr lang="en-US" sz="1725">
                  <a:solidFill>
                    <a:srgbClr val="B9C0E0"/>
                  </a:solidFill>
                  <a:latin typeface="Calibri (MS)"/>
                  <a:ea typeface="Calibri (MS)"/>
                  <a:cs typeface="Calibri (MS)"/>
                  <a:sym typeface="Calibri (MS)"/>
                </a:rPr>
                <a:t>filas de train esperadas en la corrida completa sobre CIC-IDS2017</a:t>
              </a:r>
            </a:p>
          </p:txBody>
        </p:sp>
      </p:grpSp>
      <p:grpSp>
        <p:nvGrpSpPr>
          <p:cNvPr name="Group 29" id="29"/>
          <p:cNvGrpSpPr/>
          <p:nvPr/>
        </p:nvGrpSpPr>
        <p:grpSpPr>
          <a:xfrm rot="0">
            <a:off x="822960" y="8092440"/>
            <a:ext cx="16596360" cy="822960"/>
            <a:chOff x="0" y="0"/>
            <a:chExt cx="22128480" cy="1097280"/>
          </a:xfrm>
        </p:grpSpPr>
        <p:sp>
          <p:nvSpPr>
            <p:cNvPr name="Freeform 30" id="30"/>
            <p:cNvSpPr/>
            <p:nvPr/>
          </p:nvSpPr>
          <p:spPr>
            <a:xfrm flipH="false" flipV="false" rot="0">
              <a:off x="0" y="0"/>
              <a:ext cx="22128480" cy="1097280"/>
            </a:xfrm>
            <a:custGeom>
              <a:avLst/>
              <a:gdLst/>
              <a:ahLst/>
              <a:cxnLst/>
              <a:rect r="r" b="b" t="t" l="l"/>
              <a:pathLst>
                <a:path h="1097280" w="22128480">
                  <a:moveTo>
                    <a:pt x="0" y="0"/>
                  </a:moveTo>
                  <a:lnTo>
                    <a:pt x="22128480" y="0"/>
                  </a:lnTo>
                  <a:lnTo>
                    <a:pt x="22128480" y="1097280"/>
                  </a:lnTo>
                  <a:lnTo>
                    <a:pt x="0" y="1097280"/>
                  </a:lnTo>
                  <a:close/>
                </a:path>
              </a:pathLst>
            </a:custGeom>
            <a:blipFill>
              <a:blip r:embed="rId2">
                <a:alphaModFix amt="0"/>
              </a:blip>
              <a:stretch>
                <a:fillRect l="0" t="-342948" r="0" b="-342948"/>
              </a:stretch>
            </a:blipFill>
          </p:spPr>
        </p:sp>
        <p:sp>
          <p:nvSpPr>
            <p:cNvPr name="TextBox 31" id="31"/>
            <p:cNvSpPr txBox="true"/>
            <p:nvPr/>
          </p:nvSpPr>
          <p:spPr>
            <a:xfrm>
              <a:off x="0" y="-38100"/>
              <a:ext cx="22128480" cy="1135380"/>
            </a:xfrm>
            <a:prstGeom prst="rect">
              <a:avLst/>
            </a:prstGeom>
          </p:spPr>
          <p:txBody>
            <a:bodyPr anchor="ctr" rtlCol="false" tIns="0" lIns="0" bIns="0" rIns="0"/>
            <a:lstStyle/>
            <a:p>
              <a:pPr algn="l">
                <a:lnSpc>
                  <a:spcPts val="2160"/>
                </a:lnSpc>
              </a:pPr>
              <a:r>
                <a:rPr lang="en-US" sz="1800" i="true">
                  <a:solidFill>
                    <a:srgbClr val="8A93B8"/>
                  </a:solidFill>
                  <a:latin typeface="Calibri (MS) Italics"/>
                  <a:ea typeface="Calibri (MS) Italics"/>
                  <a:cs typeface="Calibri (MS) Italics"/>
                  <a:sym typeface="Calibri (MS) Italics"/>
                </a:rPr>
                <a:t>Punto central para la discusión de costo computacional que pide el enunciado: la métrica de desempeño sola no basta para decidir qué modelo llevar a producción.</a:t>
              </a:r>
            </a:p>
          </p:txBody>
        </p:sp>
      </p:grpSp>
      <p:grpSp>
        <p:nvGrpSpPr>
          <p:cNvPr name="Group 32" id="32"/>
          <p:cNvGrpSpPr/>
          <p:nvPr/>
        </p:nvGrpSpPr>
        <p:grpSpPr>
          <a:xfrm rot="0">
            <a:off x="17053103" y="9601200"/>
            <a:ext cx="822960" cy="411480"/>
            <a:chOff x="0" y="0"/>
            <a:chExt cx="1097280" cy="548640"/>
          </a:xfrm>
        </p:grpSpPr>
        <p:sp>
          <p:nvSpPr>
            <p:cNvPr name="Freeform 33" id="33"/>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34" id="34"/>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8A93B8"/>
                  </a:solidFill>
                  <a:latin typeface="Calibri (MS)"/>
                  <a:ea typeface="Calibri (MS)"/>
                  <a:cs typeface="Calibri (MS)"/>
                  <a:sym typeface="Calibri (MS)"/>
                </a:rPr>
                <a:t>14</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3 · 3.1 GENERACIÓN DE DATOS SINTÉTICOS</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TVAE para reproducir la distribución conjunta</a:t>
              </a:r>
            </a:p>
          </p:txBody>
        </p:sp>
      </p:grpSp>
      <p:grpSp>
        <p:nvGrpSpPr>
          <p:cNvPr name="Group 8" id="8"/>
          <p:cNvGrpSpPr/>
          <p:nvPr/>
        </p:nvGrpSpPr>
        <p:grpSpPr>
          <a:xfrm rot="0">
            <a:off x="822960" y="2537460"/>
            <a:ext cx="16322040" cy="1508760"/>
            <a:chOff x="0" y="0"/>
            <a:chExt cx="21762720" cy="2011680"/>
          </a:xfrm>
        </p:grpSpPr>
        <p:sp>
          <p:nvSpPr>
            <p:cNvPr name="Freeform 9" id="9"/>
            <p:cNvSpPr/>
            <p:nvPr/>
          </p:nvSpPr>
          <p:spPr>
            <a:xfrm flipH="false" flipV="false" rot="0">
              <a:off x="0" y="0"/>
              <a:ext cx="21762720" cy="2011680"/>
            </a:xfrm>
            <a:custGeom>
              <a:avLst/>
              <a:gdLst/>
              <a:ahLst/>
              <a:cxnLst/>
              <a:rect r="r" b="b" t="t" l="l"/>
              <a:pathLst>
                <a:path h="2011680" w="21762720">
                  <a:moveTo>
                    <a:pt x="0" y="0"/>
                  </a:moveTo>
                  <a:lnTo>
                    <a:pt x="21762720" y="0"/>
                  </a:lnTo>
                  <a:lnTo>
                    <a:pt x="21762720" y="2011680"/>
                  </a:lnTo>
                  <a:lnTo>
                    <a:pt x="0" y="2011680"/>
                  </a:lnTo>
                  <a:close/>
                </a:path>
              </a:pathLst>
            </a:custGeom>
            <a:blipFill>
              <a:blip r:embed="rId2">
                <a:alphaModFix amt="0"/>
              </a:blip>
              <a:stretch>
                <a:fillRect l="0" t="-160792" r="0" b="-160792"/>
              </a:stretch>
            </a:blipFill>
          </p:spPr>
        </p:sp>
        <p:sp>
          <p:nvSpPr>
            <p:cNvPr name="TextBox 10" id="10"/>
            <p:cNvSpPr txBox="true"/>
            <p:nvPr/>
          </p:nvSpPr>
          <p:spPr>
            <a:xfrm>
              <a:off x="0" y="-104775"/>
              <a:ext cx="21762720" cy="2116455"/>
            </a:xfrm>
            <a:prstGeom prst="rect">
              <a:avLst/>
            </a:prstGeom>
          </p:spPr>
          <p:txBody>
            <a:bodyPr anchor="ctr" rtlCol="false" tIns="0" lIns="0" bIns="0" rIns="0"/>
            <a:lstStyle/>
            <a:p>
              <a:pPr algn="l">
                <a:lnSpc>
                  <a:spcPts val="3159"/>
                </a:lnSpc>
              </a:pPr>
              <a:r>
                <a:rPr lang="en-US" sz="2025" b="true">
                  <a:solidFill>
                    <a:srgbClr val="0E1220"/>
                  </a:solidFill>
                  <a:latin typeface="Calibri (MS) Bold"/>
                  <a:ea typeface="Calibri (MS) Bold"/>
                  <a:cs typeface="Calibri (MS) Bold"/>
                  <a:sym typeface="Calibri (MS) Bold"/>
                </a:rPr>
                <a:t>¿Por qué TVAE? </a:t>
              </a:r>
              <a:r>
                <a:rPr lang="en-US" sz="2025">
                  <a:solidFill>
                    <a:srgbClr val="6B7280"/>
                  </a:solidFill>
                  <a:latin typeface="Calibri (MS)"/>
                  <a:ea typeface="Calibri (MS)"/>
                  <a:cs typeface="Calibri (MS)"/>
                  <a:sym typeface="Calibri (MS)"/>
                </a:rPr>
                <a:t>Autoencoder variacional para datos tabulares: más rápido de entrenar que un GAN condicional (CTGAN) manteniendo buena fidelidad de la distribución conjunta un balance razonable dado el plazo de entrega.</a:t>
              </a:r>
            </a:p>
          </p:txBody>
        </p:sp>
      </p:grpSp>
      <p:grpSp>
        <p:nvGrpSpPr>
          <p:cNvPr name="Group 11" id="11"/>
          <p:cNvGrpSpPr/>
          <p:nvPr/>
        </p:nvGrpSpPr>
        <p:grpSpPr>
          <a:xfrm rot="0">
            <a:off x="822960" y="4046220"/>
            <a:ext cx="16322040" cy="2194560"/>
            <a:chOff x="0" y="0"/>
            <a:chExt cx="21762720" cy="2926080"/>
          </a:xfrm>
        </p:grpSpPr>
        <p:sp>
          <p:nvSpPr>
            <p:cNvPr name="Freeform 12" id="12"/>
            <p:cNvSpPr/>
            <p:nvPr/>
          </p:nvSpPr>
          <p:spPr>
            <a:xfrm flipH="false" flipV="false" rot="0">
              <a:off x="0" y="0"/>
              <a:ext cx="21762720" cy="2926080"/>
            </a:xfrm>
            <a:custGeom>
              <a:avLst/>
              <a:gdLst/>
              <a:ahLst/>
              <a:cxnLst/>
              <a:rect r="r" b="b" t="t" l="l"/>
              <a:pathLst>
                <a:path h="2926080" w="21762720">
                  <a:moveTo>
                    <a:pt x="0" y="0"/>
                  </a:moveTo>
                  <a:lnTo>
                    <a:pt x="21762720" y="0"/>
                  </a:lnTo>
                  <a:lnTo>
                    <a:pt x="21762720" y="2926080"/>
                  </a:lnTo>
                  <a:lnTo>
                    <a:pt x="0" y="2926080"/>
                  </a:lnTo>
                  <a:close/>
                </a:path>
              </a:pathLst>
            </a:custGeom>
            <a:blipFill>
              <a:blip r:embed="rId2">
                <a:alphaModFix amt="0"/>
              </a:blip>
              <a:stretch>
                <a:fillRect l="0" t="-94919" r="0" b="-94919"/>
              </a:stretch>
            </a:blipFill>
          </p:spPr>
        </p:sp>
        <p:sp>
          <p:nvSpPr>
            <p:cNvPr name="TextBox 13" id="13"/>
            <p:cNvSpPr txBox="true"/>
            <p:nvPr/>
          </p:nvSpPr>
          <p:spPr>
            <a:xfrm>
              <a:off x="0" y="-104775"/>
              <a:ext cx="21762720" cy="3030855"/>
            </a:xfrm>
            <a:prstGeom prst="rect">
              <a:avLst/>
            </a:prstGeom>
          </p:spPr>
          <p:txBody>
            <a:bodyPr anchor="ctr" rtlCol="false" tIns="0" lIns="0" bIns="0" rIns="0"/>
            <a:lstStyle/>
            <a:p>
              <a:pPr algn="l">
                <a:lnSpc>
                  <a:spcPts val="3159"/>
                </a:lnSpc>
              </a:pPr>
              <a:r>
                <a:rPr lang="en-US" sz="2025" b="true">
                  <a:solidFill>
                    <a:srgbClr val="0E1220"/>
                  </a:solidFill>
                  <a:latin typeface="Calibri (MS) Bold"/>
                  <a:ea typeface="Calibri (MS) Bold"/>
                  <a:cs typeface="Calibri (MS) Bold"/>
                  <a:sym typeface="Calibri (MS) Bold"/>
                </a:rPr>
                <a:t>¿Por qué sobre-muestrear clases raras al ajustar? </a:t>
              </a:r>
              <a:r>
                <a:rPr lang="en-US" sz="2025">
                  <a:solidFill>
                    <a:srgbClr val="6B7280"/>
                  </a:solidFill>
                  <a:latin typeface="Calibri (MS)"/>
                  <a:ea typeface="Calibri (MS)"/>
                  <a:cs typeface="Calibri (MS)"/>
                  <a:sym typeface="Calibri (MS)"/>
                </a:rPr>
                <a:t>Si el TVAE se ajusta sobre la distribución real (BENIGN ≈ 62%, Heartbleed ≈ 0.05%), aprende esa misma proporción y casi nunca genera las clases raras justo lo que se necesita para el aumento. La muestra de ajuste toma hasta un tope de filas por clase, con reemplazo para las clases más chicas, así el generador ve todas las clases con frecuencia comparable.</a:t>
              </a:r>
            </a:p>
          </p:txBody>
        </p:sp>
      </p:grpSp>
      <p:grpSp>
        <p:nvGrpSpPr>
          <p:cNvPr name="Group 14" id="14"/>
          <p:cNvGrpSpPr/>
          <p:nvPr/>
        </p:nvGrpSpPr>
        <p:grpSpPr>
          <a:xfrm rot="0">
            <a:off x="813435" y="6642735"/>
            <a:ext cx="5025390" cy="2076450"/>
            <a:chOff x="0" y="0"/>
            <a:chExt cx="6700520" cy="2768600"/>
          </a:xfrm>
        </p:grpSpPr>
        <p:sp>
          <p:nvSpPr>
            <p:cNvPr name="Freeform 15" id="15"/>
            <p:cNvSpPr/>
            <p:nvPr/>
          </p:nvSpPr>
          <p:spPr>
            <a:xfrm flipH="false" flipV="false" rot="0">
              <a:off x="0" y="0"/>
              <a:ext cx="6700520" cy="2768600"/>
            </a:xfrm>
            <a:custGeom>
              <a:avLst/>
              <a:gdLst/>
              <a:ahLst/>
              <a:cxnLst/>
              <a:rect r="r" b="b" t="t" l="l"/>
              <a:pathLst>
                <a:path h="2768600" w="6700520">
                  <a:moveTo>
                    <a:pt x="0" y="184531"/>
                  </a:moveTo>
                  <a:cubicBezTo>
                    <a:pt x="0" y="82677"/>
                    <a:pt x="82677" y="0"/>
                    <a:pt x="184531" y="0"/>
                  </a:cubicBezTo>
                  <a:lnTo>
                    <a:pt x="6515989" y="0"/>
                  </a:lnTo>
                  <a:cubicBezTo>
                    <a:pt x="6617970" y="0"/>
                    <a:pt x="6700520" y="82677"/>
                    <a:pt x="6700520" y="184531"/>
                  </a:cubicBezTo>
                  <a:lnTo>
                    <a:pt x="6700520" y="2584069"/>
                  </a:lnTo>
                  <a:cubicBezTo>
                    <a:pt x="6700520" y="2686050"/>
                    <a:pt x="6617843" y="2768600"/>
                    <a:pt x="6515989" y="2768600"/>
                  </a:cubicBezTo>
                  <a:lnTo>
                    <a:pt x="184531" y="2768600"/>
                  </a:lnTo>
                  <a:cubicBezTo>
                    <a:pt x="82677" y="2768600"/>
                    <a:pt x="0" y="2685923"/>
                    <a:pt x="0" y="2584069"/>
                  </a:cubicBezTo>
                  <a:close/>
                </a:path>
              </a:pathLst>
            </a:custGeom>
            <a:solidFill>
              <a:srgbClr val="FFFFFF"/>
            </a:solidFill>
            <a:ln w="19050" cap="sq">
              <a:solidFill>
                <a:srgbClr val="E3E6F0"/>
              </a:solidFill>
              <a:prstDash val="solid"/>
              <a:miter/>
            </a:ln>
          </p:spPr>
        </p:sp>
      </p:grpSp>
      <p:grpSp>
        <p:nvGrpSpPr>
          <p:cNvPr name="Group 16" id="16"/>
          <p:cNvGrpSpPr/>
          <p:nvPr/>
        </p:nvGrpSpPr>
        <p:grpSpPr>
          <a:xfrm rot="0">
            <a:off x="1165860" y="6926580"/>
            <a:ext cx="4389120" cy="754380"/>
            <a:chOff x="0" y="0"/>
            <a:chExt cx="5852160" cy="1005840"/>
          </a:xfrm>
        </p:grpSpPr>
        <p:sp>
          <p:nvSpPr>
            <p:cNvPr name="Freeform 17" id="17"/>
            <p:cNvSpPr/>
            <p:nvPr/>
          </p:nvSpPr>
          <p:spPr>
            <a:xfrm flipH="false" flipV="false" rot="0">
              <a:off x="0" y="0"/>
              <a:ext cx="5852160" cy="1005840"/>
            </a:xfrm>
            <a:custGeom>
              <a:avLst/>
              <a:gdLst/>
              <a:ahLst/>
              <a:cxnLst/>
              <a:rect r="r" b="b" t="t" l="l"/>
              <a:pathLst>
                <a:path h="1005840" w="5852160">
                  <a:moveTo>
                    <a:pt x="0" y="0"/>
                  </a:moveTo>
                  <a:lnTo>
                    <a:pt x="5852160" y="0"/>
                  </a:lnTo>
                  <a:lnTo>
                    <a:pt x="5852160" y="1005840"/>
                  </a:lnTo>
                  <a:lnTo>
                    <a:pt x="0" y="1005840"/>
                  </a:lnTo>
                  <a:close/>
                </a:path>
              </a:pathLst>
            </a:custGeom>
            <a:blipFill>
              <a:blip r:embed="rId2">
                <a:alphaModFix amt="0"/>
              </a:blip>
              <a:stretch>
                <a:fillRect l="0" t="-63367" r="0" b="-63367"/>
              </a:stretch>
            </a:blipFill>
          </p:spPr>
        </p:sp>
        <p:sp>
          <p:nvSpPr>
            <p:cNvPr name="TextBox 18" id="18"/>
            <p:cNvSpPr txBox="true"/>
            <p:nvPr/>
          </p:nvSpPr>
          <p:spPr>
            <a:xfrm>
              <a:off x="0" y="-9525"/>
              <a:ext cx="5852160" cy="1015365"/>
            </a:xfrm>
            <a:prstGeom prst="rect">
              <a:avLst/>
            </a:prstGeom>
          </p:spPr>
          <p:txBody>
            <a:bodyPr anchor="ctr" rtlCol="false" tIns="0" lIns="0" bIns="0" rIns="0"/>
            <a:lstStyle/>
            <a:p>
              <a:pPr algn="l">
                <a:lnSpc>
                  <a:spcPts val="3960"/>
                </a:lnSpc>
              </a:pPr>
              <a:r>
                <a:rPr lang="en-US" sz="3300" b="true">
                  <a:solidFill>
                    <a:srgbClr val="00D1B2"/>
                  </a:solidFill>
                  <a:latin typeface="Cambria Bold"/>
                  <a:ea typeface="Cambria Bold"/>
                  <a:cs typeface="Cambria Bold"/>
                  <a:sym typeface="Cambria Bold"/>
                </a:rPr>
                <a:t>4.500 × 78</a:t>
              </a:r>
            </a:p>
          </p:txBody>
        </p:sp>
      </p:grpSp>
      <p:grpSp>
        <p:nvGrpSpPr>
          <p:cNvPr name="Group 19" id="19"/>
          <p:cNvGrpSpPr/>
          <p:nvPr/>
        </p:nvGrpSpPr>
        <p:grpSpPr>
          <a:xfrm rot="0">
            <a:off x="1165860" y="7708392"/>
            <a:ext cx="4389120" cy="822960"/>
            <a:chOff x="0" y="0"/>
            <a:chExt cx="5852160" cy="1097280"/>
          </a:xfrm>
        </p:grpSpPr>
        <p:sp>
          <p:nvSpPr>
            <p:cNvPr name="Freeform 20" id="20"/>
            <p:cNvSpPr/>
            <p:nvPr/>
          </p:nvSpPr>
          <p:spPr>
            <a:xfrm flipH="false" flipV="false" rot="0">
              <a:off x="0" y="0"/>
              <a:ext cx="5852160" cy="1097280"/>
            </a:xfrm>
            <a:custGeom>
              <a:avLst/>
              <a:gdLst/>
              <a:ahLst/>
              <a:cxnLst/>
              <a:rect r="r" b="b" t="t" l="l"/>
              <a:pathLst>
                <a:path h="1097280" w="5852160">
                  <a:moveTo>
                    <a:pt x="0" y="0"/>
                  </a:moveTo>
                  <a:lnTo>
                    <a:pt x="5852160" y="0"/>
                  </a:lnTo>
                  <a:lnTo>
                    <a:pt x="5852160" y="1097280"/>
                  </a:lnTo>
                  <a:lnTo>
                    <a:pt x="0" y="1097280"/>
                  </a:lnTo>
                  <a:close/>
                </a:path>
              </a:pathLst>
            </a:custGeom>
            <a:blipFill>
              <a:blip r:embed="rId2">
                <a:alphaModFix amt="0"/>
              </a:blip>
              <a:stretch>
                <a:fillRect l="0" t="-53920" r="0" b="-53920"/>
              </a:stretch>
            </a:blipFill>
          </p:spPr>
        </p:sp>
        <p:sp>
          <p:nvSpPr>
            <p:cNvPr name="TextBox 21" id="21"/>
            <p:cNvSpPr txBox="true"/>
            <p:nvPr/>
          </p:nvSpPr>
          <p:spPr>
            <a:xfrm>
              <a:off x="0" y="-47625"/>
              <a:ext cx="5852160" cy="1144905"/>
            </a:xfrm>
            <a:prstGeom prst="rect">
              <a:avLst/>
            </a:prstGeom>
          </p:spPr>
          <p:txBody>
            <a:bodyPr anchor="ctr" rtlCol="false" tIns="0" lIns="0" bIns="0" rIns="0"/>
            <a:lstStyle/>
            <a:p>
              <a:pPr algn="l">
                <a:lnSpc>
                  <a:spcPts val="2173"/>
                </a:lnSpc>
              </a:pPr>
              <a:r>
                <a:rPr lang="en-US" sz="1575">
                  <a:solidFill>
                    <a:srgbClr val="6B7280"/>
                  </a:solidFill>
                  <a:latin typeface="Calibri (MS)"/>
                  <a:ea typeface="Calibri (MS)"/>
                  <a:cs typeface="Calibri (MS)"/>
                  <a:sym typeface="Calibri (MS)"/>
                </a:rPr>
                <a:t>muestra de ajuste balanceada por clase</a:t>
              </a:r>
            </a:p>
          </p:txBody>
        </p:sp>
      </p:grpSp>
      <p:grpSp>
        <p:nvGrpSpPr>
          <p:cNvPr name="Group 22" id="22"/>
          <p:cNvGrpSpPr/>
          <p:nvPr/>
        </p:nvGrpSpPr>
        <p:grpSpPr>
          <a:xfrm rot="0">
            <a:off x="6162675" y="6642735"/>
            <a:ext cx="5025390" cy="2076450"/>
            <a:chOff x="0" y="0"/>
            <a:chExt cx="6700520" cy="2768600"/>
          </a:xfrm>
        </p:grpSpPr>
        <p:sp>
          <p:nvSpPr>
            <p:cNvPr name="Freeform 23" id="23"/>
            <p:cNvSpPr/>
            <p:nvPr/>
          </p:nvSpPr>
          <p:spPr>
            <a:xfrm flipH="false" flipV="false" rot="0">
              <a:off x="0" y="0"/>
              <a:ext cx="6700520" cy="2768600"/>
            </a:xfrm>
            <a:custGeom>
              <a:avLst/>
              <a:gdLst/>
              <a:ahLst/>
              <a:cxnLst/>
              <a:rect r="r" b="b" t="t" l="l"/>
              <a:pathLst>
                <a:path h="2768600" w="6700520">
                  <a:moveTo>
                    <a:pt x="0" y="184531"/>
                  </a:moveTo>
                  <a:cubicBezTo>
                    <a:pt x="0" y="82677"/>
                    <a:pt x="82677" y="0"/>
                    <a:pt x="184531" y="0"/>
                  </a:cubicBezTo>
                  <a:lnTo>
                    <a:pt x="6515989" y="0"/>
                  </a:lnTo>
                  <a:cubicBezTo>
                    <a:pt x="6617970" y="0"/>
                    <a:pt x="6700520" y="82677"/>
                    <a:pt x="6700520" y="184531"/>
                  </a:cubicBezTo>
                  <a:lnTo>
                    <a:pt x="6700520" y="2584069"/>
                  </a:lnTo>
                  <a:cubicBezTo>
                    <a:pt x="6700520" y="2686050"/>
                    <a:pt x="6617843" y="2768600"/>
                    <a:pt x="6515989" y="2768600"/>
                  </a:cubicBezTo>
                  <a:lnTo>
                    <a:pt x="184531" y="2768600"/>
                  </a:lnTo>
                  <a:cubicBezTo>
                    <a:pt x="82677" y="2768600"/>
                    <a:pt x="0" y="2685923"/>
                    <a:pt x="0" y="2584069"/>
                  </a:cubicBezTo>
                  <a:close/>
                </a:path>
              </a:pathLst>
            </a:custGeom>
            <a:solidFill>
              <a:srgbClr val="FFFFFF"/>
            </a:solidFill>
            <a:ln w="19050" cap="sq">
              <a:solidFill>
                <a:srgbClr val="E3E6F0"/>
              </a:solidFill>
              <a:prstDash val="solid"/>
              <a:miter/>
            </a:ln>
          </p:spPr>
        </p:sp>
      </p:grpSp>
      <p:grpSp>
        <p:nvGrpSpPr>
          <p:cNvPr name="Group 24" id="24"/>
          <p:cNvGrpSpPr/>
          <p:nvPr/>
        </p:nvGrpSpPr>
        <p:grpSpPr>
          <a:xfrm rot="0">
            <a:off x="6515100" y="6926580"/>
            <a:ext cx="4389120" cy="754380"/>
            <a:chOff x="0" y="0"/>
            <a:chExt cx="5852160" cy="1005840"/>
          </a:xfrm>
        </p:grpSpPr>
        <p:sp>
          <p:nvSpPr>
            <p:cNvPr name="Freeform 25" id="25"/>
            <p:cNvSpPr/>
            <p:nvPr/>
          </p:nvSpPr>
          <p:spPr>
            <a:xfrm flipH="false" flipV="false" rot="0">
              <a:off x="0" y="0"/>
              <a:ext cx="5852160" cy="1005840"/>
            </a:xfrm>
            <a:custGeom>
              <a:avLst/>
              <a:gdLst/>
              <a:ahLst/>
              <a:cxnLst/>
              <a:rect r="r" b="b" t="t" l="l"/>
              <a:pathLst>
                <a:path h="1005840" w="5852160">
                  <a:moveTo>
                    <a:pt x="0" y="0"/>
                  </a:moveTo>
                  <a:lnTo>
                    <a:pt x="5852160" y="0"/>
                  </a:lnTo>
                  <a:lnTo>
                    <a:pt x="5852160" y="1005840"/>
                  </a:lnTo>
                  <a:lnTo>
                    <a:pt x="0" y="1005840"/>
                  </a:lnTo>
                  <a:close/>
                </a:path>
              </a:pathLst>
            </a:custGeom>
            <a:blipFill>
              <a:blip r:embed="rId2">
                <a:alphaModFix amt="0"/>
              </a:blip>
              <a:stretch>
                <a:fillRect l="0" t="-63367" r="0" b="-63367"/>
              </a:stretch>
            </a:blipFill>
          </p:spPr>
        </p:sp>
        <p:sp>
          <p:nvSpPr>
            <p:cNvPr name="TextBox 26" id="26"/>
            <p:cNvSpPr txBox="true"/>
            <p:nvPr/>
          </p:nvSpPr>
          <p:spPr>
            <a:xfrm>
              <a:off x="0" y="-9525"/>
              <a:ext cx="5852160" cy="1015365"/>
            </a:xfrm>
            <a:prstGeom prst="rect">
              <a:avLst/>
            </a:prstGeom>
          </p:spPr>
          <p:txBody>
            <a:bodyPr anchor="ctr" rtlCol="false" tIns="0" lIns="0" bIns="0" rIns="0"/>
            <a:lstStyle/>
            <a:p>
              <a:pPr algn="l">
                <a:lnSpc>
                  <a:spcPts val="3960"/>
                </a:lnSpc>
              </a:pPr>
              <a:r>
                <a:rPr lang="en-US" sz="3300" b="true">
                  <a:solidFill>
                    <a:srgbClr val="00D1B2"/>
                  </a:solidFill>
                  <a:latin typeface="Cambria Bold"/>
                  <a:ea typeface="Cambria Bold"/>
                  <a:cs typeface="Cambria Bold"/>
                  <a:sym typeface="Cambria Bold"/>
                </a:rPr>
                <a:t>85.4 s</a:t>
              </a:r>
            </a:p>
          </p:txBody>
        </p:sp>
      </p:grpSp>
      <p:grpSp>
        <p:nvGrpSpPr>
          <p:cNvPr name="Group 27" id="27"/>
          <p:cNvGrpSpPr/>
          <p:nvPr/>
        </p:nvGrpSpPr>
        <p:grpSpPr>
          <a:xfrm rot="0">
            <a:off x="6515100" y="7708392"/>
            <a:ext cx="4389120" cy="822960"/>
            <a:chOff x="0" y="0"/>
            <a:chExt cx="5852160" cy="1097280"/>
          </a:xfrm>
        </p:grpSpPr>
        <p:sp>
          <p:nvSpPr>
            <p:cNvPr name="Freeform 28" id="28"/>
            <p:cNvSpPr/>
            <p:nvPr/>
          </p:nvSpPr>
          <p:spPr>
            <a:xfrm flipH="false" flipV="false" rot="0">
              <a:off x="0" y="0"/>
              <a:ext cx="5852160" cy="1097280"/>
            </a:xfrm>
            <a:custGeom>
              <a:avLst/>
              <a:gdLst/>
              <a:ahLst/>
              <a:cxnLst/>
              <a:rect r="r" b="b" t="t" l="l"/>
              <a:pathLst>
                <a:path h="1097280" w="5852160">
                  <a:moveTo>
                    <a:pt x="0" y="0"/>
                  </a:moveTo>
                  <a:lnTo>
                    <a:pt x="5852160" y="0"/>
                  </a:lnTo>
                  <a:lnTo>
                    <a:pt x="5852160" y="1097280"/>
                  </a:lnTo>
                  <a:lnTo>
                    <a:pt x="0" y="1097280"/>
                  </a:lnTo>
                  <a:close/>
                </a:path>
              </a:pathLst>
            </a:custGeom>
            <a:blipFill>
              <a:blip r:embed="rId2">
                <a:alphaModFix amt="0"/>
              </a:blip>
              <a:stretch>
                <a:fillRect l="0" t="-53920" r="0" b="-53920"/>
              </a:stretch>
            </a:blipFill>
          </p:spPr>
        </p:sp>
        <p:sp>
          <p:nvSpPr>
            <p:cNvPr name="TextBox 29" id="29"/>
            <p:cNvSpPr txBox="true"/>
            <p:nvPr/>
          </p:nvSpPr>
          <p:spPr>
            <a:xfrm>
              <a:off x="0" y="-47625"/>
              <a:ext cx="5852160" cy="1144905"/>
            </a:xfrm>
            <a:prstGeom prst="rect">
              <a:avLst/>
            </a:prstGeom>
          </p:spPr>
          <p:txBody>
            <a:bodyPr anchor="ctr" rtlCol="false" tIns="0" lIns="0" bIns="0" rIns="0"/>
            <a:lstStyle/>
            <a:p>
              <a:pPr algn="l">
                <a:lnSpc>
                  <a:spcPts val="2173"/>
                </a:lnSpc>
              </a:pPr>
              <a:r>
                <a:rPr lang="en-US" sz="1575">
                  <a:solidFill>
                    <a:srgbClr val="6B7280"/>
                  </a:solidFill>
                  <a:latin typeface="Calibri (MS)"/>
                  <a:ea typeface="Calibri (MS)"/>
                  <a:cs typeface="Calibri (MS)"/>
                  <a:sym typeface="Calibri (MS)"/>
                </a:rPr>
                <a:t>tiempo de entrenamiento del TVAE</a:t>
              </a:r>
            </a:p>
          </p:txBody>
        </p:sp>
      </p:grpSp>
      <p:grpSp>
        <p:nvGrpSpPr>
          <p:cNvPr name="Group 30" id="30"/>
          <p:cNvGrpSpPr/>
          <p:nvPr/>
        </p:nvGrpSpPr>
        <p:grpSpPr>
          <a:xfrm rot="0">
            <a:off x="11511915" y="6642735"/>
            <a:ext cx="5025390" cy="2076450"/>
            <a:chOff x="0" y="0"/>
            <a:chExt cx="6700520" cy="2768600"/>
          </a:xfrm>
        </p:grpSpPr>
        <p:sp>
          <p:nvSpPr>
            <p:cNvPr name="Freeform 31" id="31"/>
            <p:cNvSpPr/>
            <p:nvPr/>
          </p:nvSpPr>
          <p:spPr>
            <a:xfrm flipH="false" flipV="false" rot="0">
              <a:off x="0" y="0"/>
              <a:ext cx="6700520" cy="2768600"/>
            </a:xfrm>
            <a:custGeom>
              <a:avLst/>
              <a:gdLst/>
              <a:ahLst/>
              <a:cxnLst/>
              <a:rect r="r" b="b" t="t" l="l"/>
              <a:pathLst>
                <a:path h="2768600" w="6700520">
                  <a:moveTo>
                    <a:pt x="0" y="184531"/>
                  </a:moveTo>
                  <a:cubicBezTo>
                    <a:pt x="0" y="82677"/>
                    <a:pt x="82677" y="0"/>
                    <a:pt x="184531" y="0"/>
                  </a:cubicBezTo>
                  <a:lnTo>
                    <a:pt x="6515989" y="0"/>
                  </a:lnTo>
                  <a:cubicBezTo>
                    <a:pt x="6617970" y="0"/>
                    <a:pt x="6700520" y="82677"/>
                    <a:pt x="6700520" y="184531"/>
                  </a:cubicBezTo>
                  <a:lnTo>
                    <a:pt x="6700520" y="2584069"/>
                  </a:lnTo>
                  <a:cubicBezTo>
                    <a:pt x="6700520" y="2686050"/>
                    <a:pt x="6617843" y="2768600"/>
                    <a:pt x="6515989" y="2768600"/>
                  </a:cubicBezTo>
                  <a:lnTo>
                    <a:pt x="184531" y="2768600"/>
                  </a:lnTo>
                  <a:cubicBezTo>
                    <a:pt x="82677" y="2768600"/>
                    <a:pt x="0" y="2685923"/>
                    <a:pt x="0" y="2584069"/>
                  </a:cubicBezTo>
                  <a:close/>
                </a:path>
              </a:pathLst>
            </a:custGeom>
            <a:solidFill>
              <a:srgbClr val="FFFFFF"/>
            </a:solidFill>
            <a:ln w="19050" cap="sq">
              <a:solidFill>
                <a:srgbClr val="E3E6F0"/>
              </a:solidFill>
              <a:prstDash val="solid"/>
              <a:miter/>
            </a:ln>
          </p:spPr>
        </p:sp>
      </p:grpSp>
      <p:grpSp>
        <p:nvGrpSpPr>
          <p:cNvPr name="Group 32" id="32"/>
          <p:cNvGrpSpPr/>
          <p:nvPr/>
        </p:nvGrpSpPr>
        <p:grpSpPr>
          <a:xfrm rot="0">
            <a:off x="11864340" y="6926580"/>
            <a:ext cx="4389120" cy="754380"/>
            <a:chOff x="0" y="0"/>
            <a:chExt cx="5852160" cy="1005840"/>
          </a:xfrm>
        </p:grpSpPr>
        <p:sp>
          <p:nvSpPr>
            <p:cNvPr name="Freeform 33" id="33"/>
            <p:cNvSpPr/>
            <p:nvPr/>
          </p:nvSpPr>
          <p:spPr>
            <a:xfrm flipH="false" flipV="false" rot="0">
              <a:off x="0" y="0"/>
              <a:ext cx="5852160" cy="1005840"/>
            </a:xfrm>
            <a:custGeom>
              <a:avLst/>
              <a:gdLst/>
              <a:ahLst/>
              <a:cxnLst/>
              <a:rect r="r" b="b" t="t" l="l"/>
              <a:pathLst>
                <a:path h="1005840" w="5852160">
                  <a:moveTo>
                    <a:pt x="0" y="0"/>
                  </a:moveTo>
                  <a:lnTo>
                    <a:pt x="5852160" y="0"/>
                  </a:lnTo>
                  <a:lnTo>
                    <a:pt x="5852160" y="1005840"/>
                  </a:lnTo>
                  <a:lnTo>
                    <a:pt x="0" y="1005840"/>
                  </a:lnTo>
                  <a:close/>
                </a:path>
              </a:pathLst>
            </a:custGeom>
            <a:blipFill>
              <a:blip r:embed="rId2">
                <a:alphaModFix amt="0"/>
              </a:blip>
              <a:stretch>
                <a:fillRect l="0" t="-63367" r="0" b="-63367"/>
              </a:stretch>
            </a:blipFill>
          </p:spPr>
        </p:sp>
        <p:sp>
          <p:nvSpPr>
            <p:cNvPr name="TextBox 34" id="34"/>
            <p:cNvSpPr txBox="true"/>
            <p:nvPr/>
          </p:nvSpPr>
          <p:spPr>
            <a:xfrm>
              <a:off x="0" y="-9525"/>
              <a:ext cx="5852160" cy="1015365"/>
            </a:xfrm>
            <a:prstGeom prst="rect">
              <a:avLst/>
            </a:prstGeom>
          </p:spPr>
          <p:txBody>
            <a:bodyPr anchor="ctr" rtlCol="false" tIns="0" lIns="0" bIns="0" rIns="0"/>
            <a:lstStyle/>
            <a:p>
              <a:pPr algn="l">
                <a:lnSpc>
                  <a:spcPts val="3960"/>
                </a:lnSpc>
              </a:pPr>
              <a:r>
                <a:rPr lang="en-US" sz="3300" b="true">
                  <a:solidFill>
                    <a:srgbClr val="00D1B2"/>
                  </a:solidFill>
                  <a:latin typeface="Cambria Bold"/>
                  <a:ea typeface="Cambria Bold"/>
                  <a:cs typeface="Cambria Bold"/>
                  <a:sym typeface="Cambria Bold"/>
                </a:rPr>
                <a:t>3.000</a:t>
              </a:r>
            </a:p>
          </p:txBody>
        </p:sp>
      </p:grpSp>
      <p:grpSp>
        <p:nvGrpSpPr>
          <p:cNvPr name="Group 35" id="35"/>
          <p:cNvGrpSpPr/>
          <p:nvPr/>
        </p:nvGrpSpPr>
        <p:grpSpPr>
          <a:xfrm rot="0">
            <a:off x="11864340" y="7708392"/>
            <a:ext cx="4389120" cy="822960"/>
            <a:chOff x="0" y="0"/>
            <a:chExt cx="5852160" cy="1097280"/>
          </a:xfrm>
        </p:grpSpPr>
        <p:sp>
          <p:nvSpPr>
            <p:cNvPr name="Freeform 36" id="36"/>
            <p:cNvSpPr/>
            <p:nvPr/>
          </p:nvSpPr>
          <p:spPr>
            <a:xfrm flipH="false" flipV="false" rot="0">
              <a:off x="0" y="0"/>
              <a:ext cx="5852160" cy="1097280"/>
            </a:xfrm>
            <a:custGeom>
              <a:avLst/>
              <a:gdLst/>
              <a:ahLst/>
              <a:cxnLst/>
              <a:rect r="r" b="b" t="t" l="l"/>
              <a:pathLst>
                <a:path h="1097280" w="5852160">
                  <a:moveTo>
                    <a:pt x="0" y="0"/>
                  </a:moveTo>
                  <a:lnTo>
                    <a:pt x="5852160" y="0"/>
                  </a:lnTo>
                  <a:lnTo>
                    <a:pt x="5852160" y="1097280"/>
                  </a:lnTo>
                  <a:lnTo>
                    <a:pt x="0" y="1097280"/>
                  </a:lnTo>
                  <a:close/>
                </a:path>
              </a:pathLst>
            </a:custGeom>
            <a:blipFill>
              <a:blip r:embed="rId2">
                <a:alphaModFix amt="0"/>
              </a:blip>
              <a:stretch>
                <a:fillRect l="0" t="-53920" r="0" b="-53920"/>
              </a:stretch>
            </a:blipFill>
          </p:spPr>
        </p:sp>
        <p:sp>
          <p:nvSpPr>
            <p:cNvPr name="TextBox 37" id="37"/>
            <p:cNvSpPr txBox="true"/>
            <p:nvPr/>
          </p:nvSpPr>
          <p:spPr>
            <a:xfrm>
              <a:off x="0" y="-47625"/>
              <a:ext cx="5852160" cy="1144905"/>
            </a:xfrm>
            <a:prstGeom prst="rect">
              <a:avLst/>
            </a:prstGeom>
          </p:spPr>
          <p:txBody>
            <a:bodyPr anchor="ctr" rtlCol="false" tIns="0" lIns="0" bIns="0" rIns="0"/>
            <a:lstStyle/>
            <a:p>
              <a:pPr algn="l">
                <a:lnSpc>
                  <a:spcPts val="2173"/>
                </a:lnSpc>
              </a:pPr>
              <a:r>
                <a:rPr lang="en-US" sz="1575">
                  <a:solidFill>
                    <a:srgbClr val="6B7280"/>
                  </a:solidFill>
                  <a:latin typeface="Calibri (MS)"/>
                  <a:ea typeface="Calibri (MS)"/>
                  <a:cs typeface="Calibri (MS)"/>
                  <a:sym typeface="Calibri (MS)"/>
                </a:rPr>
                <a:t>filas del pool sintético inicial</a:t>
              </a:r>
            </a:p>
          </p:txBody>
        </p:sp>
      </p:grpSp>
      <p:grpSp>
        <p:nvGrpSpPr>
          <p:cNvPr name="Group 38" id="38"/>
          <p:cNvGrpSpPr/>
          <p:nvPr/>
        </p:nvGrpSpPr>
        <p:grpSpPr>
          <a:xfrm rot="0">
            <a:off x="17053103" y="9601200"/>
            <a:ext cx="822960" cy="411480"/>
            <a:chOff x="0" y="0"/>
            <a:chExt cx="1097280" cy="548640"/>
          </a:xfrm>
        </p:grpSpPr>
        <p:sp>
          <p:nvSpPr>
            <p:cNvPr name="Freeform 39" id="39"/>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40" id="40"/>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15</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3 · 3.2 EVALUACIÓN DE FIDELIDAD</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¿Los datos sintéticos preservan la señal real?</a:t>
              </a:r>
            </a:p>
          </p:txBody>
        </p:sp>
      </p:grpSp>
      <p:grpSp>
        <p:nvGrpSpPr>
          <p:cNvPr name="Group 8" id="8"/>
          <p:cNvGrpSpPr/>
          <p:nvPr/>
        </p:nvGrpSpPr>
        <p:grpSpPr>
          <a:xfrm rot="0">
            <a:off x="822960" y="2468880"/>
            <a:ext cx="6720840" cy="5486400"/>
            <a:chOff x="0" y="0"/>
            <a:chExt cx="8961120" cy="7315200"/>
          </a:xfrm>
        </p:grpSpPr>
        <p:sp>
          <p:nvSpPr>
            <p:cNvPr name="Freeform 9" id="9" descr="/home/claude/imgs/cell51_0.png"/>
            <p:cNvSpPr/>
            <p:nvPr/>
          </p:nvSpPr>
          <p:spPr>
            <a:xfrm flipH="false" flipV="false" rot="0">
              <a:off x="0" y="0"/>
              <a:ext cx="8961120" cy="7315200"/>
            </a:xfrm>
            <a:custGeom>
              <a:avLst/>
              <a:gdLst/>
              <a:ahLst/>
              <a:cxnLst/>
              <a:rect r="r" b="b" t="t" l="l"/>
              <a:pathLst>
                <a:path h="7315200" w="8961120">
                  <a:moveTo>
                    <a:pt x="0" y="0"/>
                  </a:moveTo>
                  <a:lnTo>
                    <a:pt x="8961120" y="0"/>
                  </a:lnTo>
                  <a:lnTo>
                    <a:pt x="8961120" y="7315200"/>
                  </a:lnTo>
                  <a:lnTo>
                    <a:pt x="0" y="7315200"/>
                  </a:lnTo>
                  <a:lnTo>
                    <a:pt x="0" y="0"/>
                  </a:lnTo>
                  <a:close/>
                </a:path>
              </a:pathLst>
            </a:custGeom>
            <a:blipFill>
              <a:blip r:embed="rId3"/>
              <a:stretch>
                <a:fillRect l="0" t="-2335" r="0" b="-2335"/>
              </a:stretch>
            </a:blipFill>
          </p:spPr>
        </p:sp>
      </p:grpSp>
      <p:grpSp>
        <p:nvGrpSpPr>
          <p:cNvPr name="Group 10" id="10"/>
          <p:cNvGrpSpPr/>
          <p:nvPr/>
        </p:nvGrpSpPr>
        <p:grpSpPr>
          <a:xfrm rot="0">
            <a:off x="7877175" y="2527935"/>
            <a:ext cx="9483090" cy="1733550"/>
            <a:chOff x="0" y="0"/>
            <a:chExt cx="12644120" cy="2311400"/>
          </a:xfrm>
        </p:grpSpPr>
        <p:sp>
          <p:nvSpPr>
            <p:cNvPr name="Freeform 11" id="11"/>
            <p:cNvSpPr/>
            <p:nvPr/>
          </p:nvSpPr>
          <p:spPr>
            <a:xfrm flipH="false" flipV="false" rot="0">
              <a:off x="0" y="0"/>
              <a:ext cx="12644120" cy="2311400"/>
            </a:xfrm>
            <a:custGeom>
              <a:avLst/>
              <a:gdLst/>
              <a:ahLst/>
              <a:cxnLst/>
              <a:rect r="r" b="b" t="t" l="l"/>
              <a:pathLst>
                <a:path h="2311400" w="12644120">
                  <a:moveTo>
                    <a:pt x="0" y="147955"/>
                  </a:moveTo>
                  <a:cubicBezTo>
                    <a:pt x="0" y="66167"/>
                    <a:pt x="66167" y="0"/>
                    <a:pt x="147955" y="0"/>
                  </a:cubicBezTo>
                  <a:lnTo>
                    <a:pt x="12496165" y="0"/>
                  </a:lnTo>
                  <a:cubicBezTo>
                    <a:pt x="12577826" y="0"/>
                    <a:pt x="12644120" y="66167"/>
                    <a:pt x="12644120" y="147955"/>
                  </a:cubicBezTo>
                  <a:lnTo>
                    <a:pt x="12644120" y="2163445"/>
                  </a:lnTo>
                  <a:cubicBezTo>
                    <a:pt x="12644120" y="2245106"/>
                    <a:pt x="12577953" y="2311400"/>
                    <a:pt x="12496165" y="2311400"/>
                  </a:cubicBezTo>
                  <a:lnTo>
                    <a:pt x="147955" y="2311400"/>
                  </a:lnTo>
                  <a:cubicBezTo>
                    <a:pt x="66167" y="2311400"/>
                    <a:pt x="0" y="2245233"/>
                    <a:pt x="0" y="2163445"/>
                  </a:cubicBezTo>
                  <a:close/>
                </a:path>
              </a:pathLst>
            </a:custGeom>
            <a:solidFill>
              <a:srgbClr val="FFFFFF"/>
            </a:solidFill>
            <a:ln w="19050" cap="sq">
              <a:solidFill>
                <a:srgbClr val="E3E6F0"/>
              </a:solidFill>
              <a:prstDash val="solid"/>
              <a:miter/>
            </a:ln>
          </p:spPr>
        </p:sp>
      </p:grpSp>
      <p:grpSp>
        <p:nvGrpSpPr>
          <p:cNvPr name="Group 12" id="12"/>
          <p:cNvGrpSpPr/>
          <p:nvPr/>
        </p:nvGrpSpPr>
        <p:grpSpPr>
          <a:xfrm rot="0">
            <a:off x="8188452" y="2839212"/>
            <a:ext cx="521208" cy="521208"/>
            <a:chOff x="0" y="0"/>
            <a:chExt cx="694944" cy="694944"/>
          </a:xfrm>
        </p:grpSpPr>
        <p:sp>
          <p:nvSpPr>
            <p:cNvPr name="Freeform 13" id="13"/>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1B2340"/>
            </a:solidFill>
          </p:spPr>
        </p:sp>
      </p:grpSp>
      <p:grpSp>
        <p:nvGrpSpPr>
          <p:cNvPr name="Group 14" id="14"/>
          <p:cNvGrpSpPr/>
          <p:nvPr/>
        </p:nvGrpSpPr>
        <p:grpSpPr>
          <a:xfrm rot="0">
            <a:off x="8188452" y="2839212"/>
            <a:ext cx="521208" cy="521208"/>
            <a:chOff x="0" y="0"/>
            <a:chExt cx="694944" cy="694944"/>
          </a:xfrm>
        </p:grpSpPr>
        <p:sp>
          <p:nvSpPr>
            <p:cNvPr name="Freeform 15" id="15"/>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2">
                <a:alphaModFix amt="0"/>
              </a:blip>
              <a:stretch>
                <a:fillRect l="-78303" t="0" r="-78303" b="0"/>
              </a:stretch>
            </a:blipFill>
          </p:spPr>
        </p:sp>
        <p:sp>
          <p:nvSpPr>
            <p:cNvPr name="TextBox 16" id="16"/>
            <p:cNvSpPr txBox="true"/>
            <p:nvPr/>
          </p:nvSpPr>
          <p:spPr>
            <a:xfrm>
              <a:off x="0" y="-47625"/>
              <a:ext cx="694944" cy="742569"/>
            </a:xfrm>
            <a:prstGeom prst="rect">
              <a:avLst/>
            </a:prstGeom>
          </p:spPr>
          <p:txBody>
            <a:bodyPr anchor="ctr" rtlCol="false" tIns="0" lIns="0" bIns="0" rIns="0"/>
            <a:lstStyle/>
            <a:p>
              <a:pPr algn="ctr">
                <a:lnSpc>
                  <a:spcPts val="2520"/>
                </a:lnSpc>
              </a:pPr>
              <a:r>
                <a:rPr lang="en-US" sz="2100" b="true">
                  <a:solidFill>
                    <a:srgbClr val="00D1B2"/>
                  </a:solidFill>
                  <a:latin typeface="Calibri (MS) Bold"/>
                  <a:ea typeface="Calibri (MS) Bold"/>
                  <a:cs typeface="Calibri (MS) Bold"/>
                  <a:sym typeface="Calibri (MS) Bold"/>
                </a:rPr>
                <a:t>1</a:t>
              </a:r>
            </a:p>
          </p:txBody>
        </p:sp>
      </p:grpSp>
      <p:grpSp>
        <p:nvGrpSpPr>
          <p:cNvPr name="Group 17" id="17"/>
          <p:cNvGrpSpPr/>
          <p:nvPr/>
        </p:nvGrpSpPr>
        <p:grpSpPr>
          <a:xfrm rot="0">
            <a:off x="8956548" y="2743200"/>
            <a:ext cx="8092440" cy="548640"/>
            <a:chOff x="0" y="0"/>
            <a:chExt cx="10789920" cy="731520"/>
          </a:xfrm>
        </p:grpSpPr>
        <p:sp>
          <p:nvSpPr>
            <p:cNvPr name="Freeform 18" id="18"/>
            <p:cNvSpPr/>
            <p:nvPr/>
          </p:nvSpPr>
          <p:spPr>
            <a:xfrm flipH="false" flipV="false" rot="0">
              <a:off x="0" y="0"/>
              <a:ext cx="10789920" cy="731520"/>
            </a:xfrm>
            <a:custGeom>
              <a:avLst/>
              <a:gdLst/>
              <a:ahLst/>
              <a:cxnLst/>
              <a:rect r="r" b="b" t="t" l="l"/>
              <a:pathLst>
                <a:path h="731520" w="10789920">
                  <a:moveTo>
                    <a:pt x="0" y="0"/>
                  </a:moveTo>
                  <a:lnTo>
                    <a:pt x="10789920" y="0"/>
                  </a:lnTo>
                  <a:lnTo>
                    <a:pt x="10789920" y="731520"/>
                  </a:lnTo>
                  <a:lnTo>
                    <a:pt x="0" y="731520"/>
                  </a:lnTo>
                  <a:close/>
                </a:path>
              </a:pathLst>
            </a:custGeom>
            <a:blipFill>
              <a:blip r:embed="rId2">
                <a:alphaModFix amt="0"/>
              </a:blip>
              <a:stretch>
                <a:fillRect l="0" t="-237404" r="0" b="-237404"/>
              </a:stretch>
            </a:blipFill>
          </p:spPr>
        </p:sp>
        <p:sp>
          <p:nvSpPr>
            <p:cNvPr name="TextBox 19" id="19"/>
            <p:cNvSpPr txBox="true"/>
            <p:nvPr/>
          </p:nvSpPr>
          <p:spPr>
            <a:xfrm>
              <a:off x="0" y="-9525"/>
              <a:ext cx="10789920" cy="741045"/>
            </a:xfrm>
            <a:prstGeom prst="rect">
              <a:avLst/>
            </a:prstGeom>
          </p:spPr>
          <p:txBody>
            <a:bodyPr anchor="ctr" rtlCol="false" tIns="0" lIns="0" bIns="0" rIns="0"/>
            <a:lstStyle/>
            <a:p>
              <a:pPr algn="l">
                <a:lnSpc>
                  <a:spcPts val="2430"/>
                </a:lnSpc>
              </a:pPr>
              <a:r>
                <a:rPr lang="en-US" sz="2025" b="true">
                  <a:solidFill>
                    <a:srgbClr val="0E1220"/>
                  </a:solidFill>
                  <a:latin typeface="Cambria Bold"/>
                  <a:ea typeface="Cambria Bold"/>
                  <a:cs typeface="Cambria Bold"/>
                  <a:sym typeface="Cambria Bold"/>
                </a:rPr>
                <a:t>Métricas SDV</a:t>
              </a:r>
            </a:p>
          </p:txBody>
        </p:sp>
      </p:grpSp>
      <p:grpSp>
        <p:nvGrpSpPr>
          <p:cNvPr name="Group 20" id="20"/>
          <p:cNvGrpSpPr/>
          <p:nvPr/>
        </p:nvGrpSpPr>
        <p:grpSpPr>
          <a:xfrm rot="0">
            <a:off x="8956548" y="3291840"/>
            <a:ext cx="8092440" cy="822960"/>
            <a:chOff x="0" y="0"/>
            <a:chExt cx="10789920" cy="1097280"/>
          </a:xfrm>
        </p:grpSpPr>
        <p:sp>
          <p:nvSpPr>
            <p:cNvPr name="Freeform 21" id="21"/>
            <p:cNvSpPr/>
            <p:nvPr/>
          </p:nvSpPr>
          <p:spPr>
            <a:xfrm flipH="false" flipV="false" rot="0">
              <a:off x="0" y="0"/>
              <a:ext cx="10789920" cy="1097280"/>
            </a:xfrm>
            <a:custGeom>
              <a:avLst/>
              <a:gdLst/>
              <a:ahLst/>
              <a:cxnLst/>
              <a:rect r="r" b="b" t="t" l="l"/>
              <a:pathLst>
                <a:path h="1097280" w="10789920">
                  <a:moveTo>
                    <a:pt x="0" y="0"/>
                  </a:moveTo>
                  <a:lnTo>
                    <a:pt x="10789920" y="0"/>
                  </a:lnTo>
                  <a:lnTo>
                    <a:pt x="10789920" y="1097280"/>
                  </a:lnTo>
                  <a:lnTo>
                    <a:pt x="0" y="1097280"/>
                  </a:lnTo>
                  <a:close/>
                </a:path>
              </a:pathLst>
            </a:custGeom>
            <a:blipFill>
              <a:blip r:embed="rId2">
                <a:alphaModFix amt="0"/>
              </a:blip>
              <a:stretch>
                <a:fillRect l="0" t="-141602" r="0" b="-141602"/>
              </a:stretch>
            </a:blipFill>
          </p:spPr>
        </p:sp>
        <p:sp>
          <p:nvSpPr>
            <p:cNvPr name="TextBox 22" id="22"/>
            <p:cNvSpPr txBox="true"/>
            <p:nvPr/>
          </p:nvSpPr>
          <p:spPr>
            <a:xfrm>
              <a:off x="0" y="-66675"/>
              <a:ext cx="10789920" cy="1163955"/>
            </a:xfrm>
            <a:prstGeom prst="rect">
              <a:avLst/>
            </a:prstGeom>
          </p:spPr>
          <p:txBody>
            <a:bodyPr anchor="ctr" rtlCol="false" tIns="0" lIns="0" bIns="0" rIns="0"/>
            <a:lstStyle/>
            <a:p>
              <a:pPr algn="l">
                <a:lnSpc>
                  <a:spcPts val="2376"/>
                </a:lnSpc>
              </a:pPr>
              <a:r>
                <a:rPr lang="en-US" sz="1650">
                  <a:solidFill>
                    <a:srgbClr val="6B7280"/>
                  </a:solidFill>
                  <a:latin typeface="Calibri (MS)"/>
                  <a:ea typeface="Calibri (MS)"/>
                  <a:cs typeface="Calibri (MS)"/>
                  <a:sym typeface="Calibri (MS)"/>
                </a:rPr>
                <a:t>Score global de calidad: 0.810 / 1.0 (Column Shapes + Column Pair Trends)</a:t>
              </a:r>
            </a:p>
          </p:txBody>
        </p:sp>
      </p:grpSp>
      <p:grpSp>
        <p:nvGrpSpPr>
          <p:cNvPr name="Group 23" id="23"/>
          <p:cNvGrpSpPr/>
          <p:nvPr/>
        </p:nvGrpSpPr>
        <p:grpSpPr>
          <a:xfrm rot="0">
            <a:off x="7877175" y="4448175"/>
            <a:ext cx="9483090" cy="1733550"/>
            <a:chOff x="0" y="0"/>
            <a:chExt cx="12644120" cy="2311400"/>
          </a:xfrm>
        </p:grpSpPr>
        <p:sp>
          <p:nvSpPr>
            <p:cNvPr name="Freeform 24" id="24"/>
            <p:cNvSpPr/>
            <p:nvPr/>
          </p:nvSpPr>
          <p:spPr>
            <a:xfrm flipH="false" flipV="false" rot="0">
              <a:off x="0" y="0"/>
              <a:ext cx="12644120" cy="2311400"/>
            </a:xfrm>
            <a:custGeom>
              <a:avLst/>
              <a:gdLst/>
              <a:ahLst/>
              <a:cxnLst/>
              <a:rect r="r" b="b" t="t" l="l"/>
              <a:pathLst>
                <a:path h="2311400" w="12644120">
                  <a:moveTo>
                    <a:pt x="0" y="147955"/>
                  </a:moveTo>
                  <a:cubicBezTo>
                    <a:pt x="0" y="66167"/>
                    <a:pt x="66167" y="0"/>
                    <a:pt x="147955" y="0"/>
                  </a:cubicBezTo>
                  <a:lnTo>
                    <a:pt x="12496165" y="0"/>
                  </a:lnTo>
                  <a:cubicBezTo>
                    <a:pt x="12577826" y="0"/>
                    <a:pt x="12644120" y="66167"/>
                    <a:pt x="12644120" y="147955"/>
                  </a:cubicBezTo>
                  <a:lnTo>
                    <a:pt x="12644120" y="2163445"/>
                  </a:lnTo>
                  <a:cubicBezTo>
                    <a:pt x="12644120" y="2245106"/>
                    <a:pt x="12577953" y="2311400"/>
                    <a:pt x="12496165" y="2311400"/>
                  </a:cubicBezTo>
                  <a:lnTo>
                    <a:pt x="147955" y="2311400"/>
                  </a:lnTo>
                  <a:cubicBezTo>
                    <a:pt x="66167" y="2311400"/>
                    <a:pt x="0" y="2245233"/>
                    <a:pt x="0" y="2163445"/>
                  </a:cubicBezTo>
                  <a:close/>
                </a:path>
              </a:pathLst>
            </a:custGeom>
            <a:solidFill>
              <a:srgbClr val="FFFFFF"/>
            </a:solidFill>
            <a:ln w="19050" cap="sq">
              <a:solidFill>
                <a:srgbClr val="E3E6F0"/>
              </a:solidFill>
              <a:prstDash val="solid"/>
              <a:miter/>
            </a:ln>
          </p:spPr>
        </p:sp>
      </p:grpSp>
      <p:grpSp>
        <p:nvGrpSpPr>
          <p:cNvPr name="Group 25" id="25"/>
          <p:cNvGrpSpPr/>
          <p:nvPr/>
        </p:nvGrpSpPr>
        <p:grpSpPr>
          <a:xfrm rot="0">
            <a:off x="8188452" y="4759452"/>
            <a:ext cx="521208" cy="521208"/>
            <a:chOff x="0" y="0"/>
            <a:chExt cx="694944" cy="694944"/>
          </a:xfrm>
        </p:grpSpPr>
        <p:sp>
          <p:nvSpPr>
            <p:cNvPr name="Freeform 26" id="26"/>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1B2340"/>
            </a:solidFill>
          </p:spPr>
        </p:sp>
      </p:grpSp>
      <p:grpSp>
        <p:nvGrpSpPr>
          <p:cNvPr name="Group 27" id="27"/>
          <p:cNvGrpSpPr/>
          <p:nvPr/>
        </p:nvGrpSpPr>
        <p:grpSpPr>
          <a:xfrm rot="0">
            <a:off x="8188452" y="4759452"/>
            <a:ext cx="521208" cy="521208"/>
            <a:chOff x="0" y="0"/>
            <a:chExt cx="694944" cy="694944"/>
          </a:xfrm>
        </p:grpSpPr>
        <p:sp>
          <p:nvSpPr>
            <p:cNvPr name="Freeform 28" id="28"/>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2">
                <a:alphaModFix amt="0"/>
              </a:blip>
              <a:stretch>
                <a:fillRect l="-78303" t="0" r="-78303" b="0"/>
              </a:stretch>
            </a:blipFill>
          </p:spPr>
        </p:sp>
        <p:sp>
          <p:nvSpPr>
            <p:cNvPr name="TextBox 29" id="29"/>
            <p:cNvSpPr txBox="true"/>
            <p:nvPr/>
          </p:nvSpPr>
          <p:spPr>
            <a:xfrm>
              <a:off x="0" y="-47625"/>
              <a:ext cx="694944" cy="742569"/>
            </a:xfrm>
            <a:prstGeom prst="rect">
              <a:avLst/>
            </a:prstGeom>
          </p:spPr>
          <p:txBody>
            <a:bodyPr anchor="ctr" rtlCol="false" tIns="0" lIns="0" bIns="0" rIns="0"/>
            <a:lstStyle/>
            <a:p>
              <a:pPr algn="ctr">
                <a:lnSpc>
                  <a:spcPts val="2520"/>
                </a:lnSpc>
              </a:pPr>
              <a:r>
                <a:rPr lang="en-US" sz="2100" b="true">
                  <a:solidFill>
                    <a:srgbClr val="2F5DFF"/>
                  </a:solidFill>
                  <a:latin typeface="Calibri (MS) Bold"/>
                  <a:ea typeface="Calibri (MS) Bold"/>
                  <a:cs typeface="Calibri (MS) Bold"/>
                  <a:sym typeface="Calibri (MS) Bold"/>
                </a:rPr>
                <a:t>2</a:t>
              </a:r>
            </a:p>
          </p:txBody>
        </p:sp>
      </p:grpSp>
      <p:grpSp>
        <p:nvGrpSpPr>
          <p:cNvPr name="Group 30" id="30"/>
          <p:cNvGrpSpPr/>
          <p:nvPr/>
        </p:nvGrpSpPr>
        <p:grpSpPr>
          <a:xfrm rot="0">
            <a:off x="8956548" y="4663440"/>
            <a:ext cx="8092440" cy="548640"/>
            <a:chOff x="0" y="0"/>
            <a:chExt cx="10789920" cy="731520"/>
          </a:xfrm>
        </p:grpSpPr>
        <p:sp>
          <p:nvSpPr>
            <p:cNvPr name="Freeform 31" id="31"/>
            <p:cNvSpPr/>
            <p:nvPr/>
          </p:nvSpPr>
          <p:spPr>
            <a:xfrm flipH="false" flipV="false" rot="0">
              <a:off x="0" y="0"/>
              <a:ext cx="10789920" cy="731520"/>
            </a:xfrm>
            <a:custGeom>
              <a:avLst/>
              <a:gdLst/>
              <a:ahLst/>
              <a:cxnLst/>
              <a:rect r="r" b="b" t="t" l="l"/>
              <a:pathLst>
                <a:path h="731520" w="10789920">
                  <a:moveTo>
                    <a:pt x="0" y="0"/>
                  </a:moveTo>
                  <a:lnTo>
                    <a:pt x="10789920" y="0"/>
                  </a:lnTo>
                  <a:lnTo>
                    <a:pt x="10789920" y="731520"/>
                  </a:lnTo>
                  <a:lnTo>
                    <a:pt x="0" y="731520"/>
                  </a:lnTo>
                  <a:close/>
                </a:path>
              </a:pathLst>
            </a:custGeom>
            <a:blipFill>
              <a:blip r:embed="rId2">
                <a:alphaModFix amt="0"/>
              </a:blip>
              <a:stretch>
                <a:fillRect l="0" t="-237404" r="0" b="-237404"/>
              </a:stretch>
            </a:blipFill>
          </p:spPr>
        </p:sp>
        <p:sp>
          <p:nvSpPr>
            <p:cNvPr name="TextBox 32" id="32"/>
            <p:cNvSpPr txBox="true"/>
            <p:nvPr/>
          </p:nvSpPr>
          <p:spPr>
            <a:xfrm>
              <a:off x="0" y="-9525"/>
              <a:ext cx="10789920" cy="741045"/>
            </a:xfrm>
            <a:prstGeom prst="rect">
              <a:avLst/>
            </a:prstGeom>
          </p:spPr>
          <p:txBody>
            <a:bodyPr anchor="ctr" rtlCol="false" tIns="0" lIns="0" bIns="0" rIns="0"/>
            <a:lstStyle/>
            <a:p>
              <a:pPr algn="l">
                <a:lnSpc>
                  <a:spcPts val="2430"/>
                </a:lnSpc>
              </a:pPr>
              <a:r>
                <a:rPr lang="en-US" sz="2025" b="true">
                  <a:solidFill>
                    <a:srgbClr val="0E1220"/>
                  </a:solidFill>
                  <a:latin typeface="Cambria Bold"/>
                  <a:ea typeface="Cambria Bold"/>
                  <a:cs typeface="Cambria Bold"/>
                  <a:sym typeface="Cambria Bold"/>
                </a:rPr>
                <a:t>Comparación visual</a:t>
              </a:r>
            </a:p>
          </p:txBody>
        </p:sp>
      </p:grpSp>
      <p:grpSp>
        <p:nvGrpSpPr>
          <p:cNvPr name="Group 33" id="33"/>
          <p:cNvGrpSpPr/>
          <p:nvPr/>
        </p:nvGrpSpPr>
        <p:grpSpPr>
          <a:xfrm rot="0">
            <a:off x="8956548" y="5212080"/>
            <a:ext cx="8092440" cy="822960"/>
            <a:chOff x="0" y="0"/>
            <a:chExt cx="10789920" cy="1097280"/>
          </a:xfrm>
        </p:grpSpPr>
        <p:sp>
          <p:nvSpPr>
            <p:cNvPr name="Freeform 34" id="34"/>
            <p:cNvSpPr/>
            <p:nvPr/>
          </p:nvSpPr>
          <p:spPr>
            <a:xfrm flipH="false" flipV="false" rot="0">
              <a:off x="0" y="0"/>
              <a:ext cx="10789920" cy="1097280"/>
            </a:xfrm>
            <a:custGeom>
              <a:avLst/>
              <a:gdLst/>
              <a:ahLst/>
              <a:cxnLst/>
              <a:rect r="r" b="b" t="t" l="l"/>
              <a:pathLst>
                <a:path h="1097280" w="10789920">
                  <a:moveTo>
                    <a:pt x="0" y="0"/>
                  </a:moveTo>
                  <a:lnTo>
                    <a:pt x="10789920" y="0"/>
                  </a:lnTo>
                  <a:lnTo>
                    <a:pt x="10789920" y="1097280"/>
                  </a:lnTo>
                  <a:lnTo>
                    <a:pt x="0" y="1097280"/>
                  </a:lnTo>
                  <a:close/>
                </a:path>
              </a:pathLst>
            </a:custGeom>
            <a:blipFill>
              <a:blip r:embed="rId2">
                <a:alphaModFix amt="0"/>
              </a:blip>
              <a:stretch>
                <a:fillRect l="0" t="-141602" r="0" b="-141602"/>
              </a:stretch>
            </a:blipFill>
          </p:spPr>
        </p:sp>
        <p:sp>
          <p:nvSpPr>
            <p:cNvPr name="TextBox 35" id="35"/>
            <p:cNvSpPr txBox="true"/>
            <p:nvPr/>
          </p:nvSpPr>
          <p:spPr>
            <a:xfrm>
              <a:off x="0" y="-66675"/>
              <a:ext cx="10789920" cy="1163955"/>
            </a:xfrm>
            <a:prstGeom prst="rect">
              <a:avLst/>
            </a:prstGeom>
          </p:spPr>
          <p:txBody>
            <a:bodyPr anchor="ctr" rtlCol="false" tIns="0" lIns="0" bIns="0" rIns="0"/>
            <a:lstStyle/>
            <a:p>
              <a:pPr algn="l">
                <a:lnSpc>
                  <a:spcPts val="2376"/>
                </a:lnSpc>
              </a:pPr>
              <a:r>
                <a:rPr lang="en-US" sz="1650">
                  <a:solidFill>
                    <a:srgbClr val="6B7280"/>
                  </a:solidFill>
                  <a:latin typeface="Calibri (MS)"/>
                  <a:ea typeface="Calibri (MS)"/>
                  <a:cs typeface="Calibri (MS)"/>
                  <a:sym typeface="Calibri (MS)"/>
                </a:rPr>
                <a:t>Distribuciones marginales y matriz de diferencia de correlación (izquierda): diferencia media absoluta de 0.106</a:t>
              </a:r>
            </a:p>
          </p:txBody>
        </p:sp>
      </p:grpSp>
      <p:grpSp>
        <p:nvGrpSpPr>
          <p:cNvPr name="Group 36" id="36"/>
          <p:cNvGrpSpPr/>
          <p:nvPr/>
        </p:nvGrpSpPr>
        <p:grpSpPr>
          <a:xfrm rot="0">
            <a:off x="7877175" y="6368415"/>
            <a:ext cx="9483090" cy="1733550"/>
            <a:chOff x="0" y="0"/>
            <a:chExt cx="12644120" cy="2311400"/>
          </a:xfrm>
        </p:grpSpPr>
        <p:sp>
          <p:nvSpPr>
            <p:cNvPr name="Freeform 37" id="37"/>
            <p:cNvSpPr/>
            <p:nvPr/>
          </p:nvSpPr>
          <p:spPr>
            <a:xfrm flipH="false" flipV="false" rot="0">
              <a:off x="0" y="0"/>
              <a:ext cx="12644120" cy="2311400"/>
            </a:xfrm>
            <a:custGeom>
              <a:avLst/>
              <a:gdLst/>
              <a:ahLst/>
              <a:cxnLst/>
              <a:rect r="r" b="b" t="t" l="l"/>
              <a:pathLst>
                <a:path h="2311400" w="12644120">
                  <a:moveTo>
                    <a:pt x="0" y="147955"/>
                  </a:moveTo>
                  <a:cubicBezTo>
                    <a:pt x="0" y="66167"/>
                    <a:pt x="66167" y="0"/>
                    <a:pt x="147955" y="0"/>
                  </a:cubicBezTo>
                  <a:lnTo>
                    <a:pt x="12496165" y="0"/>
                  </a:lnTo>
                  <a:cubicBezTo>
                    <a:pt x="12577826" y="0"/>
                    <a:pt x="12644120" y="66167"/>
                    <a:pt x="12644120" y="147955"/>
                  </a:cubicBezTo>
                  <a:lnTo>
                    <a:pt x="12644120" y="2163445"/>
                  </a:lnTo>
                  <a:cubicBezTo>
                    <a:pt x="12644120" y="2245106"/>
                    <a:pt x="12577953" y="2311400"/>
                    <a:pt x="12496165" y="2311400"/>
                  </a:cubicBezTo>
                  <a:lnTo>
                    <a:pt x="147955" y="2311400"/>
                  </a:lnTo>
                  <a:cubicBezTo>
                    <a:pt x="66167" y="2311400"/>
                    <a:pt x="0" y="2245233"/>
                    <a:pt x="0" y="2163445"/>
                  </a:cubicBezTo>
                  <a:close/>
                </a:path>
              </a:pathLst>
            </a:custGeom>
            <a:solidFill>
              <a:srgbClr val="FFFFFF"/>
            </a:solidFill>
            <a:ln w="19050" cap="sq">
              <a:solidFill>
                <a:srgbClr val="E3E6F0"/>
              </a:solidFill>
              <a:prstDash val="solid"/>
              <a:miter/>
            </a:ln>
          </p:spPr>
        </p:sp>
      </p:grpSp>
      <p:grpSp>
        <p:nvGrpSpPr>
          <p:cNvPr name="Group 38" id="38"/>
          <p:cNvGrpSpPr/>
          <p:nvPr/>
        </p:nvGrpSpPr>
        <p:grpSpPr>
          <a:xfrm rot="0">
            <a:off x="8188452" y="6679692"/>
            <a:ext cx="521208" cy="521208"/>
            <a:chOff x="0" y="0"/>
            <a:chExt cx="694944" cy="694944"/>
          </a:xfrm>
        </p:grpSpPr>
        <p:sp>
          <p:nvSpPr>
            <p:cNvPr name="Freeform 39" id="39"/>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1B2340"/>
            </a:solidFill>
          </p:spPr>
        </p:sp>
      </p:grpSp>
      <p:grpSp>
        <p:nvGrpSpPr>
          <p:cNvPr name="Group 40" id="40"/>
          <p:cNvGrpSpPr/>
          <p:nvPr/>
        </p:nvGrpSpPr>
        <p:grpSpPr>
          <a:xfrm rot="0">
            <a:off x="8188452" y="6679692"/>
            <a:ext cx="521208" cy="521208"/>
            <a:chOff x="0" y="0"/>
            <a:chExt cx="694944" cy="694944"/>
          </a:xfrm>
        </p:grpSpPr>
        <p:sp>
          <p:nvSpPr>
            <p:cNvPr name="Freeform 41" id="41"/>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2">
                <a:alphaModFix amt="0"/>
              </a:blip>
              <a:stretch>
                <a:fillRect l="-78303" t="0" r="-78303" b="0"/>
              </a:stretch>
            </a:blipFill>
          </p:spPr>
        </p:sp>
        <p:sp>
          <p:nvSpPr>
            <p:cNvPr name="TextBox 42" id="42"/>
            <p:cNvSpPr txBox="true"/>
            <p:nvPr/>
          </p:nvSpPr>
          <p:spPr>
            <a:xfrm>
              <a:off x="0" y="-47625"/>
              <a:ext cx="694944" cy="742569"/>
            </a:xfrm>
            <a:prstGeom prst="rect">
              <a:avLst/>
            </a:prstGeom>
          </p:spPr>
          <p:txBody>
            <a:bodyPr anchor="ctr" rtlCol="false" tIns="0" lIns="0" bIns="0" rIns="0"/>
            <a:lstStyle/>
            <a:p>
              <a:pPr algn="ctr">
                <a:lnSpc>
                  <a:spcPts val="2520"/>
                </a:lnSpc>
              </a:pPr>
              <a:r>
                <a:rPr lang="en-US" sz="2100" b="true">
                  <a:solidFill>
                    <a:srgbClr val="FF5C5C"/>
                  </a:solidFill>
                  <a:latin typeface="Calibri (MS) Bold"/>
                  <a:ea typeface="Calibri (MS) Bold"/>
                  <a:cs typeface="Calibri (MS) Bold"/>
                  <a:sym typeface="Calibri (MS) Bold"/>
                </a:rPr>
                <a:t>3</a:t>
              </a:r>
            </a:p>
          </p:txBody>
        </p:sp>
      </p:grpSp>
      <p:grpSp>
        <p:nvGrpSpPr>
          <p:cNvPr name="Group 43" id="43"/>
          <p:cNvGrpSpPr/>
          <p:nvPr/>
        </p:nvGrpSpPr>
        <p:grpSpPr>
          <a:xfrm rot="0">
            <a:off x="8956548" y="6583680"/>
            <a:ext cx="8092440" cy="548640"/>
            <a:chOff x="0" y="0"/>
            <a:chExt cx="10789920" cy="731520"/>
          </a:xfrm>
        </p:grpSpPr>
        <p:sp>
          <p:nvSpPr>
            <p:cNvPr name="Freeform 44" id="44"/>
            <p:cNvSpPr/>
            <p:nvPr/>
          </p:nvSpPr>
          <p:spPr>
            <a:xfrm flipH="false" flipV="false" rot="0">
              <a:off x="0" y="0"/>
              <a:ext cx="10789920" cy="731520"/>
            </a:xfrm>
            <a:custGeom>
              <a:avLst/>
              <a:gdLst/>
              <a:ahLst/>
              <a:cxnLst/>
              <a:rect r="r" b="b" t="t" l="l"/>
              <a:pathLst>
                <a:path h="731520" w="10789920">
                  <a:moveTo>
                    <a:pt x="0" y="0"/>
                  </a:moveTo>
                  <a:lnTo>
                    <a:pt x="10789920" y="0"/>
                  </a:lnTo>
                  <a:lnTo>
                    <a:pt x="10789920" y="731520"/>
                  </a:lnTo>
                  <a:lnTo>
                    <a:pt x="0" y="731520"/>
                  </a:lnTo>
                  <a:close/>
                </a:path>
              </a:pathLst>
            </a:custGeom>
            <a:blipFill>
              <a:blip r:embed="rId2">
                <a:alphaModFix amt="0"/>
              </a:blip>
              <a:stretch>
                <a:fillRect l="0" t="-237404" r="0" b="-237404"/>
              </a:stretch>
            </a:blipFill>
          </p:spPr>
        </p:sp>
        <p:sp>
          <p:nvSpPr>
            <p:cNvPr name="TextBox 45" id="45"/>
            <p:cNvSpPr txBox="true"/>
            <p:nvPr/>
          </p:nvSpPr>
          <p:spPr>
            <a:xfrm>
              <a:off x="0" y="-9525"/>
              <a:ext cx="10789920" cy="741045"/>
            </a:xfrm>
            <a:prstGeom prst="rect">
              <a:avLst/>
            </a:prstGeom>
          </p:spPr>
          <p:txBody>
            <a:bodyPr anchor="ctr" rtlCol="false" tIns="0" lIns="0" bIns="0" rIns="0"/>
            <a:lstStyle/>
            <a:p>
              <a:pPr algn="l">
                <a:lnSpc>
                  <a:spcPts val="2430"/>
                </a:lnSpc>
              </a:pPr>
              <a:r>
                <a:rPr lang="en-US" sz="2025" b="true">
                  <a:solidFill>
                    <a:srgbClr val="0E1220"/>
                  </a:solidFill>
                  <a:latin typeface="Cambria Bold"/>
                  <a:ea typeface="Cambria Bold"/>
                  <a:cs typeface="Cambria Bold"/>
                  <a:sym typeface="Cambria Bold"/>
                </a:rPr>
                <a:t>TSTR (Train on Synthetic, Test on Real)</a:t>
              </a:r>
            </a:p>
          </p:txBody>
        </p:sp>
      </p:grpSp>
      <p:grpSp>
        <p:nvGrpSpPr>
          <p:cNvPr name="Group 46" id="46"/>
          <p:cNvGrpSpPr/>
          <p:nvPr/>
        </p:nvGrpSpPr>
        <p:grpSpPr>
          <a:xfrm rot="0">
            <a:off x="8956548" y="7132320"/>
            <a:ext cx="8092440" cy="822960"/>
            <a:chOff x="0" y="0"/>
            <a:chExt cx="10789920" cy="1097280"/>
          </a:xfrm>
        </p:grpSpPr>
        <p:sp>
          <p:nvSpPr>
            <p:cNvPr name="Freeform 47" id="47"/>
            <p:cNvSpPr/>
            <p:nvPr/>
          </p:nvSpPr>
          <p:spPr>
            <a:xfrm flipH="false" flipV="false" rot="0">
              <a:off x="0" y="0"/>
              <a:ext cx="10789920" cy="1097280"/>
            </a:xfrm>
            <a:custGeom>
              <a:avLst/>
              <a:gdLst/>
              <a:ahLst/>
              <a:cxnLst/>
              <a:rect r="r" b="b" t="t" l="l"/>
              <a:pathLst>
                <a:path h="1097280" w="10789920">
                  <a:moveTo>
                    <a:pt x="0" y="0"/>
                  </a:moveTo>
                  <a:lnTo>
                    <a:pt x="10789920" y="0"/>
                  </a:lnTo>
                  <a:lnTo>
                    <a:pt x="10789920" y="1097280"/>
                  </a:lnTo>
                  <a:lnTo>
                    <a:pt x="0" y="1097280"/>
                  </a:lnTo>
                  <a:close/>
                </a:path>
              </a:pathLst>
            </a:custGeom>
            <a:blipFill>
              <a:blip r:embed="rId2">
                <a:alphaModFix amt="0"/>
              </a:blip>
              <a:stretch>
                <a:fillRect l="0" t="-141602" r="0" b="-141602"/>
              </a:stretch>
            </a:blipFill>
          </p:spPr>
        </p:sp>
        <p:sp>
          <p:nvSpPr>
            <p:cNvPr name="TextBox 48" id="48"/>
            <p:cNvSpPr txBox="true"/>
            <p:nvPr/>
          </p:nvSpPr>
          <p:spPr>
            <a:xfrm>
              <a:off x="0" y="-66675"/>
              <a:ext cx="10789920" cy="1163955"/>
            </a:xfrm>
            <a:prstGeom prst="rect">
              <a:avLst/>
            </a:prstGeom>
          </p:spPr>
          <p:txBody>
            <a:bodyPr anchor="ctr" rtlCol="false" tIns="0" lIns="0" bIns="0" rIns="0"/>
            <a:lstStyle/>
            <a:p>
              <a:pPr algn="l">
                <a:lnSpc>
                  <a:spcPts val="2376"/>
                </a:lnSpc>
              </a:pPr>
              <a:r>
                <a:rPr lang="en-US" sz="1650">
                  <a:solidFill>
                    <a:srgbClr val="6B7280"/>
                  </a:solidFill>
                  <a:latin typeface="Calibri (MS)"/>
                  <a:ea typeface="Calibri (MS)"/>
                  <a:cs typeface="Calibri (MS)"/>
                  <a:sym typeface="Calibri (MS)"/>
                </a:rPr>
                <a:t>macro-F1 entrenando solo con sintéticos: 0.368  vs.  0.713 entrenando con datos reales</a:t>
              </a:r>
            </a:p>
          </p:txBody>
        </p:sp>
      </p:grpSp>
      <p:grpSp>
        <p:nvGrpSpPr>
          <p:cNvPr name="Group 49" id="49"/>
          <p:cNvGrpSpPr/>
          <p:nvPr/>
        </p:nvGrpSpPr>
        <p:grpSpPr>
          <a:xfrm rot="0">
            <a:off x="822960" y="8161020"/>
            <a:ext cx="16596360" cy="822960"/>
            <a:chOff x="0" y="0"/>
            <a:chExt cx="22128480" cy="1097280"/>
          </a:xfrm>
        </p:grpSpPr>
        <p:sp>
          <p:nvSpPr>
            <p:cNvPr name="Freeform 50" id="50"/>
            <p:cNvSpPr/>
            <p:nvPr/>
          </p:nvSpPr>
          <p:spPr>
            <a:xfrm flipH="false" flipV="false" rot="0">
              <a:off x="0" y="0"/>
              <a:ext cx="22128480" cy="1097280"/>
            </a:xfrm>
            <a:custGeom>
              <a:avLst/>
              <a:gdLst/>
              <a:ahLst/>
              <a:cxnLst/>
              <a:rect r="r" b="b" t="t" l="l"/>
              <a:pathLst>
                <a:path h="1097280" w="22128480">
                  <a:moveTo>
                    <a:pt x="0" y="0"/>
                  </a:moveTo>
                  <a:lnTo>
                    <a:pt x="22128480" y="0"/>
                  </a:lnTo>
                  <a:lnTo>
                    <a:pt x="22128480" y="1097280"/>
                  </a:lnTo>
                  <a:lnTo>
                    <a:pt x="0" y="1097280"/>
                  </a:lnTo>
                  <a:close/>
                </a:path>
              </a:pathLst>
            </a:custGeom>
            <a:blipFill>
              <a:blip r:embed="rId2">
                <a:alphaModFix amt="0"/>
              </a:blip>
              <a:stretch>
                <a:fillRect l="0" t="-342948" r="0" b="-342948"/>
              </a:stretch>
            </a:blipFill>
          </p:spPr>
        </p:sp>
        <p:sp>
          <p:nvSpPr>
            <p:cNvPr name="TextBox 51" id="51"/>
            <p:cNvSpPr txBox="true"/>
            <p:nvPr/>
          </p:nvSpPr>
          <p:spPr>
            <a:xfrm>
              <a:off x="0" y="-38100"/>
              <a:ext cx="22128480" cy="1135380"/>
            </a:xfrm>
            <a:prstGeom prst="rect">
              <a:avLst/>
            </a:prstGeom>
          </p:spPr>
          <p:txBody>
            <a:bodyPr anchor="ctr" rtlCol="false" tIns="0" lIns="0" bIns="0" rIns="0"/>
            <a:lstStyle/>
            <a:p>
              <a:pPr algn="l">
                <a:lnSpc>
                  <a:spcPts val="2070"/>
                </a:lnSpc>
              </a:pPr>
              <a:r>
                <a:rPr lang="en-US" sz="1725" i="true">
                  <a:solidFill>
                    <a:srgbClr val="6B7280"/>
                  </a:solidFill>
                  <a:latin typeface="Calibri (MS) Italics"/>
                  <a:ea typeface="Calibri (MS) Italics"/>
                  <a:cs typeface="Calibri (MS) Italics"/>
                  <a:sym typeface="Calibri (MS) Italics"/>
                </a:rPr>
                <a:t>Lectura conjunta: la fidelidad estadística global es razonable (0.81), pero el gap TSTR (0.368 vs. 0.713) muestra que los datos sintéticos por sí solos no reemplazan a los reales son un complemento para reforzar clases minoritarias, no un sustituto del dataset real.</a:t>
              </a:r>
            </a:p>
          </p:txBody>
        </p:sp>
      </p:grpSp>
      <p:grpSp>
        <p:nvGrpSpPr>
          <p:cNvPr name="Group 52" id="52"/>
          <p:cNvGrpSpPr/>
          <p:nvPr/>
        </p:nvGrpSpPr>
        <p:grpSpPr>
          <a:xfrm rot="0">
            <a:off x="17053103" y="9601200"/>
            <a:ext cx="822960" cy="411480"/>
            <a:chOff x="0" y="0"/>
            <a:chExt cx="1097280" cy="548640"/>
          </a:xfrm>
        </p:grpSpPr>
        <p:sp>
          <p:nvSpPr>
            <p:cNvPr name="Freeform 53" id="53"/>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54" id="54"/>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16</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3 · 3.3 AUMENTO DEL CONJUNTO DE ENTRENAMIENTO</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Sintético solo en train — val/test quedan intactos</a:t>
              </a:r>
            </a:p>
          </p:txBody>
        </p:sp>
      </p:grpSp>
      <p:grpSp>
        <p:nvGrpSpPr>
          <p:cNvPr name="Group 8" id="8"/>
          <p:cNvGrpSpPr/>
          <p:nvPr/>
        </p:nvGrpSpPr>
        <p:grpSpPr>
          <a:xfrm rot="0">
            <a:off x="822960" y="2468880"/>
            <a:ext cx="9738360" cy="6172200"/>
            <a:chOff x="0" y="0"/>
            <a:chExt cx="12984480" cy="8229600"/>
          </a:xfrm>
        </p:grpSpPr>
        <p:sp>
          <p:nvSpPr>
            <p:cNvPr name="Freeform 9" id="9" descr="/home/claude/imgs/cell55_0.png"/>
            <p:cNvSpPr/>
            <p:nvPr/>
          </p:nvSpPr>
          <p:spPr>
            <a:xfrm flipH="false" flipV="false" rot="0">
              <a:off x="0" y="0"/>
              <a:ext cx="12984480" cy="8229600"/>
            </a:xfrm>
            <a:custGeom>
              <a:avLst/>
              <a:gdLst/>
              <a:ahLst/>
              <a:cxnLst/>
              <a:rect r="r" b="b" t="t" l="l"/>
              <a:pathLst>
                <a:path h="8229600" w="12984480">
                  <a:moveTo>
                    <a:pt x="0" y="0"/>
                  </a:moveTo>
                  <a:lnTo>
                    <a:pt x="12984480" y="0"/>
                  </a:lnTo>
                  <a:lnTo>
                    <a:pt x="12984480" y="8229600"/>
                  </a:lnTo>
                  <a:lnTo>
                    <a:pt x="0" y="8229600"/>
                  </a:lnTo>
                  <a:lnTo>
                    <a:pt x="0" y="0"/>
                  </a:lnTo>
                  <a:close/>
                </a:path>
              </a:pathLst>
            </a:custGeom>
            <a:blipFill>
              <a:blip r:embed="rId3"/>
              <a:stretch>
                <a:fillRect l="-1092" t="0" r="-1092" b="0"/>
              </a:stretch>
            </a:blipFill>
          </p:spPr>
        </p:sp>
      </p:grpSp>
      <p:grpSp>
        <p:nvGrpSpPr>
          <p:cNvPr name="Group 10" id="10"/>
          <p:cNvGrpSpPr/>
          <p:nvPr/>
        </p:nvGrpSpPr>
        <p:grpSpPr>
          <a:xfrm rot="0">
            <a:off x="10972800" y="2468880"/>
            <a:ext cx="6446520" cy="6858000"/>
            <a:chOff x="0" y="0"/>
            <a:chExt cx="8595360" cy="9144000"/>
          </a:xfrm>
        </p:grpSpPr>
        <p:sp>
          <p:nvSpPr>
            <p:cNvPr name="Freeform 11" id="11"/>
            <p:cNvSpPr/>
            <p:nvPr/>
          </p:nvSpPr>
          <p:spPr>
            <a:xfrm flipH="false" flipV="false" rot="0">
              <a:off x="0" y="0"/>
              <a:ext cx="8595360" cy="9144000"/>
            </a:xfrm>
            <a:custGeom>
              <a:avLst/>
              <a:gdLst/>
              <a:ahLst/>
              <a:cxnLst/>
              <a:rect r="r" b="b" t="t" l="l"/>
              <a:pathLst>
                <a:path h="9144000" w="8595360">
                  <a:moveTo>
                    <a:pt x="0" y="182880"/>
                  </a:moveTo>
                  <a:cubicBezTo>
                    <a:pt x="0" y="81915"/>
                    <a:pt x="81915" y="0"/>
                    <a:pt x="182880" y="0"/>
                  </a:cubicBezTo>
                  <a:lnTo>
                    <a:pt x="8412480" y="0"/>
                  </a:lnTo>
                  <a:cubicBezTo>
                    <a:pt x="8513445" y="0"/>
                    <a:pt x="8595360" y="81915"/>
                    <a:pt x="8595360" y="182880"/>
                  </a:cubicBezTo>
                  <a:lnTo>
                    <a:pt x="8595360" y="8961120"/>
                  </a:lnTo>
                  <a:cubicBezTo>
                    <a:pt x="8595360" y="9062085"/>
                    <a:pt x="8513445" y="9144000"/>
                    <a:pt x="8412480" y="9144000"/>
                  </a:cubicBezTo>
                  <a:lnTo>
                    <a:pt x="182880" y="9144000"/>
                  </a:lnTo>
                  <a:cubicBezTo>
                    <a:pt x="81915" y="9144000"/>
                    <a:pt x="0" y="9062085"/>
                    <a:pt x="0" y="8961120"/>
                  </a:cubicBezTo>
                  <a:close/>
                </a:path>
              </a:pathLst>
            </a:custGeom>
            <a:solidFill>
              <a:srgbClr val="10162B"/>
            </a:solidFill>
          </p:spPr>
        </p:sp>
      </p:grpSp>
      <p:grpSp>
        <p:nvGrpSpPr>
          <p:cNvPr name="Group 12" id="12"/>
          <p:cNvGrpSpPr/>
          <p:nvPr/>
        </p:nvGrpSpPr>
        <p:grpSpPr>
          <a:xfrm rot="0">
            <a:off x="11452860" y="2743200"/>
            <a:ext cx="5486400" cy="411480"/>
            <a:chOff x="0" y="0"/>
            <a:chExt cx="7315200" cy="548640"/>
          </a:xfrm>
        </p:grpSpPr>
        <p:sp>
          <p:nvSpPr>
            <p:cNvPr name="Freeform 13" id="13"/>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2">
                <a:alphaModFix amt="0"/>
              </a:blip>
              <a:stretch>
                <a:fillRect l="0" t="-209800" r="0" b="-209800"/>
              </a:stretch>
            </a:blipFill>
          </p:spPr>
        </p:sp>
        <p:sp>
          <p:nvSpPr>
            <p:cNvPr name="TextBox 14" id="14"/>
            <p:cNvSpPr txBox="true"/>
            <p:nvPr/>
          </p:nvSpPr>
          <p:spPr>
            <a:xfrm>
              <a:off x="0" y="-19050"/>
              <a:ext cx="7315200" cy="567690"/>
            </a:xfrm>
            <a:prstGeom prst="rect">
              <a:avLst/>
            </a:prstGeom>
          </p:spPr>
          <p:txBody>
            <a:bodyPr anchor="ctr" rtlCol="false" tIns="0" lIns="0" bIns="0" rIns="0"/>
            <a:lstStyle/>
            <a:p>
              <a:pPr algn="l">
                <a:lnSpc>
                  <a:spcPts val="1889"/>
                </a:lnSpc>
              </a:pPr>
              <a:r>
                <a:rPr lang="en-US" b="true" sz="1575" spc="224">
                  <a:solidFill>
                    <a:srgbClr val="00D1B2"/>
                  </a:solidFill>
                  <a:latin typeface="Calibri (MS) Bold"/>
                  <a:ea typeface="Calibri (MS) Bold"/>
                  <a:cs typeface="Calibri (MS) Bold"/>
                  <a:sym typeface="Calibri (MS) Bold"/>
                </a:rPr>
                <a:t>REGLA DE ORO</a:t>
              </a:r>
            </a:p>
          </p:txBody>
        </p:sp>
      </p:grpSp>
      <p:grpSp>
        <p:nvGrpSpPr>
          <p:cNvPr name="Group 15" id="15"/>
          <p:cNvGrpSpPr/>
          <p:nvPr/>
        </p:nvGrpSpPr>
        <p:grpSpPr>
          <a:xfrm rot="0">
            <a:off x="11452860" y="3182112"/>
            <a:ext cx="5486400" cy="891540"/>
            <a:chOff x="0" y="0"/>
            <a:chExt cx="7315200" cy="1188720"/>
          </a:xfrm>
        </p:grpSpPr>
        <p:sp>
          <p:nvSpPr>
            <p:cNvPr name="Freeform 16" id="16"/>
            <p:cNvSpPr/>
            <p:nvPr/>
          </p:nvSpPr>
          <p:spPr>
            <a:xfrm flipH="false" flipV="false" rot="0">
              <a:off x="0" y="0"/>
              <a:ext cx="7315200" cy="1188720"/>
            </a:xfrm>
            <a:custGeom>
              <a:avLst/>
              <a:gdLst/>
              <a:ahLst/>
              <a:cxnLst/>
              <a:rect r="r" b="b" t="t" l="l"/>
              <a:pathLst>
                <a:path h="1188720" w="7315200">
                  <a:moveTo>
                    <a:pt x="0" y="0"/>
                  </a:moveTo>
                  <a:lnTo>
                    <a:pt x="7315200" y="0"/>
                  </a:lnTo>
                  <a:lnTo>
                    <a:pt x="7315200" y="1188720"/>
                  </a:lnTo>
                  <a:lnTo>
                    <a:pt x="0" y="1188720"/>
                  </a:lnTo>
                  <a:close/>
                </a:path>
              </a:pathLst>
            </a:custGeom>
            <a:blipFill>
              <a:blip r:embed="rId2">
                <a:alphaModFix amt="0"/>
              </a:blip>
              <a:stretch>
                <a:fillRect l="0" t="-69907" r="0" b="-69907"/>
              </a:stretch>
            </a:blipFill>
          </p:spPr>
        </p:sp>
        <p:sp>
          <p:nvSpPr>
            <p:cNvPr name="TextBox 17" id="17"/>
            <p:cNvSpPr txBox="true"/>
            <p:nvPr/>
          </p:nvSpPr>
          <p:spPr>
            <a:xfrm>
              <a:off x="0" y="-19050"/>
              <a:ext cx="7315200" cy="1207770"/>
            </a:xfrm>
            <a:prstGeom prst="rect">
              <a:avLst/>
            </a:prstGeom>
          </p:spPr>
          <p:txBody>
            <a:bodyPr anchor="ctr" rtlCol="false" tIns="0" lIns="0" bIns="0" rIns="0"/>
            <a:lstStyle/>
            <a:p>
              <a:pPr algn="l">
                <a:lnSpc>
                  <a:spcPts val="2700"/>
                </a:lnSpc>
              </a:pPr>
              <a:r>
                <a:rPr lang="en-US" sz="2250" b="true">
                  <a:solidFill>
                    <a:srgbClr val="FFFFFF"/>
                  </a:solidFill>
                  <a:latin typeface="Cambria Bold"/>
                  <a:ea typeface="Cambria Bold"/>
                  <a:cs typeface="Cambria Bold"/>
                  <a:sym typeface="Cambria Bold"/>
                </a:rPr>
                <a:t>val_df y test_df no se tocan en ningún momento.</a:t>
              </a:r>
            </a:p>
          </p:txBody>
        </p:sp>
      </p:grpSp>
      <p:sp>
        <p:nvSpPr>
          <p:cNvPr name="AutoShape 18" id="18"/>
          <p:cNvSpPr/>
          <p:nvPr/>
        </p:nvSpPr>
        <p:spPr>
          <a:xfrm rot="11880">
            <a:off x="11443316" y="4178617"/>
            <a:ext cx="5505479" cy="0"/>
          </a:xfrm>
          <a:prstGeom prst="line">
            <a:avLst/>
          </a:prstGeom>
          <a:ln cap="rnd" w="9525">
            <a:solidFill>
              <a:srgbClr val="2E3760"/>
            </a:solidFill>
            <a:prstDash val="solid"/>
            <a:headEnd type="none" len="sm" w="sm"/>
            <a:tailEnd type="none" len="sm" w="sm"/>
          </a:ln>
        </p:spPr>
      </p:sp>
      <p:grpSp>
        <p:nvGrpSpPr>
          <p:cNvPr name="Group 19" id="19"/>
          <p:cNvGrpSpPr/>
          <p:nvPr/>
        </p:nvGrpSpPr>
        <p:grpSpPr>
          <a:xfrm rot="0">
            <a:off x="11452860" y="4389120"/>
            <a:ext cx="3429000" cy="548640"/>
            <a:chOff x="0" y="0"/>
            <a:chExt cx="4572000" cy="731520"/>
          </a:xfrm>
        </p:grpSpPr>
        <p:sp>
          <p:nvSpPr>
            <p:cNvPr name="Freeform 20" id="20"/>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2">
                <a:alphaModFix amt="0"/>
              </a:blip>
              <a:stretch>
                <a:fillRect l="0" t="-71781" r="0" b="-71781"/>
              </a:stretch>
            </a:blipFill>
          </p:spPr>
        </p:sp>
        <p:sp>
          <p:nvSpPr>
            <p:cNvPr name="TextBox 21" id="21"/>
            <p:cNvSpPr txBox="true"/>
            <p:nvPr/>
          </p:nvSpPr>
          <p:spPr>
            <a:xfrm>
              <a:off x="0" y="-28575"/>
              <a:ext cx="4572000" cy="760095"/>
            </a:xfrm>
            <a:prstGeom prst="rect">
              <a:avLst/>
            </a:prstGeom>
          </p:spPr>
          <p:txBody>
            <a:bodyPr anchor="ctr" rtlCol="false" tIns="0" lIns="0" bIns="0" rIns="0"/>
            <a:lstStyle/>
            <a:p>
              <a:pPr algn="l">
                <a:lnSpc>
                  <a:spcPts val="1980"/>
                </a:lnSpc>
              </a:pPr>
              <a:r>
                <a:rPr lang="en-US" sz="1650">
                  <a:solidFill>
                    <a:srgbClr val="B9C0E0"/>
                  </a:solidFill>
                  <a:latin typeface="Calibri (MS)"/>
                  <a:ea typeface="Calibri (MS)"/>
                  <a:cs typeface="Calibri (MS)"/>
                  <a:sym typeface="Calibri (MS)"/>
                </a:rPr>
                <a:t>Train original</a:t>
              </a:r>
            </a:p>
          </p:txBody>
        </p:sp>
      </p:grpSp>
      <p:grpSp>
        <p:nvGrpSpPr>
          <p:cNvPr name="Group 22" id="22"/>
          <p:cNvGrpSpPr/>
          <p:nvPr/>
        </p:nvGrpSpPr>
        <p:grpSpPr>
          <a:xfrm rot="0">
            <a:off x="14881860" y="4389120"/>
            <a:ext cx="2057400" cy="548640"/>
            <a:chOff x="0" y="0"/>
            <a:chExt cx="2743200" cy="731520"/>
          </a:xfrm>
        </p:grpSpPr>
        <p:sp>
          <p:nvSpPr>
            <p:cNvPr name="Freeform 23" id="23"/>
            <p:cNvSpPr/>
            <p:nvPr/>
          </p:nvSpPr>
          <p:spPr>
            <a:xfrm flipH="false" flipV="false" rot="0">
              <a:off x="0" y="0"/>
              <a:ext cx="2743200" cy="731520"/>
            </a:xfrm>
            <a:custGeom>
              <a:avLst/>
              <a:gdLst/>
              <a:ahLst/>
              <a:cxnLst/>
              <a:rect r="r" b="b" t="t" l="l"/>
              <a:pathLst>
                <a:path h="731520" w="2743200">
                  <a:moveTo>
                    <a:pt x="0" y="0"/>
                  </a:moveTo>
                  <a:lnTo>
                    <a:pt x="2743200" y="0"/>
                  </a:lnTo>
                  <a:lnTo>
                    <a:pt x="2743200" y="731520"/>
                  </a:lnTo>
                  <a:lnTo>
                    <a:pt x="0" y="731520"/>
                  </a:lnTo>
                  <a:close/>
                </a:path>
              </a:pathLst>
            </a:custGeom>
            <a:blipFill>
              <a:blip r:embed="rId2">
                <a:alphaModFix amt="0"/>
              </a:blip>
              <a:stretch>
                <a:fillRect l="0" t="-23068" r="0" b="-23068"/>
              </a:stretch>
            </a:blipFill>
          </p:spPr>
        </p:sp>
        <p:sp>
          <p:nvSpPr>
            <p:cNvPr name="TextBox 24" id="24"/>
            <p:cNvSpPr txBox="true"/>
            <p:nvPr/>
          </p:nvSpPr>
          <p:spPr>
            <a:xfrm>
              <a:off x="0" y="-38100"/>
              <a:ext cx="2743200" cy="769620"/>
            </a:xfrm>
            <a:prstGeom prst="rect">
              <a:avLst/>
            </a:prstGeom>
          </p:spPr>
          <p:txBody>
            <a:bodyPr anchor="ctr" rtlCol="false" tIns="0" lIns="0" bIns="0" rIns="0"/>
            <a:lstStyle/>
            <a:p>
              <a:pPr algn="r">
                <a:lnSpc>
                  <a:spcPts val="2070"/>
                </a:lnSpc>
              </a:pPr>
              <a:r>
                <a:rPr lang="en-US" sz="1725" b="true">
                  <a:solidFill>
                    <a:srgbClr val="FFFFFF"/>
                  </a:solidFill>
                  <a:latin typeface="Calibri (MS) Bold"/>
                  <a:ea typeface="Calibri (MS) Bold"/>
                  <a:cs typeface="Calibri (MS) Bold"/>
                  <a:sym typeface="Calibri (MS) Bold"/>
                </a:rPr>
                <a:t>19.404 filas</a:t>
              </a:r>
            </a:p>
          </p:txBody>
        </p:sp>
      </p:grpSp>
      <p:grpSp>
        <p:nvGrpSpPr>
          <p:cNvPr name="Group 25" id="25"/>
          <p:cNvGrpSpPr/>
          <p:nvPr/>
        </p:nvGrpSpPr>
        <p:grpSpPr>
          <a:xfrm rot="0">
            <a:off x="11452860" y="5020056"/>
            <a:ext cx="3429000" cy="548640"/>
            <a:chOff x="0" y="0"/>
            <a:chExt cx="4572000" cy="731520"/>
          </a:xfrm>
        </p:grpSpPr>
        <p:sp>
          <p:nvSpPr>
            <p:cNvPr name="Freeform 26" id="26"/>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2">
                <a:alphaModFix amt="0"/>
              </a:blip>
              <a:stretch>
                <a:fillRect l="0" t="-71781" r="0" b="-71781"/>
              </a:stretch>
            </a:blipFill>
          </p:spPr>
        </p:sp>
        <p:sp>
          <p:nvSpPr>
            <p:cNvPr name="TextBox 27" id="27"/>
            <p:cNvSpPr txBox="true"/>
            <p:nvPr/>
          </p:nvSpPr>
          <p:spPr>
            <a:xfrm>
              <a:off x="0" y="-28575"/>
              <a:ext cx="4572000" cy="760095"/>
            </a:xfrm>
            <a:prstGeom prst="rect">
              <a:avLst/>
            </a:prstGeom>
          </p:spPr>
          <p:txBody>
            <a:bodyPr anchor="ctr" rtlCol="false" tIns="0" lIns="0" bIns="0" rIns="0"/>
            <a:lstStyle/>
            <a:p>
              <a:pPr algn="l">
                <a:lnSpc>
                  <a:spcPts val="1980"/>
                </a:lnSpc>
              </a:pPr>
              <a:r>
                <a:rPr lang="en-US" sz="1650">
                  <a:solidFill>
                    <a:srgbClr val="B9C0E0"/>
                  </a:solidFill>
                  <a:latin typeface="Calibri (MS)"/>
                  <a:ea typeface="Calibri (MS)"/>
                  <a:cs typeface="Calibri (MS)"/>
                  <a:sym typeface="Calibri (MS)"/>
                </a:rPr>
                <a:t>Train aumentado</a:t>
              </a:r>
            </a:p>
          </p:txBody>
        </p:sp>
      </p:grpSp>
      <p:grpSp>
        <p:nvGrpSpPr>
          <p:cNvPr name="Group 28" id="28"/>
          <p:cNvGrpSpPr/>
          <p:nvPr/>
        </p:nvGrpSpPr>
        <p:grpSpPr>
          <a:xfrm rot="0">
            <a:off x="14881860" y="5020056"/>
            <a:ext cx="2057400" cy="548640"/>
            <a:chOff x="0" y="0"/>
            <a:chExt cx="2743200" cy="731520"/>
          </a:xfrm>
        </p:grpSpPr>
        <p:sp>
          <p:nvSpPr>
            <p:cNvPr name="Freeform 29" id="29"/>
            <p:cNvSpPr/>
            <p:nvPr/>
          </p:nvSpPr>
          <p:spPr>
            <a:xfrm flipH="false" flipV="false" rot="0">
              <a:off x="0" y="0"/>
              <a:ext cx="2743200" cy="731520"/>
            </a:xfrm>
            <a:custGeom>
              <a:avLst/>
              <a:gdLst/>
              <a:ahLst/>
              <a:cxnLst/>
              <a:rect r="r" b="b" t="t" l="l"/>
              <a:pathLst>
                <a:path h="731520" w="2743200">
                  <a:moveTo>
                    <a:pt x="0" y="0"/>
                  </a:moveTo>
                  <a:lnTo>
                    <a:pt x="2743200" y="0"/>
                  </a:lnTo>
                  <a:lnTo>
                    <a:pt x="2743200" y="731520"/>
                  </a:lnTo>
                  <a:lnTo>
                    <a:pt x="0" y="731520"/>
                  </a:lnTo>
                  <a:close/>
                </a:path>
              </a:pathLst>
            </a:custGeom>
            <a:blipFill>
              <a:blip r:embed="rId2">
                <a:alphaModFix amt="0"/>
              </a:blip>
              <a:stretch>
                <a:fillRect l="0" t="-23068" r="0" b="-23068"/>
              </a:stretch>
            </a:blipFill>
          </p:spPr>
        </p:sp>
        <p:sp>
          <p:nvSpPr>
            <p:cNvPr name="TextBox 30" id="30"/>
            <p:cNvSpPr txBox="true"/>
            <p:nvPr/>
          </p:nvSpPr>
          <p:spPr>
            <a:xfrm>
              <a:off x="0" y="-38100"/>
              <a:ext cx="2743200" cy="769620"/>
            </a:xfrm>
            <a:prstGeom prst="rect">
              <a:avLst/>
            </a:prstGeom>
          </p:spPr>
          <p:txBody>
            <a:bodyPr anchor="ctr" rtlCol="false" tIns="0" lIns="0" bIns="0" rIns="0"/>
            <a:lstStyle/>
            <a:p>
              <a:pPr algn="r">
                <a:lnSpc>
                  <a:spcPts val="2070"/>
                </a:lnSpc>
              </a:pPr>
              <a:r>
                <a:rPr lang="en-US" sz="1725" b="true">
                  <a:solidFill>
                    <a:srgbClr val="FFFFFF"/>
                  </a:solidFill>
                  <a:latin typeface="Calibri (MS) Bold"/>
                  <a:ea typeface="Calibri (MS) Bold"/>
                  <a:cs typeface="Calibri (MS) Bold"/>
                  <a:sym typeface="Calibri (MS) Bold"/>
                </a:rPr>
                <a:t>20.425 filas</a:t>
              </a:r>
            </a:p>
          </p:txBody>
        </p:sp>
      </p:grpSp>
      <p:grpSp>
        <p:nvGrpSpPr>
          <p:cNvPr name="Group 31" id="31"/>
          <p:cNvGrpSpPr/>
          <p:nvPr/>
        </p:nvGrpSpPr>
        <p:grpSpPr>
          <a:xfrm rot="0">
            <a:off x="11452860" y="5650992"/>
            <a:ext cx="3429000" cy="548640"/>
            <a:chOff x="0" y="0"/>
            <a:chExt cx="4572000" cy="731520"/>
          </a:xfrm>
        </p:grpSpPr>
        <p:sp>
          <p:nvSpPr>
            <p:cNvPr name="Freeform 32" id="32"/>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2">
                <a:alphaModFix amt="0"/>
              </a:blip>
              <a:stretch>
                <a:fillRect l="0" t="-71781" r="0" b="-71781"/>
              </a:stretch>
            </a:blipFill>
          </p:spPr>
        </p:sp>
        <p:sp>
          <p:nvSpPr>
            <p:cNvPr name="TextBox 33" id="33"/>
            <p:cNvSpPr txBox="true"/>
            <p:nvPr/>
          </p:nvSpPr>
          <p:spPr>
            <a:xfrm>
              <a:off x="0" y="-28575"/>
              <a:ext cx="4572000" cy="760095"/>
            </a:xfrm>
            <a:prstGeom prst="rect">
              <a:avLst/>
            </a:prstGeom>
          </p:spPr>
          <p:txBody>
            <a:bodyPr anchor="ctr" rtlCol="false" tIns="0" lIns="0" bIns="0" rIns="0"/>
            <a:lstStyle/>
            <a:p>
              <a:pPr algn="l">
                <a:lnSpc>
                  <a:spcPts val="1980"/>
                </a:lnSpc>
              </a:pPr>
              <a:r>
                <a:rPr lang="en-US" sz="1650">
                  <a:solidFill>
                    <a:srgbClr val="B9C0E0"/>
                  </a:solidFill>
                  <a:latin typeface="Calibri (MS)"/>
                  <a:ea typeface="Calibri (MS)"/>
                  <a:cs typeface="Calibri (MS)"/>
                  <a:sym typeface="Calibri (MS)"/>
                </a:rPr>
                <a:t>Filas sintéticas agregadas</a:t>
              </a:r>
            </a:p>
          </p:txBody>
        </p:sp>
      </p:grpSp>
      <p:grpSp>
        <p:nvGrpSpPr>
          <p:cNvPr name="Group 34" id="34"/>
          <p:cNvGrpSpPr/>
          <p:nvPr/>
        </p:nvGrpSpPr>
        <p:grpSpPr>
          <a:xfrm rot="0">
            <a:off x="14881860" y="5650992"/>
            <a:ext cx="2057400" cy="548640"/>
            <a:chOff x="0" y="0"/>
            <a:chExt cx="2743200" cy="731520"/>
          </a:xfrm>
        </p:grpSpPr>
        <p:sp>
          <p:nvSpPr>
            <p:cNvPr name="Freeform 35" id="35"/>
            <p:cNvSpPr/>
            <p:nvPr/>
          </p:nvSpPr>
          <p:spPr>
            <a:xfrm flipH="false" flipV="false" rot="0">
              <a:off x="0" y="0"/>
              <a:ext cx="2743200" cy="731520"/>
            </a:xfrm>
            <a:custGeom>
              <a:avLst/>
              <a:gdLst/>
              <a:ahLst/>
              <a:cxnLst/>
              <a:rect r="r" b="b" t="t" l="l"/>
              <a:pathLst>
                <a:path h="731520" w="2743200">
                  <a:moveTo>
                    <a:pt x="0" y="0"/>
                  </a:moveTo>
                  <a:lnTo>
                    <a:pt x="2743200" y="0"/>
                  </a:lnTo>
                  <a:lnTo>
                    <a:pt x="2743200" y="731520"/>
                  </a:lnTo>
                  <a:lnTo>
                    <a:pt x="0" y="731520"/>
                  </a:lnTo>
                  <a:close/>
                </a:path>
              </a:pathLst>
            </a:custGeom>
            <a:blipFill>
              <a:blip r:embed="rId2">
                <a:alphaModFix amt="0"/>
              </a:blip>
              <a:stretch>
                <a:fillRect l="0" t="-23068" r="0" b="-23068"/>
              </a:stretch>
            </a:blipFill>
          </p:spPr>
        </p:sp>
        <p:sp>
          <p:nvSpPr>
            <p:cNvPr name="TextBox 36" id="36"/>
            <p:cNvSpPr txBox="true"/>
            <p:nvPr/>
          </p:nvSpPr>
          <p:spPr>
            <a:xfrm>
              <a:off x="0" y="-38100"/>
              <a:ext cx="2743200" cy="769620"/>
            </a:xfrm>
            <a:prstGeom prst="rect">
              <a:avLst/>
            </a:prstGeom>
          </p:spPr>
          <p:txBody>
            <a:bodyPr anchor="ctr" rtlCol="false" tIns="0" lIns="0" bIns="0" rIns="0"/>
            <a:lstStyle/>
            <a:p>
              <a:pPr algn="r">
                <a:lnSpc>
                  <a:spcPts val="2070"/>
                </a:lnSpc>
              </a:pPr>
              <a:r>
                <a:rPr lang="en-US" sz="1725" b="true">
                  <a:solidFill>
                    <a:srgbClr val="FFFFFF"/>
                  </a:solidFill>
                  <a:latin typeface="Calibri (MS) Bold"/>
                  <a:ea typeface="Calibri (MS) Bold"/>
                  <a:cs typeface="Calibri (MS) Bold"/>
                  <a:sym typeface="Calibri (MS) Bold"/>
                </a:rPr>
                <a:t>1.021 (4 rondas)</a:t>
              </a:r>
            </a:p>
          </p:txBody>
        </p:sp>
      </p:grpSp>
      <p:grpSp>
        <p:nvGrpSpPr>
          <p:cNvPr name="Group 37" id="37"/>
          <p:cNvGrpSpPr/>
          <p:nvPr/>
        </p:nvGrpSpPr>
        <p:grpSpPr>
          <a:xfrm rot="0">
            <a:off x="11452860" y="6446520"/>
            <a:ext cx="5486400" cy="1165860"/>
            <a:chOff x="0" y="0"/>
            <a:chExt cx="7315200" cy="1554480"/>
          </a:xfrm>
        </p:grpSpPr>
        <p:sp>
          <p:nvSpPr>
            <p:cNvPr name="Freeform 38" id="38"/>
            <p:cNvSpPr/>
            <p:nvPr/>
          </p:nvSpPr>
          <p:spPr>
            <a:xfrm flipH="false" flipV="false" rot="0">
              <a:off x="0" y="0"/>
              <a:ext cx="7315200" cy="1554480"/>
            </a:xfrm>
            <a:custGeom>
              <a:avLst/>
              <a:gdLst/>
              <a:ahLst/>
              <a:cxnLst/>
              <a:rect r="r" b="b" t="t" l="l"/>
              <a:pathLst>
                <a:path h="1554480" w="7315200">
                  <a:moveTo>
                    <a:pt x="0" y="0"/>
                  </a:moveTo>
                  <a:lnTo>
                    <a:pt x="7315200" y="0"/>
                  </a:lnTo>
                  <a:lnTo>
                    <a:pt x="7315200" y="1554480"/>
                  </a:lnTo>
                  <a:lnTo>
                    <a:pt x="0" y="1554480"/>
                  </a:lnTo>
                  <a:close/>
                </a:path>
              </a:pathLst>
            </a:custGeom>
            <a:blipFill>
              <a:blip r:embed="rId2">
                <a:alphaModFix amt="0"/>
              </a:blip>
              <a:stretch>
                <a:fillRect l="0" t="-41694" r="0" b="-41694"/>
              </a:stretch>
            </a:blipFill>
          </p:spPr>
        </p:sp>
        <p:sp>
          <p:nvSpPr>
            <p:cNvPr name="TextBox 39" id="39"/>
            <p:cNvSpPr txBox="true"/>
            <p:nvPr/>
          </p:nvSpPr>
          <p:spPr>
            <a:xfrm>
              <a:off x="0" y="-57150"/>
              <a:ext cx="7315200" cy="1611630"/>
            </a:xfrm>
            <a:prstGeom prst="rect">
              <a:avLst/>
            </a:prstGeom>
          </p:spPr>
          <p:txBody>
            <a:bodyPr anchor="ctr" rtlCol="false" tIns="0" lIns="0" bIns="0" rIns="0"/>
            <a:lstStyle/>
            <a:p>
              <a:pPr algn="l">
                <a:lnSpc>
                  <a:spcPts val="2070"/>
                </a:lnSpc>
              </a:pPr>
              <a:r>
                <a:rPr lang="en-US" sz="1500">
                  <a:solidFill>
                    <a:srgbClr val="8A93B8"/>
                  </a:solidFill>
                  <a:latin typeface="Calibri (MS)"/>
                  <a:ea typeface="Calibri (MS)"/>
                  <a:cs typeface="Calibri (MS)"/>
                  <a:sym typeface="Calibri (MS)"/>
                </a:rPr>
                <a:t>Cada clase se completa hasta un mínimo objetivo de filas (reales + sintéticas). Si el pool no alcanza, se generan rondas adicionales antes de darse por vencido.</a:t>
              </a:r>
            </a:p>
          </p:txBody>
        </p:sp>
      </p:grpSp>
      <p:grpSp>
        <p:nvGrpSpPr>
          <p:cNvPr name="Group 40" id="40"/>
          <p:cNvGrpSpPr/>
          <p:nvPr/>
        </p:nvGrpSpPr>
        <p:grpSpPr>
          <a:xfrm rot="0">
            <a:off x="11452860" y="7653528"/>
            <a:ext cx="5486400" cy="1028700"/>
            <a:chOff x="0" y="0"/>
            <a:chExt cx="7315200" cy="1371600"/>
          </a:xfrm>
        </p:grpSpPr>
        <p:sp>
          <p:nvSpPr>
            <p:cNvPr name="Freeform 41" id="41"/>
            <p:cNvSpPr/>
            <p:nvPr/>
          </p:nvSpPr>
          <p:spPr>
            <a:xfrm flipH="false" flipV="false" rot="0">
              <a:off x="0" y="0"/>
              <a:ext cx="7315200" cy="1371600"/>
            </a:xfrm>
            <a:custGeom>
              <a:avLst/>
              <a:gdLst/>
              <a:ahLst/>
              <a:cxnLst/>
              <a:rect r="r" b="b" t="t" l="l"/>
              <a:pathLst>
                <a:path h="1371600" w="7315200">
                  <a:moveTo>
                    <a:pt x="0" y="0"/>
                  </a:moveTo>
                  <a:lnTo>
                    <a:pt x="7315200" y="0"/>
                  </a:lnTo>
                  <a:lnTo>
                    <a:pt x="7315200" y="1371600"/>
                  </a:lnTo>
                  <a:lnTo>
                    <a:pt x="0" y="1371600"/>
                  </a:lnTo>
                  <a:close/>
                </a:path>
              </a:pathLst>
            </a:custGeom>
            <a:blipFill>
              <a:blip r:embed="rId2">
                <a:alphaModFix amt="0"/>
              </a:blip>
              <a:stretch>
                <a:fillRect l="0" t="-53920" r="0" b="-53920"/>
              </a:stretch>
            </a:blipFill>
          </p:spPr>
        </p:sp>
        <p:sp>
          <p:nvSpPr>
            <p:cNvPr name="TextBox 42" id="42"/>
            <p:cNvSpPr txBox="true"/>
            <p:nvPr/>
          </p:nvSpPr>
          <p:spPr>
            <a:xfrm>
              <a:off x="0" y="-57150"/>
              <a:ext cx="7315200" cy="1428750"/>
            </a:xfrm>
            <a:prstGeom prst="rect">
              <a:avLst/>
            </a:prstGeom>
          </p:spPr>
          <p:txBody>
            <a:bodyPr anchor="ctr" rtlCol="false" tIns="0" lIns="0" bIns="0" rIns="0"/>
            <a:lstStyle/>
            <a:p>
              <a:pPr algn="l">
                <a:lnSpc>
                  <a:spcPts val="1966"/>
                </a:lnSpc>
              </a:pPr>
              <a:r>
                <a:rPr lang="en-US" sz="1425" i="true">
                  <a:solidFill>
                    <a:srgbClr val="FF5C5C"/>
                  </a:solidFill>
                  <a:latin typeface="Calibri (MS) Italics"/>
                  <a:ea typeface="Calibri (MS) Italics"/>
                  <a:cs typeface="Calibri (MS) Italics"/>
                  <a:sym typeface="Calibri (MS) Italics"/>
                </a:rPr>
                <a:t>Advertencia real: Infiltration e Heartbleed no llegaron al tope pedido el pool sintético disponible fue insuficiente para esas clases.</a:t>
              </a:r>
            </a:p>
          </p:txBody>
        </p:sp>
      </p:grpSp>
      <p:grpSp>
        <p:nvGrpSpPr>
          <p:cNvPr name="Group 43" id="43"/>
          <p:cNvGrpSpPr/>
          <p:nvPr/>
        </p:nvGrpSpPr>
        <p:grpSpPr>
          <a:xfrm rot="0">
            <a:off x="17053103" y="9601200"/>
            <a:ext cx="822960" cy="411480"/>
            <a:chOff x="0" y="0"/>
            <a:chExt cx="1097280" cy="548640"/>
          </a:xfrm>
        </p:grpSpPr>
        <p:sp>
          <p:nvSpPr>
            <p:cNvPr name="Freeform 44" id="44"/>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45" id="45"/>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17</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PARTE 3 · 3.4 COMPARACIÓN FINAL</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¿El aumento sintético mejora el desempeño?</a:t>
              </a:r>
            </a:p>
          </p:txBody>
        </p:sp>
      </p:grpSp>
      <p:grpSp>
        <p:nvGrpSpPr>
          <p:cNvPr name="Group 8" id="8"/>
          <p:cNvGrpSpPr/>
          <p:nvPr/>
        </p:nvGrpSpPr>
        <p:grpSpPr>
          <a:xfrm rot="0">
            <a:off x="822960" y="2674620"/>
            <a:ext cx="16596360" cy="685800"/>
            <a:chOff x="0" y="0"/>
            <a:chExt cx="22128480" cy="914400"/>
          </a:xfrm>
        </p:grpSpPr>
        <p:sp>
          <p:nvSpPr>
            <p:cNvPr name="Freeform 9" id="9"/>
            <p:cNvSpPr/>
            <p:nvPr/>
          </p:nvSpPr>
          <p:spPr>
            <a:xfrm flipH="false" flipV="false" rot="0">
              <a:off x="0" y="0"/>
              <a:ext cx="22128480" cy="914400"/>
            </a:xfrm>
            <a:custGeom>
              <a:avLst/>
              <a:gdLst/>
              <a:ahLst/>
              <a:cxnLst/>
              <a:rect r="r" b="b" t="t" l="l"/>
              <a:pathLst>
                <a:path h="914400" w="22128480">
                  <a:moveTo>
                    <a:pt x="0" y="0"/>
                  </a:moveTo>
                  <a:lnTo>
                    <a:pt x="22128480" y="0"/>
                  </a:lnTo>
                  <a:lnTo>
                    <a:pt x="22128480" y="914400"/>
                  </a:lnTo>
                  <a:lnTo>
                    <a:pt x="0" y="914400"/>
                  </a:lnTo>
                  <a:close/>
                </a:path>
              </a:pathLst>
            </a:custGeom>
            <a:solidFill>
              <a:srgbClr val="10162B"/>
            </a:solidFill>
          </p:spPr>
        </p:sp>
      </p:grpSp>
      <p:grpSp>
        <p:nvGrpSpPr>
          <p:cNvPr name="Group 10" id="10"/>
          <p:cNvGrpSpPr/>
          <p:nvPr/>
        </p:nvGrpSpPr>
        <p:grpSpPr>
          <a:xfrm rot="0">
            <a:off x="822960" y="2674620"/>
            <a:ext cx="4937760" cy="685800"/>
            <a:chOff x="0" y="0"/>
            <a:chExt cx="6583680" cy="914400"/>
          </a:xfrm>
        </p:grpSpPr>
        <p:sp>
          <p:nvSpPr>
            <p:cNvPr name="Freeform 11" id="11"/>
            <p:cNvSpPr/>
            <p:nvPr/>
          </p:nvSpPr>
          <p:spPr>
            <a:xfrm flipH="false" flipV="false" rot="0">
              <a:off x="0" y="0"/>
              <a:ext cx="6583680" cy="914400"/>
            </a:xfrm>
            <a:custGeom>
              <a:avLst/>
              <a:gdLst/>
              <a:ahLst/>
              <a:cxnLst/>
              <a:rect r="r" b="b" t="t" l="l"/>
              <a:pathLst>
                <a:path h="914400" w="6583680">
                  <a:moveTo>
                    <a:pt x="0" y="0"/>
                  </a:moveTo>
                  <a:lnTo>
                    <a:pt x="6583680" y="0"/>
                  </a:lnTo>
                  <a:lnTo>
                    <a:pt x="6583680" y="914400"/>
                  </a:lnTo>
                  <a:lnTo>
                    <a:pt x="0" y="914400"/>
                  </a:lnTo>
                  <a:close/>
                </a:path>
              </a:pathLst>
            </a:custGeom>
            <a:blipFill>
              <a:blip r:embed="rId2">
                <a:alphaModFix amt="0"/>
              </a:blip>
              <a:stretch>
                <a:fillRect l="0" t="-90292" r="0" b="-90292"/>
              </a:stretch>
            </a:blipFill>
          </p:spPr>
        </p:sp>
        <p:sp>
          <p:nvSpPr>
            <p:cNvPr name="TextBox 12" id="12"/>
            <p:cNvSpPr txBox="true"/>
            <p:nvPr/>
          </p:nvSpPr>
          <p:spPr>
            <a:xfrm>
              <a:off x="0" y="-38100"/>
              <a:ext cx="6583680" cy="952500"/>
            </a:xfrm>
            <a:prstGeom prst="rect">
              <a:avLst/>
            </a:prstGeom>
          </p:spPr>
          <p:txBody>
            <a:bodyPr anchor="ctr" rtlCol="false" tIns="0" lIns="0" bIns="0" rIns="0"/>
            <a:lstStyle/>
            <a:p>
              <a:pPr algn="l">
                <a:lnSpc>
                  <a:spcPts val="2070"/>
                </a:lnSpc>
              </a:pPr>
              <a:r>
                <a:rPr lang="en-US" sz="1725" b="true">
                  <a:solidFill>
                    <a:srgbClr val="FFFFFF"/>
                  </a:solidFill>
                  <a:latin typeface="Calibri (MS) Bold"/>
                  <a:ea typeface="Calibri (MS) Bold"/>
                  <a:cs typeface="Calibri (MS) Bold"/>
                  <a:sym typeface="Calibri (MS) Bold"/>
                </a:rPr>
                <a:t>Modelo</a:t>
              </a:r>
            </a:p>
          </p:txBody>
        </p:sp>
      </p:grpSp>
      <p:grpSp>
        <p:nvGrpSpPr>
          <p:cNvPr name="Group 13" id="13"/>
          <p:cNvGrpSpPr/>
          <p:nvPr/>
        </p:nvGrpSpPr>
        <p:grpSpPr>
          <a:xfrm rot="0">
            <a:off x="5760720" y="2674620"/>
            <a:ext cx="4114800" cy="685800"/>
            <a:chOff x="0" y="0"/>
            <a:chExt cx="5486400" cy="914400"/>
          </a:xfrm>
        </p:grpSpPr>
        <p:sp>
          <p:nvSpPr>
            <p:cNvPr name="Freeform 14" id="14"/>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2">
                <a:alphaModFix amt="0"/>
              </a:blip>
              <a:stretch>
                <a:fillRect l="0" t="-66910" r="0" b="-66910"/>
              </a:stretch>
            </a:blipFill>
          </p:spPr>
        </p:sp>
        <p:sp>
          <p:nvSpPr>
            <p:cNvPr name="TextBox 15" id="15"/>
            <p:cNvSpPr txBox="true"/>
            <p:nvPr/>
          </p:nvSpPr>
          <p:spPr>
            <a:xfrm>
              <a:off x="0" y="-38100"/>
              <a:ext cx="5486400" cy="952500"/>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macro-F1 (real)</a:t>
              </a:r>
            </a:p>
          </p:txBody>
        </p:sp>
      </p:grpSp>
      <p:grpSp>
        <p:nvGrpSpPr>
          <p:cNvPr name="Group 16" id="16"/>
          <p:cNvGrpSpPr/>
          <p:nvPr/>
        </p:nvGrpSpPr>
        <p:grpSpPr>
          <a:xfrm rot="0">
            <a:off x="9875520" y="2674620"/>
            <a:ext cx="4800600" cy="685800"/>
            <a:chOff x="0" y="0"/>
            <a:chExt cx="6400800" cy="914400"/>
          </a:xfrm>
        </p:grpSpPr>
        <p:sp>
          <p:nvSpPr>
            <p:cNvPr name="Freeform 17" id="17"/>
            <p:cNvSpPr/>
            <p:nvPr/>
          </p:nvSpPr>
          <p:spPr>
            <a:xfrm flipH="false" flipV="false" rot="0">
              <a:off x="0" y="0"/>
              <a:ext cx="6400800" cy="914400"/>
            </a:xfrm>
            <a:custGeom>
              <a:avLst/>
              <a:gdLst/>
              <a:ahLst/>
              <a:cxnLst/>
              <a:rect r="r" b="b" t="t" l="l"/>
              <a:pathLst>
                <a:path h="914400" w="6400800">
                  <a:moveTo>
                    <a:pt x="0" y="0"/>
                  </a:moveTo>
                  <a:lnTo>
                    <a:pt x="6400800" y="0"/>
                  </a:lnTo>
                  <a:lnTo>
                    <a:pt x="6400800" y="914400"/>
                  </a:lnTo>
                  <a:lnTo>
                    <a:pt x="0" y="914400"/>
                  </a:lnTo>
                  <a:close/>
                </a:path>
              </a:pathLst>
            </a:custGeom>
            <a:blipFill>
              <a:blip r:embed="rId2">
                <a:alphaModFix amt="0"/>
              </a:blip>
              <a:stretch>
                <a:fillRect l="0" t="-86395" r="0" b="-86395"/>
              </a:stretch>
            </a:blipFill>
          </p:spPr>
        </p:sp>
        <p:sp>
          <p:nvSpPr>
            <p:cNvPr name="TextBox 18" id="18"/>
            <p:cNvSpPr txBox="true"/>
            <p:nvPr/>
          </p:nvSpPr>
          <p:spPr>
            <a:xfrm>
              <a:off x="0" y="-38100"/>
              <a:ext cx="6400800" cy="952500"/>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macro-F1 (aumentado)</a:t>
              </a:r>
            </a:p>
          </p:txBody>
        </p:sp>
      </p:grpSp>
      <p:grpSp>
        <p:nvGrpSpPr>
          <p:cNvPr name="Group 19" id="19"/>
          <p:cNvGrpSpPr/>
          <p:nvPr/>
        </p:nvGrpSpPr>
        <p:grpSpPr>
          <a:xfrm rot="0">
            <a:off x="14676120" y="2674620"/>
            <a:ext cx="2743200" cy="685800"/>
            <a:chOff x="0" y="0"/>
            <a:chExt cx="3657600" cy="914400"/>
          </a:xfrm>
        </p:grpSpPr>
        <p:sp>
          <p:nvSpPr>
            <p:cNvPr name="Freeform 20" id="20"/>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2">
                <a:alphaModFix amt="0"/>
              </a:blip>
              <a:stretch>
                <a:fillRect l="0" t="-27940" r="0" b="-27940"/>
              </a:stretch>
            </a:blipFill>
          </p:spPr>
        </p:sp>
        <p:sp>
          <p:nvSpPr>
            <p:cNvPr name="TextBox 21" id="21"/>
            <p:cNvSpPr txBox="true"/>
            <p:nvPr/>
          </p:nvSpPr>
          <p:spPr>
            <a:xfrm>
              <a:off x="0" y="-38100"/>
              <a:ext cx="3657600" cy="952500"/>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Δ</a:t>
              </a:r>
            </a:p>
          </p:txBody>
        </p:sp>
      </p:grpSp>
      <p:grpSp>
        <p:nvGrpSpPr>
          <p:cNvPr name="Group 22" id="22"/>
          <p:cNvGrpSpPr/>
          <p:nvPr/>
        </p:nvGrpSpPr>
        <p:grpSpPr>
          <a:xfrm rot="0">
            <a:off x="815816" y="3353276"/>
            <a:ext cx="4952047" cy="905827"/>
            <a:chOff x="0" y="0"/>
            <a:chExt cx="6602730" cy="1207770"/>
          </a:xfrm>
        </p:grpSpPr>
        <p:sp>
          <p:nvSpPr>
            <p:cNvPr name="Freeform 23" id="23"/>
            <p:cNvSpPr/>
            <p:nvPr/>
          </p:nvSpPr>
          <p:spPr>
            <a:xfrm flipH="false" flipV="false" rot="0">
              <a:off x="0" y="0"/>
              <a:ext cx="6602730" cy="1207770"/>
            </a:xfrm>
            <a:custGeom>
              <a:avLst/>
              <a:gdLst/>
              <a:ahLst/>
              <a:cxnLst/>
              <a:rect r="r" b="b" t="t" l="l"/>
              <a:pathLst>
                <a:path h="1207770" w="6602730">
                  <a:moveTo>
                    <a:pt x="0" y="0"/>
                  </a:moveTo>
                  <a:lnTo>
                    <a:pt x="6602730" y="0"/>
                  </a:lnTo>
                  <a:lnTo>
                    <a:pt x="6602730" y="1207770"/>
                  </a:lnTo>
                  <a:lnTo>
                    <a:pt x="0" y="1207770"/>
                  </a:lnTo>
                  <a:close/>
                </a:path>
              </a:pathLst>
            </a:custGeom>
            <a:solidFill>
              <a:srgbClr val="FFFFFF"/>
            </a:solidFill>
            <a:ln w="14288" cap="sq">
              <a:solidFill>
                <a:srgbClr val="E3E6F0"/>
              </a:solidFill>
              <a:prstDash val="solid"/>
              <a:miter/>
            </a:ln>
          </p:spPr>
        </p:sp>
      </p:grpSp>
      <p:grpSp>
        <p:nvGrpSpPr>
          <p:cNvPr name="Group 24" id="24"/>
          <p:cNvGrpSpPr/>
          <p:nvPr/>
        </p:nvGrpSpPr>
        <p:grpSpPr>
          <a:xfrm rot="0">
            <a:off x="822960" y="3360420"/>
            <a:ext cx="4937760" cy="891540"/>
            <a:chOff x="0" y="0"/>
            <a:chExt cx="6583680" cy="1188720"/>
          </a:xfrm>
        </p:grpSpPr>
        <p:sp>
          <p:nvSpPr>
            <p:cNvPr name="Freeform 25" id="25"/>
            <p:cNvSpPr/>
            <p:nvPr/>
          </p:nvSpPr>
          <p:spPr>
            <a:xfrm flipH="false" flipV="false" rot="0">
              <a:off x="0" y="0"/>
              <a:ext cx="6583680" cy="1188720"/>
            </a:xfrm>
            <a:custGeom>
              <a:avLst/>
              <a:gdLst/>
              <a:ahLst/>
              <a:cxnLst/>
              <a:rect r="r" b="b" t="t" l="l"/>
              <a:pathLst>
                <a:path h="1188720" w="6583680">
                  <a:moveTo>
                    <a:pt x="0" y="0"/>
                  </a:moveTo>
                  <a:lnTo>
                    <a:pt x="6583680" y="0"/>
                  </a:lnTo>
                  <a:lnTo>
                    <a:pt x="6583680" y="1188720"/>
                  </a:lnTo>
                  <a:lnTo>
                    <a:pt x="0" y="1188720"/>
                  </a:lnTo>
                  <a:close/>
                </a:path>
              </a:pathLst>
            </a:custGeom>
            <a:blipFill>
              <a:blip r:embed="rId2">
                <a:alphaModFix amt="0"/>
              </a:blip>
              <a:stretch>
                <a:fillRect l="0" t="-57917" r="0" b="-57917"/>
              </a:stretch>
            </a:blipFill>
          </p:spPr>
        </p:sp>
        <p:sp>
          <p:nvSpPr>
            <p:cNvPr name="TextBox 26" id="26"/>
            <p:cNvSpPr txBox="true"/>
            <p:nvPr/>
          </p:nvSpPr>
          <p:spPr>
            <a:xfrm>
              <a:off x="0" y="-47625"/>
              <a:ext cx="6583680" cy="1236345"/>
            </a:xfrm>
            <a:prstGeom prst="rect">
              <a:avLst/>
            </a:prstGeom>
          </p:spPr>
          <p:txBody>
            <a:bodyPr anchor="ctr" rtlCol="false" tIns="0" lIns="0" bIns="0" rIns="0"/>
            <a:lstStyle/>
            <a:p>
              <a:pPr algn="l">
                <a:lnSpc>
                  <a:spcPts val="2340"/>
                </a:lnSpc>
              </a:pPr>
              <a:r>
                <a:rPr lang="en-US" sz="1950" b="true">
                  <a:solidFill>
                    <a:srgbClr val="0E1220"/>
                  </a:solidFill>
                  <a:latin typeface="Calibri (MS) Bold"/>
                  <a:ea typeface="Calibri (MS) Bold"/>
                  <a:cs typeface="Calibri (MS) Bold"/>
                  <a:sym typeface="Calibri (MS) Bold"/>
                </a:rPr>
                <a:t>DNN manual</a:t>
              </a:r>
            </a:p>
          </p:txBody>
        </p:sp>
      </p:grpSp>
      <p:grpSp>
        <p:nvGrpSpPr>
          <p:cNvPr name="Group 27" id="27"/>
          <p:cNvGrpSpPr/>
          <p:nvPr/>
        </p:nvGrpSpPr>
        <p:grpSpPr>
          <a:xfrm rot="0">
            <a:off x="5753576" y="3353276"/>
            <a:ext cx="4129088" cy="905827"/>
            <a:chOff x="0" y="0"/>
            <a:chExt cx="5505450" cy="1207770"/>
          </a:xfrm>
        </p:grpSpPr>
        <p:sp>
          <p:nvSpPr>
            <p:cNvPr name="Freeform 28" id="28"/>
            <p:cNvSpPr/>
            <p:nvPr/>
          </p:nvSpPr>
          <p:spPr>
            <a:xfrm flipH="false" flipV="false" rot="0">
              <a:off x="0" y="0"/>
              <a:ext cx="5505450" cy="1207770"/>
            </a:xfrm>
            <a:custGeom>
              <a:avLst/>
              <a:gdLst/>
              <a:ahLst/>
              <a:cxnLst/>
              <a:rect r="r" b="b" t="t" l="l"/>
              <a:pathLst>
                <a:path h="1207770" w="5505450">
                  <a:moveTo>
                    <a:pt x="0" y="0"/>
                  </a:moveTo>
                  <a:lnTo>
                    <a:pt x="5505450" y="0"/>
                  </a:lnTo>
                  <a:lnTo>
                    <a:pt x="5505450" y="1207770"/>
                  </a:lnTo>
                  <a:lnTo>
                    <a:pt x="0" y="1207770"/>
                  </a:lnTo>
                  <a:close/>
                </a:path>
              </a:pathLst>
            </a:custGeom>
            <a:solidFill>
              <a:srgbClr val="FFFFFF"/>
            </a:solidFill>
            <a:ln w="14288" cap="sq">
              <a:solidFill>
                <a:srgbClr val="E3E6F0"/>
              </a:solidFill>
              <a:prstDash val="solid"/>
              <a:miter/>
            </a:ln>
          </p:spPr>
        </p:sp>
      </p:grpSp>
      <p:grpSp>
        <p:nvGrpSpPr>
          <p:cNvPr name="Group 29" id="29"/>
          <p:cNvGrpSpPr/>
          <p:nvPr/>
        </p:nvGrpSpPr>
        <p:grpSpPr>
          <a:xfrm rot="0">
            <a:off x="5760720" y="3360420"/>
            <a:ext cx="4114800" cy="891540"/>
            <a:chOff x="0" y="0"/>
            <a:chExt cx="5486400" cy="1188720"/>
          </a:xfrm>
        </p:grpSpPr>
        <p:sp>
          <p:nvSpPr>
            <p:cNvPr name="Freeform 30" id="30"/>
            <p:cNvSpPr/>
            <p:nvPr/>
          </p:nvSpPr>
          <p:spPr>
            <a:xfrm flipH="false" flipV="false" rot="0">
              <a:off x="0" y="0"/>
              <a:ext cx="5486400" cy="1188720"/>
            </a:xfrm>
            <a:custGeom>
              <a:avLst/>
              <a:gdLst/>
              <a:ahLst/>
              <a:cxnLst/>
              <a:rect r="r" b="b" t="t" l="l"/>
              <a:pathLst>
                <a:path h="1188720" w="5486400">
                  <a:moveTo>
                    <a:pt x="0" y="0"/>
                  </a:moveTo>
                  <a:lnTo>
                    <a:pt x="5486400" y="0"/>
                  </a:lnTo>
                  <a:lnTo>
                    <a:pt x="5486400" y="1188720"/>
                  </a:lnTo>
                  <a:lnTo>
                    <a:pt x="0" y="1188720"/>
                  </a:lnTo>
                  <a:close/>
                </a:path>
              </a:pathLst>
            </a:custGeom>
            <a:blipFill>
              <a:blip r:embed="rId2">
                <a:alphaModFix amt="0"/>
              </a:blip>
              <a:stretch>
                <a:fillRect l="0" t="-39930" r="0" b="-39930"/>
              </a:stretch>
            </a:blipFill>
          </p:spPr>
        </p:sp>
        <p:sp>
          <p:nvSpPr>
            <p:cNvPr name="TextBox 31" id="31"/>
            <p:cNvSpPr txBox="true"/>
            <p:nvPr/>
          </p:nvSpPr>
          <p:spPr>
            <a:xfrm>
              <a:off x="0" y="-47625"/>
              <a:ext cx="5486400" cy="1236345"/>
            </a:xfrm>
            <a:prstGeom prst="rect">
              <a:avLst/>
            </a:prstGeom>
          </p:spPr>
          <p:txBody>
            <a:bodyPr anchor="ctr" rtlCol="false" tIns="0" lIns="0" bIns="0" rIns="0"/>
            <a:lstStyle/>
            <a:p>
              <a:pPr algn="ctr">
                <a:lnSpc>
                  <a:spcPts val="2340"/>
                </a:lnSpc>
              </a:pPr>
              <a:r>
                <a:rPr lang="en-US" sz="1950">
                  <a:solidFill>
                    <a:srgbClr val="0E1220"/>
                  </a:solidFill>
                  <a:latin typeface="Calibri (MS)"/>
                  <a:ea typeface="Calibri (MS)"/>
                  <a:cs typeface="Calibri (MS)"/>
                  <a:sym typeface="Calibri (MS)"/>
                </a:rPr>
                <a:t>0.604</a:t>
              </a:r>
            </a:p>
          </p:txBody>
        </p:sp>
      </p:grpSp>
      <p:grpSp>
        <p:nvGrpSpPr>
          <p:cNvPr name="Group 32" id="32"/>
          <p:cNvGrpSpPr/>
          <p:nvPr/>
        </p:nvGrpSpPr>
        <p:grpSpPr>
          <a:xfrm rot="0">
            <a:off x="9868376" y="3353276"/>
            <a:ext cx="4814888" cy="905827"/>
            <a:chOff x="0" y="0"/>
            <a:chExt cx="6419850" cy="1207770"/>
          </a:xfrm>
        </p:grpSpPr>
        <p:sp>
          <p:nvSpPr>
            <p:cNvPr name="Freeform 33" id="33"/>
            <p:cNvSpPr/>
            <p:nvPr/>
          </p:nvSpPr>
          <p:spPr>
            <a:xfrm flipH="false" flipV="false" rot="0">
              <a:off x="0" y="0"/>
              <a:ext cx="6419850" cy="1207770"/>
            </a:xfrm>
            <a:custGeom>
              <a:avLst/>
              <a:gdLst/>
              <a:ahLst/>
              <a:cxnLst/>
              <a:rect r="r" b="b" t="t" l="l"/>
              <a:pathLst>
                <a:path h="1207770" w="6419850">
                  <a:moveTo>
                    <a:pt x="0" y="0"/>
                  </a:moveTo>
                  <a:lnTo>
                    <a:pt x="6419850" y="0"/>
                  </a:lnTo>
                  <a:lnTo>
                    <a:pt x="6419850" y="1207770"/>
                  </a:lnTo>
                  <a:lnTo>
                    <a:pt x="0" y="1207770"/>
                  </a:lnTo>
                  <a:close/>
                </a:path>
              </a:pathLst>
            </a:custGeom>
            <a:solidFill>
              <a:srgbClr val="FFFFFF"/>
            </a:solidFill>
            <a:ln w="14288" cap="sq">
              <a:solidFill>
                <a:srgbClr val="E3E6F0"/>
              </a:solidFill>
              <a:prstDash val="solid"/>
              <a:miter/>
            </a:ln>
          </p:spPr>
        </p:sp>
      </p:grpSp>
      <p:grpSp>
        <p:nvGrpSpPr>
          <p:cNvPr name="Group 34" id="34"/>
          <p:cNvGrpSpPr/>
          <p:nvPr/>
        </p:nvGrpSpPr>
        <p:grpSpPr>
          <a:xfrm rot="0">
            <a:off x="9875520" y="3360420"/>
            <a:ext cx="4800600" cy="891540"/>
            <a:chOff x="0" y="0"/>
            <a:chExt cx="6400800" cy="1188720"/>
          </a:xfrm>
        </p:grpSpPr>
        <p:sp>
          <p:nvSpPr>
            <p:cNvPr name="Freeform 35" id="35"/>
            <p:cNvSpPr/>
            <p:nvPr/>
          </p:nvSpPr>
          <p:spPr>
            <a:xfrm flipH="false" flipV="false" rot="0">
              <a:off x="0" y="0"/>
              <a:ext cx="6400800" cy="1188720"/>
            </a:xfrm>
            <a:custGeom>
              <a:avLst/>
              <a:gdLst/>
              <a:ahLst/>
              <a:cxnLst/>
              <a:rect r="r" b="b" t="t" l="l"/>
              <a:pathLst>
                <a:path h="1188720" w="6400800">
                  <a:moveTo>
                    <a:pt x="0" y="0"/>
                  </a:moveTo>
                  <a:lnTo>
                    <a:pt x="6400800" y="0"/>
                  </a:lnTo>
                  <a:lnTo>
                    <a:pt x="6400800" y="1188720"/>
                  </a:lnTo>
                  <a:lnTo>
                    <a:pt x="0" y="1188720"/>
                  </a:lnTo>
                  <a:close/>
                </a:path>
              </a:pathLst>
            </a:custGeom>
            <a:blipFill>
              <a:blip r:embed="rId2">
                <a:alphaModFix amt="0"/>
              </a:blip>
              <a:stretch>
                <a:fillRect l="0" t="-54919" r="0" b="-54919"/>
              </a:stretch>
            </a:blipFill>
          </p:spPr>
        </p:sp>
        <p:sp>
          <p:nvSpPr>
            <p:cNvPr name="TextBox 36" id="36"/>
            <p:cNvSpPr txBox="true"/>
            <p:nvPr/>
          </p:nvSpPr>
          <p:spPr>
            <a:xfrm>
              <a:off x="0" y="-47625"/>
              <a:ext cx="6400800" cy="1236345"/>
            </a:xfrm>
            <a:prstGeom prst="rect">
              <a:avLst/>
            </a:prstGeom>
          </p:spPr>
          <p:txBody>
            <a:bodyPr anchor="ctr" rtlCol="false" tIns="0" lIns="0" bIns="0" rIns="0"/>
            <a:lstStyle/>
            <a:p>
              <a:pPr algn="ctr">
                <a:lnSpc>
                  <a:spcPts val="2340"/>
                </a:lnSpc>
              </a:pPr>
              <a:r>
                <a:rPr lang="en-US" sz="1950">
                  <a:solidFill>
                    <a:srgbClr val="0E1220"/>
                  </a:solidFill>
                  <a:latin typeface="Calibri (MS)"/>
                  <a:ea typeface="Calibri (MS)"/>
                  <a:cs typeface="Calibri (MS)"/>
                  <a:sym typeface="Calibri (MS)"/>
                </a:rPr>
                <a:t>0.777</a:t>
              </a:r>
            </a:p>
          </p:txBody>
        </p:sp>
      </p:grpSp>
      <p:grpSp>
        <p:nvGrpSpPr>
          <p:cNvPr name="Group 37" id="37"/>
          <p:cNvGrpSpPr/>
          <p:nvPr/>
        </p:nvGrpSpPr>
        <p:grpSpPr>
          <a:xfrm rot="0">
            <a:off x="14668976" y="3353276"/>
            <a:ext cx="2757488" cy="905827"/>
            <a:chOff x="0" y="0"/>
            <a:chExt cx="3676650" cy="1207770"/>
          </a:xfrm>
        </p:grpSpPr>
        <p:sp>
          <p:nvSpPr>
            <p:cNvPr name="Freeform 38" id="38"/>
            <p:cNvSpPr/>
            <p:nvPr/>
          </p:nvSpPr>
          <p:spPr>
            <a:xfrm flipH="false" flipV="false" rot="0">
              <a:off x="0" y="0"/>
              <a:ext cx="3676650" cy="1207770"/>
            </a:xfrm>
            <a:custGeom>
              <a:avLst/>
              <a:gdLst/>
              <a:ahLst/>
              <a:cxnLst/>
              <a:rect r="r" b="b" t="t" l="l"/>
              <a:pathLst>
                <a:path h="1207770" w="3676650">
                  <a:moveTo>
                    <a:pt x="0" y="0"/>
                  </a:moveTo>
                  <a:lnTo>
                    <a:pt x="3676650" y="0"/>
                  </a:lnTo>
                  <a:lnTo>
                    <a:pt x="3676650" y="1207770"/>
                  </a:lnTo>
                  <a:lnTo>
                    <a:pt x="0" y="1207770"/>
                  </a:lnTo>
                  <a:close/>
                </a:path>
              </a:pathLst>
            </a:custGeom>
            <a:solidFill>
              <a:srgbClr val="FFFFFF"/>
            </a:solidFill>
            <a:ln w="14288" cap="sq">
              <a:solidFill>
                <a:srgbClr val="E3E6F0"/>
              </a:solidFill>
              <a:prstDash val="solid"/>
              <a:miter/>
            </a:ln>
          </p:spPr>
        </p:sp>
      </p:grpSp>
      <p:grpSp>
        <p:nvGrpSpPr>
          <p:cNvPr name="Group 39" id="39"/>
          <p:cNvGrpSpPr/>
          <p:nvPr/>
        </p:nvGrpSpPr>
        <p:grpSpPr>
          <a:xfrm rot="0">
            <a:off x="14676120" y="3360420"/>
            <a:ext cx="2743200" cy="891540"/>
            <a:chOff x="0" y="0"/>
            <a:chExt cx="3657600" cy="1188720"/>
          </a:xfrm>
        </p:grpSpPr>
        <p:sp>
          <p:nvSpPr>
            <p:cNvPr name="Freeform 40" id="40"/>
            <p:cNvSpPr/>
            <p:nvPr/>
          </p:nvSpPr>
          <p:spPr>
            <a:xfrm flipH="false" flipV="false" rot="0">
              <a:off x="0" y="0"/>
              <a:ext cx="3657600" cy="1188720"/>
            </a:xfrm>
            <a:custGeom>
              <a:avLst/>
              <a:gdLst/>
              <a:ahLst/>
              <a:cxnLst/>
              <a:rect r="r" b="b" t="t" l="l"/>
              <a:pathLst>
                <a:path h="1188720" w="3657600">
                  <a:moveTo>
                    <a:pt x="0" y="0"/>
                  </a:moveTo>
                  <a:lnTo>
                    <a:pt x="3657600" y="0"/>
                  </a:lnTo>
                  <a:lnTo>
                    <a:pt x="3657600" y="1188720"/>
                  </a:lnTo>
                  <a:lnTo>
                    <a:pt x="0" y="1188720"/>
                  </a:lnTo>
                  <a:close/>
                </a:path>
              </a:pathLst>
            </a:custGeom>
            <a:blipFill>
              <a:blip r:embed="rId2">
                <a:alphaModFix amt="0"/>
              </a:blip>
              <a:stretch>
                <a:fillRect l="0" t="-9953" r="0" b="-9953"/>
              </a:stretch>
            </a:blipFill>
          </p:spPr>
        </p:sp>
        <p:sp>
          <p:nvSpPr>
            <p:cNvPr name="TextBox 41" id="41"/>
            <p:cNvSpPr txBox="true"/>
            <p:nvPr/>
          </p:nvSpPr>
          <p:spPr>
            <a:xfrm>
              <a:off x="0" y="-47625"/>
              <a:ext cx="3657600" cy="1236345"/>
            </a:xfrm>
            <a:prstGeom prst="rect">
              <a:avLst/>
            </a:prstGeom>
          </p:spPr>
          <p:txBody>
            <a:bodyPr anchor="ctr" rtlCol="false" tIns="0" lIns="0" bIns="0" rIns="0"/>
            <a:lstStyle/>
            <a:p>
              <a:pPr algn="ctr">
                <a:lnSpc>
                  <a:spcPts val="2340"/>
                </a:lnSpc>
              </a:pPr>
              <a:r>
                <a:rPr lang="en-US" sz="1950" b="true">
                  <a:solidFill>
                    <a:srgbClr val="00D1B2"/>
                  </a:solidFill>
                  <a:latin typeface="Calibri (MS) Bold"/>
                  <a:ea typeface="Calibri (MS) Bold"/>
                  <a:cs typeface="Calibri (MS) Bold"/>
                  <a:sym typeface="Calibri (MS) Bold"/>
                </a:rPr>
                <a:t>+0.173</a:t>
              </a:r>
            </a:p>
          </p:txBody>
        </p:sp>
      </p:grpSp>
      <p:grpSp>
        <p:nvGrpSpPr>
          <p:cNvPr name="Group 42" id="42"/>
          <p:cNvGrpSpPr/>
          <p:nvPr/>
        </p:nvGrpSpPr>
        <p:grpSpPr>
          <a:xfrm rot="0">
            <a:off x="815816" y="4244816"/>
            <a:ext cx="4952047" cy="905827"/>
            <a:chOff x="0" y="0"/>
            <a:chExt cx="6602730" cy="1207770"/>
          </a:xfrm>
        </p:grpSpPr>
        <p:sp>
          <p:nvSpPr>
            <p:cNvPr name="Freeform 43" id="43"/>
            <p:cNvSpPr/>
            <p:nvPr/>
          </p:nvSpPr>
          <p:spPr>
            <a:xfrm flipH="false" flipV="false" rot="0">
              <a:off x="0" y="0"/>
              <a:ext cx="6602730" cy="1207770"/>
            </a:xfrm>
            <a:custGeom>
              <a:avLst/>
              <a:gdLst/>
              <a:ahLst/>
              <a:cxnLst/>
              <a:rect r="r" b="b" t="t" l="l"/>
              <a:pathLst>
                <a:path h="1207770" w="6602730">
                  <a:moveTo>
                    <a:pt x="0" y="0"/>
                  </a:moveTo>
                  <a:lnTo>
                    <a:pt x="6602730" y="0"/>
                  </a:lnTo>
                  <a:lnTo>
                    <a:pt x="6602730" y="1207770"/>
                  </a:lnTo>
                  <a:lnTo>
                    <a:pt x="0" y="1207770"/>
                  </a:lnTo>
                  <a:close/>
                </a:path>
              </a:pathLst>
            </a:custGeom>
            <a:solidFill>
              <a:srgbClr val="F7F8FC"/>
            </a:solidFill>
            <a:ln w="14288" cap="sq">
              <a:solidFill>
                <a:srgbClr val="E3E6F0"/>
              </a:solidFill>
              <a:prstDash val="solid"/>
              <a:miter/>
            </a:ln>
          </p:spPr>
        </p:sp>
      </p:grpSp>
      <p:grpSp>
        <p:nvGrpSpPr>
          <p:cNvPr name="Group 44" id="44"/>
          <p:cNvGrpSpPr/>
          <p:nvPr/>
        </p:nvGrpSpPr>
        <p:grpSpPr>
          <a:xfrm rot="0">
            <a:off x="822960" y="4251960"/>
            <a:ext cx="4937760" cy="891540"/>
            <a:chOff x="0" y="0"/>
            <a:chExt cx="6583680" cy="1188720"/>
          </a:xfrm>
        </p:grpSpPr>
        <p:sp>
          <p:nvSpPr>
            <p:cNvPr name="Freeform 45" id="45"/>
            <p:cNvSpPr/>
            <p:nvPr/>
          </p:nvSpPr>
          <p:spPr>
            <a:xfrm flipH="false" flipV="false" rot="0">
              <a:off x="0" y="0"/>
              <a:ext cx="6583680" cy="1188720"/>
            </a:xfrm>
            <a:custGeom>
              <a:avLst/>
              <a:gdLst/>
              <a:ahLst/>
              <a:cxnLst/>
              <a:rect r="r" b="b" t="t" l="l"/>
              <a:pathLst>
                <a:path h="1188720" w="6583680">
                  <a:moveTo>
                    <a:pt x="0" y="0"/>
                  </a:moveTo>
                  <a:lnTo>
                    <a:pt x="6583680" y="0"/>
                  </a:lnTo>
                  <a:lnTo>
                    <a:pt x="6583680" y="1188720"/>
                  </a:lnTo>
                  <a:lnTo>
                    <a:pt x="0" y="1188720"/>
                  </a:lnTo>
                  <a:close/>
                </a:path>
              </a:pathLst>
            </a:custGeom>
            <a:blipFill>
              <a:blip r:embed="rId2">
                <a:alphaModFix amt="0"/>
              </a:blip>
              <a:stretch>
                <a:fillRect l="0" t="-57917" r="0" b="-57917"/>
              </a:stretch>
            </a:blipFill>
          </p:spPr>
        </p:sp>
        <p:sp>
          <p:nvSpPr>
            <p:cNvPr name="TextBox 46" id="46"/>
            <p:cNvSpPr txBox="true"/>
            <p:nvPr/>
          </p:nvSpPr>
          <p:spPr>
            <a:xfrm>
              <a:off x="0" y="-47625"/>
              <a:ext cx="6583680" cy="1236345"/>
            </a:xfrm>
            <a:prstGeom prst="rect">
              <a:avLst/>
            </a:prstGeom>
          </p:spPr>
          <p:txBody>
            <a:bodyPr anchor="ctr" rtlCol="false" tIns="0" lIns="0" bIns="0" rIns="0"/>
            <a:lstStyle/>
            <a:p>
              <a:pPr algn="l">
                <a:lnSpc>
                  <a:spcPts val="2340"/>
                </a:lnSpc>
              </a:pPr>
              <a:r>
                <a:rPr lang="en-US" sz="1950" b="true">
                  <a:solidFill>
                    <a:srgbClr val="0E1220"/>
                  </a:solidFill>
                  <a:latin typeface="Calibri (MS) Bold"/>
                  <a:ea typeface="Calibri (MS) Bold"/>
                  <a:cs typeface="Calibri (MS) Bold"/>
                  <a:sym typeface="Calibri (MS) Bold"/>
                </a:rPr>
                <a:t>AutoML</a:t>
              </a:r>
            </a:p>
          </p:txBody>
        </p:sp>
      </p:grpSp>
      <p:grpSp>
        <p:nvGrpSpPr>
          <p:cNvPr name="Group 47" id="47"/>
          <p:cNvGrpSpPr/>
          <p:nvPr/>
        </p:nvGrpSpPr>
        <p:grpSpPr>
          <a:xfrm rot="0">
            <a:off x="5753576" y="4244816"/>
            <a:ext cx="4129088" cy="905827"/>
            <a:chOff x="0" y="0"/>
            <a:chExt cx="5505450" cy="1207770"/>
          </a:xfrm>
        </p:grpSpPr>
        <p:sp>
          <p:nvSpPr>
            <p:cNvPr name="Freeform 48" id="48"/>
            <p:cNvSpPr/>
            <p:nvPr/>
          </p:nvSpPr>
          <p:spPr>
            <a:xfrm flipH="false" flipV="false" rot="0">
              <a:off x="0" y="0"/>
              <a:ext cx="5505450" cy="1207770"/>
            </a:xfrm>
            <a:custGeom>
              <a:avLst/>
              <a:gdLst/>
              <a:ahLst/>
              <a:cxnLst/>
              <a:rect r="r" b="b" t="t" l="l"/>
              <a:pathLst>
                <a:path h="1207770" w="5505450">
                  <a:moveTo>
                    <a:pt x="0" y="0"/>
                  </a:moveTo>
                  <a:lnTo>
                    <a:pt x="5505450" y="0"/>
                  </a:lnTo>
                  <a:lnTo>
                    <a:pt x="5505450" y="1207770"/>
                  </a:lnTo>
                  <a:lnTo>
                    <a:pt x="0" y="1207770"/>
                  </a:lnTo>
                  <a:close/>
                </a:path>
              </a:pathLst>
            </a:custGeom>
            <a:solidFill>
              <a:srgbClr val="F7F8FC"/>
            </a:solidFill>
            <a:ln w="14288" cap="sq">
              <a:solidFill>
                <a:srgbClr val="E3E6F0"/>
              </a:solidFill>
              <a:prstDash val="solid"/>
              <a:miter/>
            </a:ln>
          </p:spPr>
        </p:sp>
      </p:grpSp>
      <p:grpSp>
        <p:nvGrpSpPr>
          <p:cNvPr name="Group 49" id="49"/>
          <p:cNvGrpSpPr/>
          <p:nvPr/>
        </p:nvGrpSpPr>
        <p:grpSpPr>
          <a:xfrm rot="0">
            <a:off x="5760720" y="4251960"/>
            <a:ext cx="4114800" cy="891540"/>
            <a:chOff x="0" y="0"/>
            <a:chExt cx="5486400" cy="1188720"/>
          </a:xfrm>
        </p:grpSpPr>
        <p:sp>
          <p:nvSpPr>
            <p:cNvPr name="Freeform 50" id="50"/>
            <p:cNvSpPr/>
            <p:nvPr/>
          </p:nvSpPr>
          <p:spPr>
            <a:xfrm flipH="false" flipV="false" rot="0">
              <a:off x="0" y="0"/>
              <a:ext cx="5486400" cy="1188720"/>
            </a:xfrm>
            <a:custGeom>
              <a:avLst/>
              <a:gdLst/>
              <a:ahLst/>
              <a:cxnLst/>
              <a:rect r="r" b="b" t="t" l="l"/>
              <a:pathLst>
                <a:path h="1188720" w="5486400">
                  <a:moveTo>
                    <a:pt x="0" y="0"/>
                  </a:moveTo>
                  <a:lnTo>
                    <a:pt x="5486400" y="0"/>
                  </a:lnTo>
                  <a:lnTo>
                    <a:pt x="5486400" y="1188720"/>
                  </a:lnTo>
                  <a:lnTo>
                    <a:pt x="0" y="1188720"/>
                  </a:lnTo>
                  <a:close/>
                </a:path>
              </a:pathLst>
            </a:custGeom>
            <a:blipFill>
              <a:blip r:embed="rId2">
                <a:alphaModFix amt="0"/>
              </a:blip>
              <a:stretch>
                <a:fillRect l="0" t="-39930" r="0" b="-39930"/>
              </a:stretch>
            </a:blipFill>
          </p:spPr>
        </p:sp>
        <p:sp>
          <p:nvSpPr>
            <p:cNvPr name="TextBox 51" id="51"/>
            <p:cNvSpPr txBox="true"/>
            <p:nvPr/>
          </p:nvSpPr>
          <p:spPr>
            <a:xfrm>
              <a:off x="0" y="-47625"/>
              <a:ext cx="5486400" cy="1236345"/>
            </a:xfrm>
            <a:prstGeom prst="rect">
              <a:avLst/>
            </a:prstGeom>
          </p:spPr>
          <p:txBody>
            <a:bodyPr anchor="ctr" rtlCol="false" tIns="0" lIns="0" bIns="0" rIns="0"/>
            <a:lstStyle/>
            <a:p>
              <a:pPr algn="ctr">
                <a:lnSpc>
                  <a:spcPts val="2340"/>
                </a:lnSpc>
              </a:pPr>
              <a:r>
                <a:rPr lang="en-US" sz="1950">
                  <a:solidFill>
                    <a:srgbClr val="0E1220"/>
                  </a:solidFill>
                  <a:latin typeface="Calibri (MS)"/>
                  <a:ea typeface="Calibri (MS)"/>
                  <a:cs typeface="Calibri (MS)"/>
                  <a:sym typeface="Calibri (MS)"/>
                </a:rPr>
                <a:t>0.885</a:t>
              </a:r>
            </a:p>
          </p:txBody>
        </p:sp>
      </p:grpSp>
      <p:grpSp>
        <p:nvGrpSpPr>
          <p:cNvPr name="Group 52" id="52"/>
          <p:cNvGrpSpPr/>
          <p:nvPr/>
        </p:nvGrpSpPr>
        <p:grpSpPr>
          <a:xfrm rot="0">
            <a:off x="9868376" y="4244816"/>
            <a:ext cx="4814888" cy="905827"/>
            <a:chOff x="0" y="0"/>
            <a:chExt cx="6419850" cy="1207770"/>
          </a:xfrm>
        </p:grpSpPr>
        <p:sp>
          <p:nvSpPr>
            <p:cNvPr name="Freeform 53" id="53"/>
            <p:cNvSpPr/>
            <p:nvPr/>
          </p:nvSpPr>
          <p:spPr>
            <a:xfrm flipH="false" flipV="false" rot="0">
              <a:off x="0" y="0"/>
              <a:ext cx="6419850" cy="1207770"/>
            </a:xfrm>
            <a:custGeom>
              <a:avLst/>
              <a:gdLst/>
              <a:ahLst/>
              <a:cxnLst/>
              <a:rect r="r" b="b" t="t" l="l"/>
              <a:pathLst>
                <a:path h="1207770" w="6419850">
                  <a:moveTo>
                    <a:pt x="0" y="0"/>
                  </a:moveTo>
                  <a:lnTo>
                    <a:pt x="6419850" y="0"/>
                  </a:lnTo>
                  <a:lnTo>
                    <a:pt x="6419850" y="1207770"/>
                  </a:lnTo>
                  <a:lnTo>
                    <a:pt x="0" y="1207770"/>
                  </a:lnTo>
                  <a:close/>
                </a:path>
              </a:pathLst>
            </a:custGeom>
            <a:solidFill>
              <a:srgbClr val="F7F8FC"/>
            </a:solidFill>
            <a:ln w="14288" cap="sq">
              <a:solidFill>
                <a:srgbClr val="E3E6F0"/>
              </a:solidFill>
              <a:prstDash val="solid"/>
              <a:miter/>
            </a:ln>
          </p:spPr>
        </p:sp>
      </p:grpSp>
      <p:grpSp>
        <p:nvGrpSpPr>
          <p:cNvPr name="Group 54" id="54"/>
          <p:cNvGrpSpPr/>
          <p:nvPr/>
        </p:nvGrpSpPr>
        <p:grpSpPr>
          <a:xfrm rot="0">
            <a:off x="9875520" y="4251960"/>
            <a:ext cx="4800600" cy="891540"/>
            <a:chOff x="0" y="0"/>
            <a:chExt cx="6400800" cy="1188720"/>
          </a:xfrm>
        </p:grpSpPr>
        <p:sp>
          <p:nvSpPr>
            <p:cNvPr name="Freeform 55" id="55"/>
            <p:cNvSpPr/>
            <p:nvPr/>
          </p:nvSpPr>
          <p:spPr>
            <a:xfrm flipH="false" flipV="false" rot="0">
              <a:off x="0" y="0"/>
              <a:ext cx="6400800" cy="1188720"/>
            </a:xfrm>
            <a:custGeom>
              <a:avLst/>
              <a:gdLst/>
              <a:ahLst/>
              <a:cxnLst/>
              <a:rect r="r" b="b" t="t" l="l"/>
              <a:pathLst>
                <a:path h="1188720" w="6400800">
                  <a:moveTo>
                    <a:pt x="0" y="0"/>
                  </a:moveTo>
                  <a:lnTo>
                    <a:pt x="6400800" y="0"/>
                  </a:lnTo>
                  <a:lnTo>
                    <a:pt x="6400800" y="1188720"/>
                  </a:lnTo>
                  <a:lnTo>
                    <a:pt x="0" y="1188720"/>
                  </a:lnTo>
                  <a:close/>
                </a:path>
              </a:pathLst>
            </a:custGeom>
            <a:blipFill>
              <a:blip r:embed="rId2">
                <a:alphaModFix amt="0"/>
              </a:blip>
              <a:stretch>
                <a:fillRect l="0" t="-54919" r="0" b="-54919"/>
              </a:stretch>
            </a:blipFill>
          </p:spPr>
        </p:sp>
        <p:sp>
          <p:nvSpPr>
            <p:cNvPr name="TextBox 56" id="56"/>
            <p:cNvSpPr txBox="true"/>
            <p:nvPr/>
          </p:nvSpPr>
          <p:spPr>
            <a:xfrm>
              <a:off x="0" y="-47625"/>
              <a:ext cx="6400800" cy="1236345"/>
            </a:xfrm>
            <a:prstGeom prst="rect">
              <a:avLst/>
            </a:prstGeom>
          </p:spPr>
          <p:txBody>
            <a:bodyPr anchor="ctr" rtlCol="false" tIns="0" lIns="0" bIns="0" rIns="0"/>
            <a:lstStyle/>
            <a:p>
              <a:pPr algn="ctr">
                <a:lnSpc>
                  <a:spcPts val="2340"/>
                </a:lnSpc>
              </a:pPr>
              <a:r>
                <a:rPr lang="en-US" sz="1950">
                  <a:solidFill>
                    <a:srgbClr val="0E1220"/>
                  </a:solidFill>
                  <a:latin typeface="Calibri (MS)"/>
                  <a:ea typeface="Calibri (MS)"/>
                  <a:cs typeface="Calibri (MS)"/>
                  <a:sym typeface="Calibri (MS)"/>
                </a:rPr>
                <a:t>0.906</a:t>
              </a:r>
            </a:p>
          </p:txBody>
        </p:sp>
      </p:grpSp>
      <p:grpSp>
        <p:nvGrpSpPr>
          <p:cNvPr name="Group 57" id="57"/>
          <p:cNvGrpSpPr/>
          <p:nvPr/>
        </p:nvGrpSpPr>
        <p:grpSpPr>
          <a:xfrm rot="0">
            <a:off x="14668976" y="4244816"/>
            <a:ext cx="2757488" cy="905827"/>
            <a:chOff x="0" y="0"/>
            <a:chExt cx="3676650" cy="1207770"/>
          </a:xfrm>
        </p:grpSpPr>
        <p:sp>
          <p:nvSpPr>
            <p:cNvPr name="Freeform 58" id="58"/>
            <p:cNvSpPr/>
            <p:nvPr/>
          </p:nvSpPr>
          <p:spPr>
            <a:xfrm flipH="false" flipV="false" rot="0">
              <a:off x="0" y="0"/>
              <a:ext cx="3676650" cy="1207770"/>
            </a:xfrm>
            <a:custGeom>
              <a:avLst/>
              <a:gdLst/>
              <a:ahLst/>
              <a:cxnLst/>
              <a:rect r="r" b="b" t="t" l="l"/>
              <a:pathLst>
                <a:path h="1207770" w="3676650">
                  <a:moveTo>
                    <a:pt x="0" y="0"/>
                  </a:moveTo>
                  <a:lnTo>
                    <a:pt x="3676650" y="0"/>
                  </a:lnTo>
                  <a:lnTo>
                    <a:pt x="3676650" y="1207770"/>
                  </a:lnTo>
                  <a:lnTo>
                    <a:pt x="0" y="1207770"/>
                  </a:lnTo>
                  <a:close/>
                </a:path>
              </a:pathLst>
            </a:custGeom>
            <a:solidFill>
              <a:srgbClr val="F7F8FC"/>
            </a:solidFill>
            <a:ln w="14288" cap="sq">
              <a:solidFill>
                <a:srgbClr val="E3E6F0"/>
              </a:solidFill>
              <a:prstDash val="solid"/>
              <a:miter/>
            </a:ln>
          </p:spPr>
        </p:sp>
      </p:grpSp>
      <p:grpSp>
        <p:nvGrpSpPr>
          <p:cNvPr name="Group 59" id="59"/>
          <p:cNvGrpSpPr/>
          <p:nvPr/>
        </p:nvGrpSpPr>
        <p:grpSpPr>
          <a:xfrm rot="0">
            <a:off x="14676120" y="4251960"/>
            <a:ext cx="2743200" cy="891540"/>
            <a:chOff x="0" y="0"/>
            <a:chExt cx="3657600" cy="1188720"/>
          </a:xfrm>
        </p:grpSpPr>
        <p:sp>
          <p:nvSpPr>
            <p:cNvPr name="Freeform 60" id="60"/>
            <p:cNvSpPr/>
            <p:nvPr/>
          </p:nvSpPr>
          <p:spPr>
            <a:xfrm flipH="false" flipV="false" rot="0">
              <a:off x="0" y="0"/>
              <a:ext cx="3657600" cy="1188720"/>
            </a:xfrm>
            <a:custGeom>
              <a:avLst/>
              <a:gdLst/>
              <a:ahLst/>
              <a:cxnLst/>
              <a:rect r="r" b="b" t="t" l="l"/>
              <a:pathLst>
                <a:path h="1188720" w="3657600">
                  <a:moveTo>
                    <a:pt x="0" y="0"/>
                  </a:moveTo>
                  <a:lnTo>
                    <a:pt x="3657600" y="0"/>
                  </a:lnTo>
                  <a:lnTo>
                    <a:pt x="3657600" y="1188720"/>
                  </a:lnTo>
                  <a:lnTo>
                    <a:pt x="0" y="1188720"/>
                  </a:lnTo>
                  <a:close/>
                </a:path>
              </a:pathLst>
            </a:custGeom>
            <a:blipFill>
              <a:blip r:embed="rId2">
                <a:alphaModFix amt="0"/>
              </a:blip>
              <a:stretch>
                <a:fillRect l="0" t="-9953" r="0" b="-9953"/>
              </a:stretch>
            </a:blipFill>
          </p:spPr>
        </p:sp>
        <p:sp>
          <p:nvSpPr>
            <p:cNvPr name="TextBox 61" id="61"/>
            <p:cNvSpPr txBox="true"/>
            <p:nvPr/>
          </p:nvSpPr>
          <p:spPr>
            <a:xfrm>
              <a:off x="0" y="-47625"/>
              <a:ext cx="3657600" cy="1236345"/>
            </a:xfrm>
            <a:prstGeom prst="rect">
              <a:avLst/>
            </a:prstGeom>
          </p:spPr>
          <p:txBody>
            <a:bodyPr anchor="ctr" rtlCol="false" tIns="0" lIns="0" bIns="0" rIns="0"/>
            <a:lstStyle/>
            <a:p>
              <a:pPr algn="ctr">
                <a:lnSpc>
                  <a:spcPts val="2340"/>
                </a:lnSpc>
              </a:pPr>
              <a:r>
                <a:rPr lang="en-US" sz="1950" b="true">
                  <a:solidFill>
                    <a:srgbClr val="00D1B2"/>
                  </a:solidFill>
                  <a:latin typeface="Calibri (MS) Bold"/>
                  <a:ea typeface="Calibri (MS) Bold"/>
                  <a:cs typeface="Calibri (MS) Bold"/>
                  <a:sym typeface="Calibri (MS) Bold"/>
                </a:rPr>
                <a:t>+0.021</a:t>
              </a:r>
            </a:p>
          </p:txBody>
        </p:sp>
      </p:grpSp>
      <p:grpSp>
        <p:nvGrpSpPr>
          <p:cNvPr name="Group 62" id="62"/>
          <p:cNvGrpSpPr/>
          <p:nvPr/>
        </p:nvGrpSpPr>
        <p:grpSpPr>
          <a:xfrm rot="0">
            <a:off x="815816" y="5136356"/>
            <a:ext cx="4952047" cy="905827"/>
            <a:chOff x="0" y="0"/>
            <a:chExt cx="6602730" cy="1207770"/>
          </a:xfrm>
        </p:grpSpPr>
        <p:sp>
          <p:nvSpPr>
            <p:cNvPr name="Freeform 63" id="63"/>
            <p:cNvSpPr/>
            <p:nvPr/>
          </p:nvSpPr>
          <p:spPr>
            <a:xfrm flipH="false" flipV="false" rot="0">
              <a:off x="0" y="0"/>
              <a:ext cx="6602730" cy="1207770"/>
            </a:xfrm>
            <a:custGeom>
              <a:avLst/>
              <a:gdLst/>
              <a:ahLst/>
              <a:cxnLst/>
              <a:rect r="r" b="b" t="t" l="l"/>
              <a:pathLst>
                <a:path h="1207770" w="6602730">
                  <a:moveTo>
                    <a:pt x="0" y="0"/>
                  </a:moveTo>
                  <a:lnTo>
                    <a:pt x="6602730" y="0"/>
                  </a:lnTo>
                  <a:lnTo>
                    <a:pt x="6602730" y="1207770"/>
                  </a:lnTo>
                  <a:lnTo>
                    <a:pt x="0" y="1207770"/>
                  </a:lnTo>
                  <a:close/>
                </a:path>
              </a:pathLst>
            </a:custGeom>
            <a:solidFill>
              <a:srgbClr val="FFFFFF"/>
            </a:solidFill>
            <a:ln w="14288" cap="sq">
              <a:solidFill>
                <a:srgbClr val="E3E6F0"/>
              </a:solidFill>
              <a:prstDash val="solid"/>
              <a:miter/>
            </a:ln>
          </p:spPr>
        </p:sp>
      </p:grpSp>
      <p:grpSp>
        <p:nvGrpSpPr>
          <p:cNvPr name="Group 64" id="64"/>
          <p:cNvGrpSpPr/>
          <p:nvPr/>
        </p:nvGrpSpPr>
        <p:grpSpPr>
          <a:xfrm rot="0">
            <a:off x="822960" y="5143500"/>
            <a:ext cx="4937760" cy="891540"/>
            <a:chOff x="0" y="0"/>
            <a:chExt cx="6583680" cy="1188720"/>
          </a:xfrm>
        </p:grpSpPr>
        <p:sp>
          <p:nvSpPr>
            <p:cNvPr name="Freeform 65" id="65"/>
            <p:cNvSpPr/>
            <p:nvPr/>
          </p:nvSpPr>
          <p:spPr>
            <a:xfrm flipH="false" flipV="false" rot="0">
              <a:off x="0" y="0"/>
              <a:ext cx="6583680" cy="1188720"/>
            </a:xfrm>
            <a:custGeom>
              <a:avLst/>
              <a:gdLst/>
              <a:ahLst/>
              <a:cxnLst/>
              <a:rect r="r" b="b" t="t" l="l"/>
              <a:pathLst>
                <a:path h="1188720" w="6583680">
                  <a:moveTo>
                    <a:pt x="0" y="0"/>
                  </a:moveTo>
                  <a:lnTo>
                    <a:pt x="6583680" y="0"/>
                  </a:lnTo>
                  <a:lnTo>
                    <a:pt x="6583680" y="1188720"/>
                  </a:lnTo>
                  <a:lnTo>
                    <a:pt x="0" y="1188720"/>
                  </a:lnTo>
                  <a:close/>
                </a:path>
              </a:pathLst>
            </a:custGeom>
            <a:blipFill>
              <a:blip r:embed="rId2">
                <a:alphaModFix amt="0"/>
              </a:blip>
              <a:stretch>
                <a:fillRect l="0" t="-57917" r="0" b="-57917"/>
              </a:stretch>
            </a:blipFill>
          </p:spPr>
        </p:sp>
        <p:sp>
          <p:nvSpPr>
            <p:cNvPr name="TextBox 66" id="66"/>
            <p:cNvSpPr txBox="true"/>
            <p:nvPr/>
          </p:nvSpPr>
          <p:spPr>
            <a:xfrm>
              <a:off x="0" y="-47625"/>
              <a:ext cx="6583680" cy="1236345"/>
            </a:xfrm>
            <a:prstGeom prst="rect">
              <a:avLst/>
            </a:prstGeom>
          </p:spPr>
          <p:txBody>
            <a:bodyPr anchor="ctr" rtlCol="false" tIns="0" lIns="0" bIns="0" rIns="0"/>
            <a:lstStyle/>
            <a:p>
              <a:pPr algn="l">
                <a:lnSpc>
                  <a:spcPts val="2340"/>
                </a:lnSpc>
              </a:pPr>
              <a:r>
                <a:rPr lang="en-US" sz="1950" b="true">
                  <a:solidFill>
                    <a:srgbClr val="0E1220"/>
                  </a:solidFill>
                  <a:latin typeface="Calibri (MS) Bold"/>
                  <a:ea typeface="Calibri (MS) Bold"/>
                  <a:cs typeface="Calibri (MS) Bold"/>
                  <a:sym typeface="Calibri (MS) Bold"/>
                </a:rPr>
                <a:t>DNN + NAS</a:t>
              </a:r>
            </a:p>
          </p:txBody>
        </p:sp>
      </p:grpSp>
      <p:grpSp>
        <p:nvGrpSpPr>
          <p:cNvPr name="Group 67" id="67"/>
          <p:cNvGrpSpPr/>
          <p:nvPr/>
        </p:nvGrpSpPr>
        <p:grpSpPr>
          <a:xfrm rot="0">
            <a:off x="5753576" y="5136356"/>
            <a:ext cx="4129088" cy="905827"/>
            <a:chOff x="0" y="0"/>
            <a:chExt cx="5505450" cy="1207770"/>
          </a:xfrm>
        </p:grpSpPr>
        <p:sp>
          <p:nvSpPr>
            <p:cNvPr name="Freeform 68" id="68"/>
            <p:cNvSpPr/>
            <p:nvPr/>
          </p:nvSpPr>
          <p:spPr>
            <a:xfrm flipH="false" flipV="false" rot="0">
              <a:off x="0" y="0"/>
              <a:ext cx="5505450" cy="1207770"/>
            </a:xfrm>
            <a:custGeom>
              <a:avLst/>
              <a:gdLst/>
              <a:ahLst/>
              <a:cxnLst/>
              <a:rect r="r" b="b" t="t" l="l"/>
              <a:pathLst>
                <a:path h="1207770" w="5505450">
                  <a:moveTo>
                    <a:pt x="0" y="0"/>
                  </a:moveTo>
                  <a:lnTo>
                    <a:pt x="5505450" y="0"/>
                  </a:lnTo>
                  <a:lnTo>
                    <a:pt x="5505450" y="1207770"/>
                  </a:lnTo>
                  <a:lnTo>
                    <a:pt x="0" y="1207770"/>
                  </a:lnTo>
                  <a:close/>
                </a:path>
              </a:pathLst>
            </a:custGeom>
            <a:solidFill>
              <a:srgbClr val="FFFFFF"/>
            </a:solidFill>
            <a:ln w="14288" cap="sq">
              <a:solidFill>
                <a:srgbClr val="E3E6F0"/>
              </a:solidFill>
              <a:prstDash val="solid"/>
              <a:miter/>
            </a:ln>
          </p:spPr>
        </p:sp>
      </p:grpSp>
      <p:grpSp>
        <p:nvGrpSpPr>
          <p:cNvPr name="Group 69" id="69"/>
          <p:cNvGrpSpPr/>
          <p:nvPr/>
        </p:nvGrpSpPr>
        <p:grpSpPr>
          <a:xfrm rot="0">
            <a:off x="5760720" y="5143500"/>
            <a:ext cx="4114800" cy="891540"/>
            <a:chOff x="0" y="0"/>
            <a:chExt cx="5486400" cy="1188720"/>
          </a:xfrm>
        </p:grpSpPr>
        <p:sp>
          <p:nvSpPr>
            <p:cNvPr name="Freeform 70" id="70"/>
            <p:cNvSpPr/>
            <p:nvPr/>
          </p:nvSpPr>
          <p:spPr>
            <a:xfrm flipH="false" flipV="false" rot="0">
              <a:off x="0" y="0"/>
              <a:ext cx="5486400" cy="1188720"/>
            </a:xfrm>
            <a:custGeom>
              <a:avLst/>
              <a:gdLst/>
              <a:ahLst/>
              <a:cxnLst/>
              <a:rect r="r" b="b" t="t" l="l"/>
              <a:pathLst>
                <a:path h="1188720" w="5486400">
                  <a:moveTo>
                    <a:pt x="0" y="0"/>
                  </a:moveTo>
                  <a:lnTo>
                    <a:pt x="5486400" y="0"/>
                  </a:lnTo>
                  <a:lnTo>
                    <a:pt x="5486400" y="1188720"/>
                  </a:lnTo>
                  <a:lnTo>
                    <a:pt x="0" y="1188720"/>
                  </a:lnTo>
                  <a:close/>
                </a:path>
              </a:pathLst>
            </a:custGeom>
            <a:blipFill>
              <a:blip r:embed="rId2">
                <a:alphaModFix amt="0"/>
              </a:blip>
              <a:stretch>
                <a:fillRect l="0" t="-39930" r="0" b="-39930"/>
              </a:stretch>
            </a:blipFill>
          </p:spPr>
        </p:sp>
        <p:sp>
          <p:nvSpPr>
            <p:cNvPr name="TextBox 71" id="71"/>
            <p:cNvSpPr txBox="true"/>
            <p:nvPr/>
          </p:nvSpPr>
          <p:spPr>
            <a:xfrm>
              <a:off x="0" y="-47625"/>
              <a:ext cx="5486400" cy="1236345"/>
            </a:xfrm>
            <a:prstGeom prst="rect">
              <a:avLst/>
            </a:prstGeom>
          </p:spPr>
          <p:txBody>
            <a:bodyPr anchor="ctr" rtlCol="false" tIns="0" lIns="0" bIns="0" rIns="0"/>
            <a:lstStyle/>
            <a:p>
              <a:pPr algn="ctr">
                <a:lnSpc>
                  <a:spcPts val="2340"/>
                </a:lnSpc>
              </a:pPr>
              <a:r>
                <a:rPr lang="en-US" sz="1950">
                  <a:solidFill>
                    <a:srgbClr val="0E1220"/>
                  </a:solidFill>
                  <a:latin typeface="Calibri (MS)"/>
                  <a:ea typeface="Calibri (MS)"/>
                  <a:cs typeface="Calibri (MS)"/>
                  <a:sym typeface="Calibri (MS)"/>
                </a:rPr>
                <a:t>0.765</a:t>
              </a:r>
            </a:p>
          </p:txBody>
        </p:sp>
      </p:grpSp>
      <p:grpSp>
        <p:nvGrpSpPr>
          <p:cNvPr name="Group 72" id="72"/>
          <p:cNvGrpSpPr/>
          <p:nvPr/>
        </p:nvGrpSpPr>
        <p:grpSpPr>
          <a:xfrm rot="0">
            <a:off x="9868376" y="5136356"/>
            <a:ext cx="4814888" cy="905827"/>
            <a:chOff x="0" y="0"/>
            <a:chExt cx="6419850" cy="1207770"/>
          </a:xfrm>
        </p:grpSpPr>
        <p:sp>
          <p:nvSpPr>
            <p:cNvPr name="Freeform 73" id="73"/>
            <p:cNvSpPr/>
            <p:nvPr/>
          </p:nvSpPr>
          <p:spPr>
            <a:xfrm flipH="false" flipV="false" rot="0">
              <a:off x="0" y="0"/>
              <a:ext cx="6419850" cy="1207770"/>
            </a:xfrm>
            <a:custGeom>
              <a:avLst/>
              <a:gdLst/>
              <a:ahLst/>
              <a:cxnLst/>
              <a:rect r="r" b="b" t="t" l="l"/>
              <a:pathLst>
                <a:path h="1207770" w="6419850">
                  <a:moveTo>
                    <a:pt x="0" y="0"/>
                  </a:moveTo>
                  <a:lnTo>
                    <a:pt x="6419850" y="0"/>
                  </a:lnTo>
                  <a:lnTo>
                    <a:pt x="6419850" y="1207770"/>
                  </a:lnTo>
                  <a:lnTo>
                    <a:pt x="0" y="1207770"/>
                  </a:lnTo>
                  <a:close/>
                </a:path>
              </a:pathLst>
            </a:custGeom>
            <a:solidFill>
              <a:srgbClr val="FFFFFF"/>
            </a:solidFill>
            <a:ln w="14288" cap="sq">
              <a:solidFill>
                <a:srgbClr val="E3E6F0"/>
              </a:solidFill>
              <a:prstDash val="solid"/>
              <a:miter/>
            </a:ln>
          </p:spPr>
        </p:sp>
      </p:grpSp>
      <p:grpSp>
        <p:nvGrpSpPr>
          <p:cNvPr name="Group 74" id="74"/>
          <p:cNvGrpSpPr/>
          <p:nvPr/>
        </p:nvGrpSpPr>
        <p:grpSpPr>
          <a:xfrm rot="0">
            <a:off x="9875520" y="5143500"/>
            <a:ext cx="4800600" cy="891540"/>
            <a:chOff x="0" y="0"/>
            <a:chExt cx="6400800" cy="1188720"/>
          </a:xfrm>
        </p:grpSpPr>
        <p:sp>
          <p:nvSpPr>
            <p:cNvPr name="Freeform 75" id="75"/>
            <p:cNvSpPr/>
            <p:nvPr/>
          </p:nvSpPr>
          <p:spPr>
            <a:xfrm flipH="false" flipV="false" rot="0">
              <a:off x="0" y="0"/>
              <a:ext cx="6400800" cy="1188720"/>
            </a:xfrm>
            <a:custGeom>
              <a:avLst/>
              <a:gdLst/>
              <a:ahLst/>
              <a:cxnLst/>
              <a:rect r="r" b="b" t="t" l="l"/>
              <a:pathLst>
                <a:path h="1188720" w="6400800">
                  <a:moveTo>
                    <a:pt x="0" y="0"/>
                  </a:moveTo>
                  <a:lnTo>
                    <a:pt x="6400800" y="0"/>
                  </a:lnTo>
                  <a:lnTo>
                    <a:pt x="6400800" y="1188720"/>
                  </a:lnTo>
                  <a:lnTo>
                    <a:pt x="0" y="1188720"/>
                  </a:lnTo>
                  <a:close/>
                </a:path>
              </a:pathLst>
            </a:custGeom>
            <a:blipFill>
              <a:blip r:embed="rId2">
                <a:alphaModFix amt="0"/>
              </a:blip>
              <a:stretch>
                <a:fillRect l="0" t="-54919" r="0" b="-54919"/>
              </a:stretch>
            </a:blipFill>
          </p:spPr>
        </p:sp>
        <p:sp>
          <p:nvSpPr>
            <p:cNvPr name="TextBox 76" id="76"/>
            <p:cNvSpPr txBox="true"/>
            <p:nvPr/>
          </p:nvSpPr>
          <p:spPr>
            <a:xfrm>
              <a:off x="0" y="-47625"/>
              <a:ext cx="6400800" cy="1236345"/>
            </a:xfrm>
            <a:prstGeom prst="rect">
              <a:avLst/>
            </a:prstGeom>
          </p:spPr>
          <p:txBody>
            <a:bodyPr anchor="ctr" rtlCol="false" tIns="0" lIns="0" bIns="0" rIns="0"/>
            <a:lstStyle/>
            <a:p>
              <a:pPr algn="ctr">
                <a:lnSpc>
                  <a:spcPts val="2340"/>
                </a:lnSpc>
              </a:pPr>
              <a:r>
                <a:rPr lang="en-US" sz="1950">
                  <a:solidFill>
                    <a:srgbClr val="0E1220"/>
                  </a:solidFill>
                  <a:latin typeface="Calibri (MS)"/>
                  <a:ea typeface="Calibri (MS)"/>
                  <a:cs typeface="Calibri (MS)"/>
                  <a:sym typeface="Calibri (MS)"/>
                </a:rPr>
                <a:t>0.799</a:t>
              </a:r>
            </a:p>
          </p:txBody>
        </p:sp>
      </p:grpSp>
      <p:grpSp>
        <p:nvGrpSpPr>
          <p:cNvPr name="Group 77" id="77"/>
          <p:cNvGrpSpPr/>
          <p:nvPr/>
        </p:nvGrpSpPr>
        <p:grpSpPr>
          <a:xfrm rot="0">
            <a:off x="14668976" y="5136356"/>
            <a:ext cx="2757488" cy="905827"/>
            <a:chOff x="0" y="0"/>
            <a:chExt cx="3676650" cy="1207770"/>
          </a:xfrm>
        </p:grpSpPr>
        <p:sp>
          <p:nvSpPr>
            <p:cNvPr name="Freeform 78" id="78"/>
            <p:cNvSpPr/>
            <p:nvPr/>
          </p:nvSpPr>
          <p:spPr>
            <a:xfrm flipH="false" flipV="false" rot="0">
              <a:off x="0" y="0"/>
              <a:ext cx="3676650" cy="1207770"/>
            </a:xfrm>
            <a:custGeom>
              <a:avLst/>
              <a:gdLst/>
              <a:ahLst/>
              <a:cxnLst/>
              <a:rect r="r" b="b" t="t" l="l"/>
              <a:pathLst>
                <a:path h="1207770" w="3676650">
                  <a:moveTo>
                    <a:pt x="0" y="0"/>
                  </a:moveTo>
                  <a:lnTo>
                    <a:pt x="3676650" y="0"/>
                  </a:lnTo>
                  <a:lnTo>
                    <a:pt x="3676650" y="1207770"/>
                  </a:lnTo>
                  <a:lnTo>
                    <a:pt x="0" y="1207770"/>
                  </a:lnTo>
                  <a:close/>
                </a:path>
              </a:pathLst>
            </a:custGeom>
            <a:solidFill>
              <a:srgbClr val="FFFFFF"/>
            </a:solidFill>
            <a:ln w="14288" cap="sq">
              <a:solidFill>
                <a:srgbClr val="E3E6F0"/>
              </a:solidFill>
              <a:prstDash val="solid"/>
              <a:miter/>
            </a:ln>
          </p:spPr>
        </p:sp>
      </p:grpSp>
      <p:grpSp>
        <p:nvGrpSpPr>
          <p:cNvPr name="Group 79" id="79"/>
          <p:cNvGrpSpPr/>
          <p:nvPr/>
        </p:nvGrpSpPr>
        <p:grpSpPr>
          <a:xfrm rot="0">
            <a:off x="14676120" y="5143500"/>
            <a:ext cx="2743200" cy="891540"/>
            <a:chOff x="0" y="0"/>
            <a:chExt cx="3657600" cy="1188720"/>
          </a:xfrm>
        </p:grpSpPr>
        <p:sp>
          <p:nvSpPr>
            <p:cNvPr name="Freeform 80" id="80"/>
            <p:cNvSpPr/>
            <p:nvPr/>
          </p:nvSpPr>
          <p:spPr>
            <a:xfrm flipH="false" flipV="false" rot="0">
              <a:off x="0" y="0"/>
              <a:ext cx="3657600" cy="1188720"/>
            </a:xfrm>
            <a:custGeom>
              <a:avLst/>
              <a:gdLst/>
              <a:ahLst/>
              <a:cxnLst/>
              <a:rect r="r" b="b" t="t" l="l"/>
              <a:pathLst>
                <a:path h="1188720" w="3657600">
                  <a:moveTo>
                    <a:pt x="0" y="0"/>
                  </a:moveTo>
                  <a:lnTo>
                    <a:pt x="3657600" y="0"/>
                  </a:lnTo>
                  <a:lnTo>
                    <a:pt x="3657600" y="1188720"/>
                  </a:lnTo>
                  <a:lnTo>
                    <a:pt x="0" y="1188720"/>
                  </a:lnTo>
                  <a:close/>
                </a:path>
              </a:pathLst>
            </a:custGeom>
            <a:blipFill>
              <a:blip r:embed="rId2">
                <a:alphaModFix amt="0"/>
              </a:blip>
              <a:stretch>
                <a:fillRect l="0" t="-9953" r="0" b="-9953"/>
              </a:stretch>
            </a:blipFill>
          </p:spPr>
        </p:sp>
        <p:sp>
          <p:nvSpPr>
            <p:cNvPr name="TextBox 81" id="81"/>
            <p:cNvSpPr txBox="true"/>
            <p:nvPr/>
          </p:nvSpPr>
          <p:spPr>
            <a:xfrm>
              <a:off x="0" y="-47625"/>
              <a:ext cx="3657600" cy="1236345"/>
            </a:xfrm>
            <a:prstGeom prst="rect">
              <a:avLst/>
            </a:prstGeom>
          </p:spPr>
          <p:txBody>
            <a:bodyPr anchor="ctr" rtlCol="false" tIns="0" lIns="0" bIns="0" rIns="0"/>
            <a:lstStyle/>
            <a:p>
              <a:pPr algn="ctr">
                <a:lnSpc>
                  <a:spcPts val="2340"/>
                </a:lnSpc>
              </a:pPr>
              <a:r>
                <a:rPr lang="en-US" sz="1950" b="true">
                  <a:solidFill>
                    <a:srgbClr val="00D1B2"/>
                  </a:solidFill>
                  <a:latin typeface="Calibri (MS) Bold"/>
                  <a:ea typeface="Calibri (MS) Bold"/>
                  <a:cs typeface="Calibri (MS) Bold"/>
                  <a:sym typeface="Calibri (MS) Bold"/>
                </a:rPr>
                <a:t>+0.035</a:t>
              </a:r>
            </a:p>
          </p:txBody>
        </p:sp>
      </p:grpSp>
      <p:grpSp>
        <p:nvGrpSpPr>
          <p:cNvPr name="Group 82" id="82"/>
          <p:cNvGrpSpPr/>
          <p:nvPr/>
        </p:nvGrpSpPr>
        <p:grpSpPr>
          <a:xfrm rot="0">
            <a:off x="822960" y="6446520"/>
            <a:ext cx="16596360" cy="1371600"/>
            <a:chOff x="0" y="0"/>
            <a:chExt cx="22128480" cy="1828800"/>
          </a:xfrm>
        </p:grpSpPr>
        <p:sp>
          <p:nvSpPr>
            <p:cNvPr name="Freeform 83" id="83"/>
            <p:cNvSpPr/>
            <p:nvPr/>
          </p:nvSpPr>
          <p:spPr>
            <a:xfrm flipH="false" flipV="false" rot="0">
              <a:off x="0" y="0"/>
              <a:ext cx="22128480" cy="1828800"/>
            </a:xfrm>
            <a:custGeom>
              <a:avLst/>
              <a:gdLst/>
              <a:ahLst/>
              <a:cxnLst/>
              <a:rect r="r" b="b" t="t" l="l"/>
              <a:pathLst>
                <a:path h="1828800" w="22128480">
                  <a:moveTo>
                    <a:pt x="0" y="0"/>
                  </a:moveTo>
                  <a:lnTo>
                    <a:pt x="22128480" y="0"/>
                  </a:lnTo>
                  <a:lnTo>
                    <a:pt x="22128480" y="1828800"/>
                  </a:lnTo>
                  <a:lnTo>
                    <a:pt x="0" y="1828800"/>
                  </a:lnTo>
                  <a:close/>
                </a:path>
              </a:pathLst>
            </a:custGeom>
            <a:blipFill>
              <a:blip r:embed="rId2">
                <a:alphaModFix amt="0"/>
              </a:blip>
              <a:stretch>
                <a:fillRect l="0" t="-185768" r="0" b="-185768"/>
              </a:stretch>
            </a:blipFill>
          </p:spPr>
        </p:sp>
        <p:sp>
          <p:nvSpPr>
            <p:cNvPr name="TextBox 84" id="84"/>
            <p:cNvSpPr txBox="true"/>
            <p:nvPr/>
          </p:nvSpPr>
          <p:spPr>
            <a:xfrm>
              <a:off x="0" y="-104775"/>
              <a:ext cx="22128480" cy="1933575"/>
            </a:xfrm>
            <a:prstGeom prst="rect">
              <a:avLst/>
            </a:prstGeom>
          </p:spPr>
          <p:txBody>
            <a:bodyPr anchor="ctr" rtlCol="false" tIns="0" lIns="0" bIns="0" rIns="0"/>
            <a:lstStyle/>
            <a:p>
              <a:pPr algn="l">
                <a:lnSpc>
                  <a:spcPts val="2925"/>
                </a:lnSpc>
              </a:pPr>
              <a:r>
                <a:rPr lang="en-US" sz="1950" b="true">
                  <a:solidFill>
                    <a:srgbClr val="0E1220"/>
                  </a:solidFill>
                  <a:latin typeface="Calibri (MS) Bold"/>
                  <a:ea typeface="Calibri (MS) Bold"/>
                  <a:cs typeface="Calibri (MS) Bold"/>
                  <a:sym typeface="Calibri (MS) Bold"/>
                </a:rPr>
                <a:t>Lectura: </a:t>
              </a:r>
              <a:r>
                <a:rPr lang="en-US" sz="1950">
                  <a:solidFill>
                    <a:srgbClr val="0E1220"/>
                  </a:solidFill>
                  <a:latin typeface="Calibri (MS)"/>
                  <a:ea typeface="Calibri (MS)"/>
                  <a:cs typeface="Calibri (MS)"/>
                  <a:sym typeface="Calibri (MS)"/>
                </a:rPr>
                <a:t>la </a:t>
              </a:r>
              <a:r>
                <a:rPr lang="en-US" sz="1950" b="true">
                  <a:solidFill>
                    <a:srgbClr val="00D1B2"/>
                  </a:solidFill>
                  <a:latin typeface="Calibri (MS) Bold"/>
                  <a:ea typeface="Calibri (MS) Bold"/>
                  <a:cs typeface="Calibri (MS) Bold"/>
                  <a:sym typeface="Calibri (MS) Bold"/>
                </a:rPr>
                <a:t>DNN manual es la más beneficiada</a:t>
              </a:r>
              <a:r>
                <a:rPr lang="en-US" sz="1950">
                  <a:solidFill>
                    <a:srgbClr val="0E1220"/>
                  </a:solidFill>
                  <a:latin typeface="Calibri (MS)"/>
                  <a:ea typeface="Calibri (MS)"/>
                  <a:cs typeface="Calibri (MS)"/>
                  <a:sym typeface="Calibri (MS)"/>
                </a:rPr>
                <a:t> (+0.173) porque parte de un desempeño más bajo y tiene capacidad para aprovechar las filas adicionales de clases raras; AutoML y NAS, que ya rendían alto, ganan menos en términos relativos. Ningún modelo empeora al aumentar el train con datos sintéticos.</a:t>
              </a:r>
            </a:p>
          </p:txBody>
        </p:sp>
      </p:grpSp>
      <p:grpSp>
        <p:nvGrpSpPr>
          <p:cNvPr name="Group 85" id="85"/>
          <p:cNvGrpSpPr/>
          <p:nvPr/>
        </p:nvGrpSpPr>
        <p:grpSpPr>
          <a:xfrm rot="0">
            <a:off x="822960" y="7818120"/>
            <a:ext cx="16596360" cy="685800"/>
            <a:chOff x="0" y="0"/>
            <a:chExt cx="22128480" cy="914400"/>
          </a:xfrm>
        </p:grpSpPr>
        <p:sp>
          <p:nvSpPr>
            <p:cNvPr name="Freeform 86" id="86"/>
            <p:cNvSpPr/>
            <p:nvPr/>
          </p:nvSpPr>
          <p:spPr>
            <a:xfrm flipH="false" flipV="false" rot="0">
              <a:off x="0" y="0"/>
              <a:ext cx="22128480" cy="914400"/>
            </a:xfrm>
            <a:custGeom>
              <a:avLst/>
              <a:gdLst/>
              <a:ahLst/>
              <a:cxnLst/>
              <a:rect r="r" b="b" t="t" l="l"/>
              <a:pathLst>
                <a:path h="914400" w="22128480">
                  <a:moveTo>
                    <a:pt x="0" y="0"/>
                  </a:moveTo>
                  <a:lnTo>
                    <a:pt x="22128480" y="0"/>
                  </a:lnTo>
                  <a:lnTo>
                    <a:pt x="22128480" y="914400"/>
                  </a:lnTo>
                  <a:lnTo>
                    <a:pt x="0" y="914400"/>
                  </a:lnTo>
                  <a:close/>
                </a:path>
              </a:pathLst>
            </a:custGeom>
            <a:blipFill>
              <a:blip r:embed="rId2">
                <a:alphaModFix amt="0"/>
              </a:blip>
              <a:stretch>
                <a:fillRect l="0" t="-421537" r="0" b="-421537"/>
              </a:stretch>
            </a:blipFill>
          </p:spPr>
        </p:sp>
        <p:sp>
          <p:nvSpPr>
            <p:cNvPr name="TextBox 87" id="87"/>
            <p:cNvSpPr txBox="true"/>
            <p:nvPr/>
          </p:nvSpPr>
          <p:spPr>
            <a:xfrm>
              <a:off x="0" y="-28575"/>
              <a:ext cx="22128480" cy="942975"/>
            </a:xfrm>
            <a:prstGeom prst="rect">
              <a:avLst/>
            </a:prstGeom>
          </p:spPr>
          <p:txBody>
            <a:bodyPr anchor="ctr" rtlCol="false" tIns="0" lIns="0" bIns="0" rIns="0"/>
            <a:lstStyle/>
            <a:p>
              <a:pPr algn="l">
                <a:lnSpc>
                  <a:spcPts val="1980"/>
                </a:lnSpc>
              </a:pPr>
              <a:r>
                <a:rPr lang="en-US" sz="1650" i="true">
                  <a:solidFill>
                    <a:srgbClr val="6B7280"/>
                  </a:solidFill>
                  <a:latin typeface="Calibri (MS) Italics"/>
                  <a:ea typeface="Calibri (MS) Italics"/>
                  <a:cs typeface="Calibri (MS) Italics"/>
                  <a:sym typeface="Calibri (MS) Italics"/>
                </a:rPr>
                <a:t>AutoML sobre train aumentado eligió k-NN (n_neighbors=1) recordar la advertencia de costo de inferencia de la diapositiva anterior antes de recomendarlo para producción.</a:t>
              </a:r>
            </a:p>
          </p:txBody>
        </p:sp>
      </p:grpSp>
      <p:grpSp>
        <p:nvGrpSpPr>
          <p:cNvPr name="Group 88" id="88"/>
          <p:cNvGrpSpPr/>
          <p:nvPr/>
        </p:nvGrpSpPr>
        <p:grpSpPr>
          <a:xfrm rot="0">
            <a:off x="17053103" y="9601200"/>
            <a:ext cx="822960" cy="411480"/>
            <a:chOff x="0" y="0"/>
            <a:chExt cx="1097280" cy="548640"/>
          </a:xfrm>
        </p:grpSpPr>
        <p:sp>
          <p:nvSpPr>
            <p:cNvPr name="Freeform 89" id="89"/>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90" id="90"/>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18</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0162B"/>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VISIÓN CONSOLIDADA</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FFFFFF"/>
                  </a:solidFill>
                  <a:latin typeface="Cambria Bold"/>
                  <a:ea typeface="Cambria Bold"/>
                  <a:cs typeface="Cambria Bold"/>
                  <a:sym typeface="Cambria Bold"/>
                </a:rPr>
                <a:t>Las ocho soluciones, una sola tabla</a:t>
              </a:r>
            </a:p>
          </p:txBody>
        </p:sp>
      </p:grpSp>
      <p:grpSp>
        <p:nvGrpSpPr>
          <p:cNvPr name="Group 8" id="8"/>
          <p:cNvGrpSpPr/>
          <p:nvPr/>
        </p:nvGrpSpPr>
        <p:grpSpPr>
          <a:xfrm rot="0">
            <a:off x="822960" y="2537460"/>
            <a:ext cx="16596360" cy="617220"/>
            <a:chOff x="0" y="0"/>
            <a:chExt cx="22128480" cy="822960"/>
          </a:xfrm>
        </p:grpSpPr>
        <p:sp>
          <p:nvSpPr>
            <p:cNvPr name="Freeform 9" id="9"/>
            <p:cNvSpPr/>
            <p:nvPr/>
          </p:nvSpPr>
          <p:spPr>
            <a:xfrm flipH="false" flipV="false" rot="0">
              <a:off x="0" y="0"/>
              <a:ext cx="22128480" cy="822960"/>
            </a:xfrm>
            <a:custGeom>
              <a:avLst/>
              <a:gdLst/>
              <a:ahLst/>
              <a:cxnLst/>
              <a:rect r="r" b="b" t="t" l="l"/>
              <a:pathLst>
                <a:path h="822960" w="22128480">
                  <a:moveTo>
                    <a:pt x="0" y="0"/>
                  </a:moveTo>
                  <a:lnTo>
                    <a:pt x="22128480" y="0"/>
                  </a:lnTo>
                  <a:lnTo>
                    <a:pt x="22128480" y="822960"/>
                  </a:lnTo>
                  <a:lnTo>
                    <a:pt x="0" y="822960"/>
                  </a:lnTo>
                  <a:close/>
                </a:path>
              </a:pathLst>
            </a:custGeom>
            <a:solidFill>
              <a:srgbClr val="212B4E"/>
            </a:solidFill>
          </p:spPr>
        </p:sp>
      </p:grpSp>
      <p:grpSp>
        <p:nvGrpSpPr>
          <p:cNvPr name="Group 10" id="10"/>
          <p:cNvGrpSpPr/>
          <p:nvPr/>
        </p:nvGrpSpPr>
        <p:grpSpPr>
          <a:xfrm rot="0">
            <a:off x="822960" y="2537460"/>
            <a:ext cx="6995160" cy="617220"/>
            <a:chOff x="0" y="0"/>
            <a:chExt cx="9326880" cy="822960"/>
          </a:xfrm>
        </p:grpSpPr>
        <p:sp>
          <p:nvSpPr>
            <p:cNvPr name="Freeform 11" id="11"/>
            <p:cNvSpPr/>
            <p:nvPr/>
          </p:nvSpPr>
          <p:spPr>
            <a:xfrm flipH="false" flipV="false" rot="0">
              <a:off x="0" y="0"/>
              <a:ext cx="9326880" cy="822960"/>
            </a:xfrm>
            <a:custGeom>
              <a:avLst/>
              <a:gdLst/>
              <a:ahLst/>
              <a:cxnLst/>
              <a:rect r="r" b="b" t="t" l="l"/>
              <a:pathLst>
                <a:path h="822960" w="9326880">
                  <a:moveTo>
                    <a:pt x="0" y="0"/>
                  </a:moveTo>
                  <a:lnTo>
                    <a:pt x="9326880" y="0"/>
                  </a:lnTo>
                  <a:lnTo>
                    <a:pt x="9326880" y="822960"/>
                  </a:lnTo>
                  <a:lnTo>
                    <a:pt x="0" y="822960"/>
                  </a:lnTo>
                  <a:close/>
                </a:path>
              </a:pathLst>
            </a:custGeom>
            <a:blipFill>
              <a:blip r:embed="rId2">
                <a:alphaModFix amt="0"/>
              </a:blip>
              <a:stretch>
                <a:fillRect l="0" t="-170830" r="0" b="-170830"/>
              </a:stretch>
            </a:blipFill>
          </p:spPr>
        </p:sp>
        <p:sp>
          <p:nvSpPr>
            <p:cNvPr name="TextBox 12" id="12"/>
            <p:cNvSpPr txBox="true"/>
            <p:nvPr/>
          </p:nvSpPr>
          <p:spPr>
            <a:xfrm>
              <a:off x="0" y="-28575"/>
              <a:ext cx="9326880" cy="851535"/>
            </a:xfrm>
            <a:prstGeom prst="rect">
              <a:avLst/>
            </a:prstGeom>
          </p:spPr>
          <p:txBody>
            <a:bodyPr anchor="ctr" rtlCol="false" tIns="0" lIns="0" bIns="0" rIns="0"/>
            <a:lstStyle/>
            <a:p>
              <a:pPr algn="l">
                <a:lnSpc>
                  <a:spcPts val="1980"/>
                </a:lnSpc>
              </a:pPr>
              <a:r>
                <a:rPr lang="en-US" sz="1650" b="true">
                  <a:solidFill>
                    <a:srgbClr val="00D1B2"/>
                  </a:solidFill>
                  <a:latin typeface="Calibri (MS) Bold"/>
                  <a:ea typeface="Calibri (MS) Bold"/>
                  <a:cs typeface="Calibri (MS) Bold"/>
                  <a:sym typeface="Calibri (MS) Bold"/>
                </a:rPr>
                <a:t>Modelo</a:t>
              </a:r>
            </a:p>
          </p:txBody>
        </p:sp>
      </p:grpSp>
      <p:grpSp>
        <p:nvGrpSpPr>
          <p:cNvPr name="Group 13" id="13"/>
          <p:cNvGrpSpPr/>
          <p:nvPr/>
        </p:nvGrpSpPr>
        <p:grpSpPr>
          <a:xfrm rot="0">
            <a:off x="7818120" y="2537460"/>
            <a:ext cx="3017520" cy="617220"/>
            <a:chOff x="0" y="0"/>
            <a:chExt cx="4023360" cy="822960"/>
          </a:xfrm>
        </p:grpSpPr>
        <p:sp>
          <p:nvSpPr>
            <p:cNvPr name="Freeform 14" id="14"/>
            <p:cNvSpPr/>
            <p:nvPr/>
          </p:nvSpPr>
          <p:spPr>
            <a:xfrm flipH="false" flipV="false" rot="0">
              <a:off x="0" y="0"/>
              <a:ext cx="4023360" cy="822960"/>
            </a:xfrm>
            <a:custGeom>
              <a:avLst/>
              <a:gdLst/>
              <a:ahLst/>
              <a:cxnLst/>
              <a:rect r="r" b="b" t="t" l="l"/>
              <a:pathLst>
                <a:path h="822960" w="4023360">
                  <a:moveTo>
                    <a:pt x="0" y="0"/>
                  </a:moveTo>
                  <a:lnTo>
                    <a:pt x="4023360" y="0"/>
                  </a:lnTo>
                  <a:lnTo>
                    <a:pt x="4023360" y="822960"/>
                  </a:lnTo>
                  <a:lnTo>
                    <a:pt x="0" y="822960"/>
                  </a:lnTo>
                  <a:close/>
                </a:path>
              </a:pathLst>
            </a:custGeom>
            <a:blipFill>
              <a:blip r:embed="rId2">
                <a:alphaModFix amt="0"/>
              </a:blip>
              <a:stretch>
                <a:fillRect l="0" t="-45260" r="0" b="-45260"/>
              </a:stretch>
            </a:blipFill>
          </p:spPr>
        </p:sp>
        <p:sp>
          <p:nvSpPr>
            <p:cNvPr name="TextBox 15" id="15"/>
            <p:cNvSpPr txBox="true"/>
            <p:nvPr/>
          </p:nvSpPr>
          <p:spPr>
            <a:xfrm>
              <a:off x="0" y="-28575"/>
              <a:ext cx="4023360" cy="851535"/>
            </a:xfrm>
            <a:prstGeom prst="rect">
              <a:avLst/>
            </a:prstGeom>
          </p:spPr>
          <p:txBody>
            <a:bodyPr anchor="ctr" rtlCol="false" tIns="0" lIns="0" bIns="0" rIns="0"/>
            <a:lstStyle/>
            <a:p>
              <a:pPr algn="ctr">
                <a:lnSpc>
                  <a:spcPts val="1980"/>
                </a:lnSpc>
              </a:pPr>
              <a:r>
                <a:rPr lang="en-US" sz="1650" b="true">
                  <a:solidFill>
                    <a:srgbClr val="00D1B2"/>
                  </a:solidFill>
                  <a:latin typeface="Calibri (MS) Bold"/>
                  <a:ea typeface="Calibri (MS) Bold"/>
                  <a:cs typeface="Calibri (MS) Bold"/>
                  <a:sym typeface="Calibri (MS) Bold"/>
                </a:rPr>
                <a:t>macro-F1</a:t>
              </a:r>
            </a:p>
          </p:txBody>
        </p:sp>
      </p:grpSp>
      <p:grpSp>
        <p:nvGrpSpPr>
          <p:cNvPr name="Group 16" id="16"/>
          <p:cNvGrpSpPr/>
          <p:nvPr/>
        </p:nvGrpSpPr>
        <p:grpSpPr>
          <a:xfrm rot="0">
            <a:off x="10835640" y="2537460"/>
            <a:ext cx="3703320" cy="617220"/>
            <a:chOff x="0" y="0"/>
            <a:chExt cx="4937760" cy="822960"/>
          </a:xfrm>
        </p:grpSpPr>
        <p:sp>
          <p:nvSpPr>
            <p:cNvPr name="Freeform 17" id="17"/>
            <p:cNvSpPr/>
            <p:nvPr/>
          </p:nvSpPr>
          <p:spPr>
            <a:xfrm flipH="false" flipV="false" rot="0">
              <a:off x="0" y="0"/>
              <a:ext cx="4937760" cy="822960"/>
            </a:xfrm>
            <a:custGeom>
              <a:avLst/>
              <a:gdLst/>
              <a:ahLst/>
              <a:cxnLst/>
              <a:rect r="r" b="b" t="t" l="l"/>
              <a:pathLst>
                <a:path h="822960" w="4937760">
                  <a:moveTo>
                    <a:pt x="0" y="0"/>
                  </a:moveTo>
                  <a:lnTo>
                    <a:pt x="4937760" y="0"/>
                  </a:lnTo>
                  <a:lnTo>
                    <a:pt x="4937760" y="822960"/>
                  </a:lnTo>
                  <a:lnTo>
                    <a:pt x="0" y="822960"/>
                  </a:lnTo>
                  <a:close/>
                </a:path>
              </a:pathLst>
            </a:custGeom>
            <a:blipFill>
              <a:blip r:embed="rId2">
                <a:alphaModFix amt="0"/>
              </a:blip>
              <a:stretch>
                <a:fillRect l="0" t="-66910" r="0" b="-66910"/>
              </a:stretch>
            </a:blipFill>
          </p:spPr>
        </p:sp>
        <p:sp>
          <p:nvSpPr>
            <p:cNvPr name="TextBox 18" id="18"/>
            <p:cNvSpPr txBox="true"/>
            <p:nvPr/>
          </p:nvSpPr>
          <p:spPr>
            <a:xfrm>
              <a:off x="0" y="-28575"/>
              <a:ext cx="4937760" cy="851535"/>
            </a:xfrm>
            <a:prstGeom prst="rect">
              <a:avLst/>
            </a:prstGeom>
          </p:spPr>
          <p:txBody>
            <a:bodyPr anchor="ctr" rtlCol="false" tIns="0" lIns="0" bIns="0" rIns="0"/>
            <a:lstStyle/>
            <a:p>
              <a:pPr algn="ctr">
                <a:lnSpc>
                  <a:spcPts val="1980"/>
                </a:lnSpc>
              </a:pPr>
              <a:r>
                <a:rPr lang="en-US" sz="1650" b="true">
                  <a:solidFill>
                    <a:srgbClr val="00D1B2"/>
                  </a:solidFill>
                  <a:latin typeface="Calibri (MS) Bold"/>
                  <a:ea typeface="Calibri (MS) Bold"/>
                  <a:cs typeface="Calibri (MS) Bold"/>
                  <a:sym typeface="Calibri (MS) Bold"/>
                </a:rPr>
                <a:t>Params/reglas</a:t>
              </a:r>
            </a:p>
          </p:txBody>
        </p:sp>
      </p:grpSp>
      <p:grpSp>
        <p:nvGrpSpPr>
          <p:cNvPr name="Group 19" id="19"/>
          <p:cNvGrpSpPr/>
          <p:nvPr/>
        </p:nvGrpSpPr>
        <p:grpSpPr>
          <a:xfrm rot="0">
            <a:off x="14538960" y="2537460"/>
            <a:ext cx="2880360" cy="617220"/>
            <a:chOff x="0" y="0"/>
            <a:chExt cx="3840480" cy="822960"/>
          </a:xfrm>
        </p:grpSpPr>
        <p:sp>
          <p:nvSpPr>
            <p:cNvPr name="Freeform 20" id="20"/>
            <p:cNvSpPr/>
            <p:nvPr/>
          </p:nvSpPr>
          <p:spPr>
            <a:xfrm flipH="false" flipV="false" rot="0">
              <a:off x="0" y="0"/>
              <a:ext cx="3840480" cy="822960"/>
            </a:xfrm>
            <a:custGeom>
              <a:avLst/>
              <a:gdLst/>
              <a:ahLst/>
              <a:cxnLst/>
              <a:rect r="r" b="b" t="t" l="l"/>
              <a:pathLst>
                <a:path h="822960" w="3840480">
                  <a:moveTo>
                    <a:pt x="0" y="0"/>
                  </a:moveTo>
                  <a:lnTo>
                    <a:pt x="3840480" y="0"/>
                  </a:lnTo>
                  <a:lnTo>
                    <a:pt x="3840480" y="822960"/>
                  </a:lnTo>
                  <a:lnTo>
                    <a:pt x="0" y="822960"/>
                  </a:lnTo>
                  <a:close/>
                </a:path>
              </a:pathLst>
            </a:custGeom>
            <a:blipFill>
              <a:blip r:embed="rId2">
                <a:alphaModFix amt="0"/>
              </a:blip>
              <a:stretch>
                <a:fillRect l="0" t="-40930" r="0" b="-40930"/>
              </a:stretch>
            </a:blipFill>
          </p:spPr>
        </p:sp>
        <p:sp>
          <p:nvSpPr>
            <p:cNvPr name="TextBox 21" id="21"/>
            <p:cNvSpPr txBox="true"/>
            <p:nvPr/>
          </p:nvSpPr>
          <p:spPr>
            <a:xfrm>
              <a:off x="0" y="-28575"/>
              <a:ext cx="3840480" cy="851535"/>
            </a:xfrm>
            <a:prstGeom prst="rect">
              <a:avLst/>
            </a:prstGeom>
          </p:spPr>
          <p:txBody>
            <a:bodyPr anchor="ctr" rtlCol="false" tIns="0" lIns="0" bIns="0" rIns="0"/>
            <a:lstStyle/>
            <a:p>
              <a:pPr algn="ctr">
                <a:lnSpc>
                  <a:spcPts val="1980"/>
                </a:lnSpc>
              </a:pPr>
              <a:r>
                <a:rPr lang="en-US" sz="1650" b="true">
                  <a:solidFill>
                    <a:srgbClr val="00D1B2"/>
                  </a:solidFill>
                  <a:latin typeface="Calibri (MS) Bold"/>
                  <a:ea typeface="Calibri (MS) Bold"/>
                  <a:cs typeface="Calibri (MS) Bold"/>
                  <a:sym typeface="Calibri (MS) Bold"/>
                </a:rPr>
                <a:t>Tiempo (s)</a:t>
              </a:r>
            </a:p>
          </p:txBody>
        </p:sp>
      </p:grpSp>
      <p:grpSp>
        <p:nvGrpSpPr>
          <p:cNvPr name="Group 22" id="22"/>
          <p:cNvGrpSpPr/>
          <p:nvPr/>
        </p:nvGrpSpPr>
        <p:grpSpPr>
          <a:xfrm rot="0">
            <a:off x="818198" y="3149917"/>
            <a:ext cx="7004685" cy="667893"/>
            <a:chOff x="0" y="0"/>
            <a:chExt cx="9339580" cy="890524"/>
          </a:xfrm>
        </p:grpSpPr>
        <p:sp>
          <p:nvSpPr>
            <p:cNvPr name="Freeform 23" id="23"/>
            <p:cNvSpPr/>
            <p:nvPr/>
          </p:nvSpPr>
          <p:spPr>
            <a:xfrm flipH="false" flipV="false" rot="0">
              <a:off x="0" y="0"/>
              <a:ext cx="9339580" cy="890524"/>
            </a:xfrm>
            <a:custGeom>
              <a:avLst/>
              <a:gdLst/>
              <a:ahLst/>
              <a:cxnLst/>
              <a:rect r="r" b="b" t="t" l="l"/>
              <a:pathLst>
                <a:path h="890524" w="9339580">
                  <a:moveTo>
                    <a:pt x="0" y="0"/>
                  </a:moveTo>
                  <a:lnTo>
                    <a:pt x="9339580" y="0"/>
                  </a:lnTo>
                  <a:lnTo>
                    <a:pt x="9339580" y="890524"/>
                  </a:lnTo>
                  <a:lnTo>
                    <a:pt x="0" y="890524"/>
                  </a:lnTo>
                  <a:close/>
                </a:path>
              </a:pathLst>
            </a:custGeom>
            <a:solidFill>
              <a:srgbClr val="171E38"/>
            </a:solidFill>
            <a:ln w="9525" cap="sq">
              <a:solidFill>
                <a:srgbClr val="2E3760"/>
              </a:solidFill>
              <a:prstDash val="solid"/>
              <a:miter/>
            </a:ln>
          </p:spPr>
        </p:sp>
      </p:grpSp>
      <p:grpSp>
        <p:nvGrpSpPr>
          <p:cNvPr name="Group 24" id="24"/>
          <p:cNvGrpSpPr/>
          <p:nvPr/>
        </p:nvGrpSpPr>
        <p:grpSpPr>
          <a:xfrm rot="0">
            <a:off x="822960" y="3154680"/>
            <a:ext cx="6995160" cy="658368"/>
            <a:chOff x="0" y="0"/>
            <a:chExt cx="9326880" cy="877824"/>
          </a:xfrm>
        </p:grpSpPr>
        <p:sp>
          <p:nvSpPr>
            <p:cNvPr name="Freeform 25" id="25"/>
            <p:cNvSpPr/>
            <p:nvPr/>
          </p:nvSpPr>
          <p:spPr>
            <a:xfrm flipH="false" flipV="false" rot="0">
              <a:off x="0" y="0"/>
              <a:ext cx="9326880" cy="877824"/>
            </a:xfrm>
            <a:custGeom>
              <a:avLst/>
              <a:gdLst/>
              <a:ahLst/>
              <a:cxnLst/>
              <a:rect r="r" b="b" t="t" l="l"/>
              <a:pathLst>
                <a:path h="877824" w="9326880">
                  <a:moveTo>
                    <a:pt x="0" y="0"/>
                  </a:moveTo>
                  <a:lnTo>
                    <a:pt x="9326880" y="0"/>
                  </a:lnTo>
                  <a:lnTo>
                    <a:pt x="9326880" y="877824"/>
                  </a:lnTo>
                  <a:lnTo>
                    <a:pt x="0" y="877824"/>
                  </a:lnTo>
                  <a:close/>
                </a:path>
              </a:pathLst>
            </a:custGeom>
            <a:blipFill>
              <a:blip r:embed="rId2">
                <a:alphaModFix amt="0"/>
              </a:blip>
              <a:stretch>
                <a:fillRect l="0" t="-157028" r="0" b="-157028"/>
              </a:stretch>
            </a:blipFill>
          </p:spPr>
        </p:sp>
        <p:sp>
          <p:nvSpPr>
            <p:cNvPr name="TextBox 26" id="26"/>
            <p:cNvSpPr txBox="true"/>
            <p:nvPr/>
          </p:nvSpPr>
          <p:spPr>
            <a:xfrm>
              <a:off x="0" y="-28575"/>
              <a:ext cx="9326880" cy="906399"/>
            </a:xfrm>
            <a:prstGeom prst="rect">
              <a:avLst/>
            </a:prstGeom>
          </p:spPr>
          <p:txBody>
            <a:bodyPr anchor="ctr" rtlCol="false" tIns="0" lIns="0" bIns="0" rIns="0"/>
            <a:lstStyle/>
            <a:p>
              <a:pPr algn="l">
                <a:lnSpc>
                  <a:spcPts val="1980"/>
                </a:lnSpc>
              </a:pPr>
              <a:r>
                <a:rPr lang="en-US" sz="1650" b="true">
                  <a:solidFill>
                    <a:srgbClr val="E7EAF6"/>
                  </a:solidFill>
                  <a:latin typeface="Calibri (MS) Bold"/>
                  <a:ea typeface="Calibri (MS) Bold"/>
                  <a:cs typeface="Calibri (MS) Bold"/>
                  <a:sym typeface="Calibri (MS) Bold"/>
                </a:rPr>
                <a:t>Regresión Logística</a:t>
              </a:r>
            </a:p>
          </p:txBody>
        </p:sp>
      </p:grpSp>
      <p:grpSp>
        <p:nvGrpSpPr>
          <p:cNvPr name="Group 27" id="27"/>
          <p:cNvGrpSpPr/>
          <p:nvPr/>
        </p:nvGrpSpPr>
        <p:grpSpPr>
          <a:xfrm rot="0">
            <a:off x="7813357" y="3149917"/>
            <a:ext cx="3027045" cy="667893"/>
            <a:chOff x="0" y="0"/>
            <a:chExt cx="4036060" cy="890524"/>
          </a:xfrm>
        </p:grpSpPr>
        <p:sp>
          <p:nvSpPr>
            <p:cNvPr name="Freeform 28" id="28"/>
            <p:cNvSpPr/>
            <p:nvPr/>
          </p:nvSpPr>
          <p:spPr>
            <a:xfrm flipH="false" flipV="false" rot="0">
              <a:off x="0" y="0"/>
              <a:ext cx="4036060" cy="890524"/>
            </a:xfrm>
            <a:custGeom>
              <a:avLst/>
              <a:gdLst/>
              <a:ahLst/>
              <a:cxnLst/>
              <a:rect r="r" b="b" t="t" l="l"/>
              <a:pathLst>
                <a:path h="890524" w="4036060">
                  <a:moveTo>
                    <a:pt x="0" y="0"/>
                  </a:moveTo>
                  <a:lnTo>
                    <a:pt x="4036060" y="0"/>
                  </a:lnTo>
                  <a:lnTo>
                    <a:pt x="4036060" y="890524"/>
                  </a:lnTo>
                  <a:lnTo>
                    <a:pt x="0" y="890524"/>
                  </a:lnTo>
                  <a:close/>
                </a:path>
              </a:pathLst>
            </a:custGeom>
            <a:solidFill>
              <a:srgbClr val="171E38"/>
            </a:solidFill>
            <a:ln w="9525" cap="sq">
              <a:solidFill>
                <a:srgbClr val="2E3760"/>
              </a:solidFill>
              <a:prstDash val="solid"/>
              <a:miter/>
            </a:ln>
          </p:spPr>
        </p:sp>
      </p:grpSp>
      <p:grpSp>
        <p:nvGrpSpPr>
          <p:cNvPr name="Group 29" id="29"/>
          <p:cNvGrpSpPr/>
          <p:nvPr/>
        </p:nvGrpSpPr>
        <p:grpSpPr>
          <a:xfrm rot="0">
            <a:off x="7818120" y="3154680"/>
            <a:ext cx="3017520" cy="658368"/>
            <a:chOff x="0" y="0"/>
            <a:chExt cx="4023360" cy="877824"/>
          </a:xfrm>
        </p:grpSpPr>
        <p:sp>
          <p:nvSpPr>
            <p:cNvPr name="Freeform 30" id="30"/>
            <p:cNvSpPr/>
            <p:nvPr/>
          </p:nvSpPr>
          <p:spPr>
            <a:xfrm flipH="false" flipV="false" rot="0">
              <a:off x="0" y="0"/>
              <a:ext cx="4023360" cy="877824"/>
            </a:xfrm>
            <a:custGeom>
              <a:avLst/>
              <a:gdLst/>
              <a:ahLst/>
              <a:cxnLst/>
              <a:rect r="r" b="b" t="t" l="l"/>
              <a:pathLst>
                <a:path h="877824" w="4023360">
                  <a:moveTo>
                    <a:pt x="0" y="0"/>
                  </a:moveTo>
                  <a:lnTo>
                    <a:pt x="4023360" y="0"/>
                  </a:lnTo>
                  <a:lnTo>
                    <a:pt x="4023360" y="877824"/>
                  </a:lnTo>
                  <a:lnTo>
                    <a:pt x="0" y="877824"/>
                  </a:lnTo>
                  <a:close/>
                </a:path>
              </a:pathLst>
            </a:custGeom>
            <a:blipFill>
              <a:blip r:embed="rId2">
                <a:alphaModFix amt="0"/>
              </a:blip>
              <a:stretch>
                <a:fillRect l="0" t="-39306" r="0" b="-39306"/>
              </a:stretch>
            </a:blipFill>
          </p:spPr>
        </p:sp>
        <p:sp>
          <p:nvSpPr>
            <p:cNvPr name="TextBox 31" id="31"/>
            <p:cNvSpPr txBox="true"/>
            <p:nvPr/>
          </p:nvSpPr>
          <p:spPr>
            <a:xfrm>
              <a:off x="0" y="-28575"/>
              <a:ext cx="40233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0.416</a:t>
              </a:r>
            </a:p>
          </p:txBody>
        </p:sp>
      </p:grpSp>
      <p:grpSp>
        <p:nvGrpSpPr>
          <p:cNvPr name="Group 32" id="32"/>
          <p:cNvGrpSpPr/>
          <p:nvPr/>
        </p:nvGrpSpPr>
        <p:grpSpPr>
          <a:xfrm rot="0">
            <a:off x="10830878" y="3149917"/>
            <a:ext cx="3712845" cy="667893"/>
            <a:chOff x="0" y="0"/>
            <a:chExt cx="4950460" cy="890524"/>
          </a:xfrm>
        </p:grpSpPr>
        <p:sp>
          <p:nvSpPr>
            <p:cNvPr name="Freeform 33" id="33"/>
            <p:cNvSpPr/>
            <p:nvPr/>
          </p:nvSpPr>
          <p:spPr>
            <a:xfrm flipH="false" flipV="false" rot="0">
              <a:off x="0" y="0"/>
              <a:ext cx="4950460" cy="890524"/>
            </a:xfrm>
            <a:custGeom>
              <a:avLst/>
              <a:gdLst/>
              <a:ahLst/>
              <a:cxnLst/>
              <a:rect r="r" b="b" t="t" l="l"/>
              <a:pathLst>
                <a:path h="890524" w="4950460">
                  <a:moveTo>
                    <a:pt x="0" y="0"/>
                  </a:moveTo>
                  <a:lnTo>
                    <a:pt x="4950460" y="0"/>
                  </a:lnTo>
                  <a:lnTo>
                    <a:pt x="4950460" y="890524"/>
                  </a:lnTo>
                  <a:lnTo>
                    <a:pt x="0" y="890524"/>
                  </a:lnTo>
                  <a:close/>
                </a:path>
              </a:pathLst>
            </a:custGeom>
            <a:solidFill>
              <a:srgbClr val="171E38"/>
            </a:solidFill>
            <a:ln w="9525" cap="sq">
              <a:solidFill>
                <a:srgbClr val="2E3760"/>
              </a:solidFill>
              <a:prstDash val="solid"/>
              <a:miter/>
            </a:ln>
          </p:spPr>
        </p:sp>
      </p:grpSp>
      <p:grpSp>
        <p:nvGrpSpPr>
          <p:cNvPr name="Group 34" id="34"/>
          <p:cNvGrpSpPr/>
          <p:nvPr/>
        </p:nvGrpSpPr>
        <p:grpSpPr>
          <a:xfrm rot="0">
            <a:off x="10835640" y="3154680"/>
            <a:ext cx="3703320" cy="658368"/>
            <a:chOff x="0" y="0"/>
            <a:chExt cx="4937760" cy="877824"/>
          </a:xfrm>
        </p:grpSpPr>
        <p:sp>
          <p:nvSpPr>
            <p:cNvPr name="Freeform 35" id="35"/>
            <p:cNvSpPr/>
            <p:nvPr/>
          </p:nvSpPr>
          <p:spPr>
            <a:xfrm flipH="false" flipV="false" rot="0">
              <a:off x="0" y="0"/>
              <a:ext cx="4937760" cy="877824"/>
            </a:xfrm>
            <a:custGeom>
              <a:avLst/>
              <a:gdLst/>
              <a:ahLst/>
              <a:cxnLst/>
              <a:rect r="r" b="b" t="t" l="l"/>
              <a:pathLst>
                <a:path h="877824" w="4937760">
                  <a:moveTo>
                    <a:pt x="0" y="0"/>
                  </a:moveTo>
                  <a:lnTo>
                    <a:pt x="4937760" y="0"/>
                  </a:lnTo>
                  <a:lnTo>
                    <a:pt x="4937760" y="877824"/>
                  </a:lnTo>
                  <a:lnTo>
                    <a:pt x="0" y="877824"/>
                  </a:lnTo>
                  <a:close/>
                </a:path>
              </a:pathLst>
            </a:custGeom>
            <a:blipFill>
              <a:blip r:embed="rId2">
                <a:alphaModFix amt="0"/>
              </a:blip>
              <a:stretch>
                <a:fillRect l="0" t="-59603" r="0" b="-59603"/>
              </a:stretch>
            </a:blipFill>
          </p:spPr>
        </p:sp>
        <p:sp>
          <p:nvSpPr>
            <p:cNvPr name="TextBox 36" id="36"/>
            <p:cNvSpPr txBox="true"/>
            <p:nvPr/>
          </p:nvSpPr>
          <p:spPr>
            <a:xfrm>
              <a:off x="0" y="-28575"/>
              <a:ext cx="49377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1.155</a:t>
              </a:r>
            </a:p>
          </p:txBody>
        </p:sp>
      </p:grpSp>
      <p:grpSp>
        <p:nvGrpSpPr>
          <p:cNvPr name="Group 37" id="37"/>
          <p:cNvGrpSpPr/>
          <p:nvPr/>
        </p:nvGrpSpPr>
        <p:grpSpPr>
          <a:xfrm rot="0">
            <a:off x="14534198" y="3149917"/>
            <a:ext cx="2889885" cy="667893"/>
            <a:chOff x="0" y="0"/>
            <a:chExt cx="3853180" cy="890524"/>
          </a:xfrm>
        </p:grpSpPr>
        <p:sp>
          <p:nvSpPr>
            <p:cNvPr name="Freeform 38" id="38"/>
            <p:cNvSpPr/>
            <p:nvPr/>
          </p:nvSpPr>
          <p:spPr>
            <a:xfrm flipH="false" flipV="false" rot="0">
              <a:off x="0" y="0"/>
              <a:ext cx="3853180" cy="890524"/>
            </a:xfrm>
            <a:custGeom>
              <a:avLst/>
              <a:gdLst/>
              <a:ahLst/>
              <a:cxnLst/>
              <a:rect r="r" b="b" t="t" l="l"/>
              <a:pathLst>
                <a:path h="890524" w="3853180">
                  <a:moveTo>
                    <a:pt x="0" y="0"/>
                  </a:moveTo>
                  <a:lnTo>
                    <a:pt x="3853180" y="0"/>
                  </a:lnTo>
                  <a:lnTo>
                    <a:pt x="3853180" y="890524"/>
                  </a:lnTo>
                  <a:lnTo>
                    <a:pt x="0" y="890524"/>
                  </a:lnTo>
                  <a:close/>
                </a:path>
              </a:pathLst>
            </a:custGeom>
            <a:solidFill>
              <a:srgbClr val="171E38"/>
            </a:solidFill>
            <a:ln w="9525" cap="sq">
              <a:solidFill>
                <a:srgbClr val="2E3760"/>
              </a:solidFill>
              <a:prstDash val="solid"/>
              <a:miter/>
            </a:ln>
          </p:spPr>
        </p:sp>
      </p:grpSp>
      <p:grpSp>
        <p:nvGrpSpPr>
          <p:cNvPr name="Group 39" id="39"/>
          <p:cNvGrpSpPr/>
          <p:nvPr/>
        </p:nvGrpSpPr>
        <p:grpSpPr>
          <a:xfrm rot="0">
            <a:off x="14538960" y="3154680"/>
            <a:ext cx="2880360" cy="658368"/>
            <a:chOff x="0" y="0"/>
            <a:chExt cx="3840480" cy="877824"/>
          </a:xfrm>
        </p:grpSpPr>
        <p:sp>
          <p:nvSpPr>
            <p:cNvPr name="Freeform 40" id="40"/>
            <p:cNvSpPr/>
            <p:nvPr/>
          </p:nvSpPr>
          <p:spPr>
            <a:xfrm flipH="false" flipV="false" rot="0">
              <a:off x="0" y="0"/>
              <a:ext cx="3840480" cy="877824"/>
            </a:xfrm>
            <a:custGeom>
              <a:avLst/>
              <a:gdLst/>
              <a:ahLst/>
              <a:cxnLst/>
              <a:rect r="r" b="b" t="t" l="l"/>
              <a:pathLst>
                <a:path h="877824" w="3840480">
                  <a:moveTo>
                    <a:pt x="0" y="0"/>
                  </a:moveTo>
                  <a:lnTo>
                    <a:pt x="3840480" y="0"/>
                  </a:lnTo>
                  <a:lnTo>
                    <a:pt x="3840480" y="877824"/>
                  </a:lnTo>
                  <a:lnTo>
                    <a:pt x="0" y="877824"/>
                  </a:lnTo>
                  <a:close/>
                </a:path>
              </a:pathLst>
            </a:custGeom>
            <a:blipFill>
              <a:blip r:embed="rId2">
                <a:alphaModFix amt="0"/>
              </a:blip>
              <a:stretch>
                <a:fillRect l="0" t="-35247" r="0" b="-35247"/>
              </a:stretch>
            </a:blipFill>
          </p:spPr>
        </p:sp>
        <p:sp>
          <p:nvSpPr>
            <p:cNvPr name="TextBox 41" id="41"/>
            <p:cNvSpPr txBox="true"/>
            <p:nvPr/>
          </p:nvSpPr>
          <p:spPr>
            <a:xfrm>
              <a:off x="0" y="-28575"/>
              <a:ext cx="384048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402.8</a:t>
              </a:r>
            </a:p>
          </p:txBody>
        </p:sp>
      </p:grpSp>
      <p:grpSp>
        <p:nvGrpSpPr>
          <p:cNvPr name="Group 42" id="42"/>
          <p:cNvGrpSpPr/>
          <p:nvPr/>
        </p:nvGrpSpPr>
        <p:grpSpPr>
          <a:xfrm rot="0">
            <a:off x="818198" y="3808286"/>
            <a:ext cx="7004685" cy="667893"/>
            <a:chOff x="0" y="0"/>
            <a:chExt cx="9339580" cy="890524"/>
          </a:xfrm>
        </p:grpSpPr>
        <p:sp>
          <p:nvSpPr>
            <p:cNvPr name="Freeform 43" id="43"/>
            <p:cNvSpPr/>
            <p:nvPr/>
          </p:nvSpPr>
          <p:spPr>
            <a:xfrm flipH="false" flipV="false" rot="0">
              <a:off x="0" y="0"/>
              <a:ext cx="9339580" cy="890524"/>
            </a:xfrm>
            <a:custGeom>
              <a:avLst/>
              <a:gdLst/>
              <a:ahLst/>
              <a:cxnLst/>
              <a:rect r="r" b="b" t="t" l="l"/>
              <a:pathLst>
                <a:path h="890524" w="9339580">
                  <a:moveTo>
                    <a:pt x="0" y="0"/>
                  </a:moveTo>
                  <a:lnTo>
                    <a:pt x="9339580" y="0"/>
                  </a:lnTo>
                  <a:lnTo>
                    <a:pt x="9339580" y="890524"/>
                  </a:lnTo>
                  <a:lnTo>
                    <a:pt x="0" y="890524"/>
                  </a:lnTo>
                  <a:close/>
                </a:path>
              </a:pathLst>
            </a:custGeom>
            <a:solidFill>
              <a:srgbClr val="171E38"/>
            </a:solidFill>
            <a:ln w="9525" cap="sq">
              <a:solidFill>
                <a:srgbClr val="2E3760"/>
              </a:solidFill>
              <a:prstDash val="solid"/>
              <a:miter/>
            </a:ln>
          </p:spPr>
        </p:sp>
      </p:grpSp>
      <p:grpSp>
        <p:nvGrpSpPr>
          <p:cNvPr name="Group 44" id="44"/>
          <p:cNvGrpSpPr/>
          <p:nvPr/>
        </p:nvGrpSpPr>
        <p:grpSpPr>
          <a:xfrm rot="0">
            <a:off x="822960" y="3813048"/>
            <a:ext cx="6995160" cy="658368"/>
            <a:chOff x="0" y="0"/>
            <a:chExt cx="9326880" cy="877824"/>
          </a:xfrm>
        </p:grpSpPr>
        <p:sp>
          <p:nvSpPr>
            <p:cNvPr name="Freeform 45" id="45"/>
            <p:cNvSpPr/>
            <p:nvPr/>
          </p:nvSpPr>
          <p:spPr>
            <a:xfrm flipH="false" flipV="false" rot="0">
              <a:off x="0" y="0"/>
              <a:ext cx="9326880" cy="877824"/>
            </a:xfrm>
            <a:custGeom>
              <a:avLst/>
              <a:gdLst/>
              <a:ahLst/>
              <a:cxnLst/>
              <a:rect r="r" b="b" t="t" l="l"/>
              <a:pathLst>
                <a:path h="877824" w="9326880">
                  <a:moveTo>
                    <a:pt x="0" y="0"/>
                  </a:moveTo>
                  <a:lnTo>
                    <a:pt x="9326880" y="0"/>
                  </a:lnTo>
                  <a:lnTo>
                    <a:pt x="9326880" y="877824"/>
                  </a:lnTo>
                  <a:lnTo>
                    <a:pt x="0" y="877824"/>
                  </a:lnTo>
                  <a:close/>
                </a:path>
              </a:pathLst>
            </a:custGeom>
            <a:blipFill>
              <a:blip r:embed="rId2">
                <a:alphaModFix amt="0"/>
              </a:blip>
              <a:stretch>
                <a:fillRect l="0" t="-157028" r="0" b="-157028"/>
              </a:stretch>
            </a:blipFill>
          </p:spPr>
        </p:sp>
        <p:sp>
          <p:nvSpPr>
            <p:cNvPr name="TextBox 46" id="46"/>
            <p:cNvSpPr txBox="true"/>
            <p:nvPr/>
          </p:nvSpPr>
          <p:spPr>
            <a:xfrm>
              <a:off x="0" y="-28575"/>
              <a:ext cx="9326880" cy="906399"/>
            </a:xfrm>
            <a:prstGeom prst="rect">
              <a:avLst/>
            </a:prstGeom>
          </p:spPr>
          <p:txBody>
            <a:bodyPr anchor="ctr" rtlCol="false" tIns="0" lIns="0" bIns="0" rIns="0"/>
            <a:lstStyle/>
            <a:p>
              <a:pPr algn="l">
                <a:lnSpc>
                  <a:spcPts val="1980"/>
                </a:lnSpc>
              </a:pPr>
              <a:r>
                <a:rPr lang="en-US" sz="1650" b="true">
                  <a:solidFill>
                    <a:srgbClr val="E7EAF6"/>
                  </a:solidFill>
                  <a:latin typeface="Calibri (MS) Bold"/>
                  <a:ea typeface="Calibri (MS) Bold"/>
                  <a:cs typeface="Calibri (MS) Bold"/>
                  <a:sym typeface="Calibri (MS) Bold"/>
                </a:rPr>
                <a:t>SVM (RBF)</a:t>
              </a:r>
            </a:p>
          </p:txBody>
        </p:sp>
      </p:grpSp>
      <p:grpSp>
        <p:nvGrpSpPr>
          <p:cNvPr name="Group 47" id="47"/>
          <p:cNvGrpSpPr/>
          <p:nvPr/>
        </p:nvGrpSpPr>
        <p:grpSpPr>
          <a:xfrm rot="0">
            <a:off x="7813357" y="3808286"/>
            <a:ext cx="3027045" cy="667893"/>
            <a:chOff x="0" y="0"/>
            <a:chExt cx="4036060" cy="890524"/>
          </a:xfrm>
        </p:grpSpPr>
        <p:sp>
          <p:nvSpPr>
            <p:cNvPr name="Freeform 48" id="48"/>
            <p:cNvSpPr/>
            <p:nvPr/>
          </p:nvSpPr>
          <p:spPr>
            <a:xfrm flipH="false" flipV="false" rot="0">
              <a:off x="0" y="0"/>
              <a:ext cx="4036060" cy="890524"/>
            </a:xfrm>
            <a:custGeom>
              <a:avLst/>
              <a:gdLst/>
              <a:ahLst/>
              <a:cxnLst/>
              <a:rect r="r" b="b" t="t" l="l"/>
              <a:pathLst>
                <a:path h="890524" w="4036060">
                  <a:moveTo>
                    <a:pt x="0" y="0"/>
                  </a:moveTo>
                  <a:lnTo>
                    <a:pt x="4036060" y="0"/>
                  </a:lnTo>
                  <a:lnTo>
                    <a:pt x="4036060" y="890524"/>
                  </a:lnTo>
                  <a:lnTo>
                    <a:pt x="0" y="890524"/>
                  </a:lnTo>
                  <a:close/>
                </a:path>
              </a:pathLst>
            </a:custGeom>
            <a:solidFill>
              <a:srgbClr val="171E38"/>
            </a:solidFill>
            <a:ln w="9525" cap="sq">
              <a:solidFill>
                <a:srgbClr val="2E3760"/>
              </a:solidFill>
              <a:prstDash val="solid"/>
              <a:miter/>
            </a:ln>
          </p:spPr>
        </p:sp>
      </p:grpSp>
      <p:grpSp>
        <p:nvGrpSpPr>
          <p:cNvPr name="Group 49" id="49"/>
          <p:cNvGrpSpPr/>
          <p:nvPr/>
        </p:nvGrpSpPr>
        <p:grpSpPr>
          <a:xfrm rot="0">
            <a:off x="7818120" y="3813048"/>
            <a:ext cx="3017520" cy="658368"/>
            <a:chOff x="0" y="0"/>
            <a:chExt cx="4023360" cy="877824"/>
          </a:xfrm>
        </p:grpSpPr>
        <p:sp>
          <p:nvSpPr>
            <p:cNvPr name="Freeform 50" id="50"/>
            <p:cNvSpPr/>
            <p:nvPr/>
          </p:nvSpPr>
          <p:spPr>
            <a:xfrm flipH="false" flipV="false" rot="0">
              <a:off x="0" y="0"/>
              <a:ext cx="4023360" cy="877824"/>
            </a:xfrm>
            <a:custGeom>
              <a:avLst/>
              <a:gdLst/>
              <a:ahLst/>
              <a:cxnLst/>
              <a:rect r="r" b="b" t="t" l="l"/>
              <a:pathLst>
                <a:path h="877824" w="4023360">
                  <a:moveTo>
                    <a:pt x="0" y="0"/>
                  </a:moveTo>
                  <a:lnTo>
                    <a:pt x="4023360" y="0"/>
                  </a:lnTo>
                  <a:lnTo>
                    <a:pt x="4023360" y="877824"/>
                  </a:lnTo>
                  <a:lnTo>
                    <a:pt x="0" y="877824"/>
                  </a:lnTo>
                  <a:close/>
                </a:path>
              </a:pathLst>
            </a:custGeom>
            <a:blipFill>
              <a:blip r:embed="rId2">
                <a:alphaModFix amt="0"/>
              </a:blip>
              <a:stretch>
                <a:fillRect l="0" t="-39306" r="0" b="-39306"/>
              </a:stretch>
            </a:blipFill>
          </p:spPr>
        </p:sp>
        <p:sp>
          <p:nvSpPr>
            <p:cNvPr name="TextBox 51" id="51"/>
            <p:cNvSpPr txBox="true"/>
            <p:nvPr/>
          </p:nvSpPr>
          <p:spPr>
            <a:xfrm>
              <a:off x="0" y="-28575"/>
              <a:ext cx="40233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0.361</a:t>
              </a:r>
            </a:p>
          </p:txBody>
        </p:sp>
      </p:grpSp>
      <p:grpSp>
        <p:nvGrpSpPr>
          <p:cNvPr name="Group 52" id="52"/>
          <p:cNvGrpSpPr/>
          <p:nvPr/>
        </p:nvGrpSpPr>
        <p:grpSpPr>
          <a:xfrm rot="0">
            <a:off x="10830878" y="3808286"/>
            <a:ext cx="3712845" cy="667893"/>
            <a:chOff x="0" y="0"/>
            <a:chExt cx="4950460" cy="890524"/>
          </a:xfrm>
        </p:grpSpPr>
        <p:sp>
          <p:nvSpPr>
            <p:cNvPr name="Freeform 53" id="53"/>
            <p:cNvSpPr/>
            <p:nvPr/>
          </p:nvSpPr>
          <p:spPr>
            <a:xfrm flipH="false" flipV="false" rot="0">
              <a:off x="0" y="0"/>
              <a:ext cx="4950460" cy="890524"/>
            </a:xfrm>
            <a:custGeom>
              <a:avLst/>
              <a:gdLst/>
              <a:ahLst/>
              <a:cxnLst/>
              <a:rect r="r" b="b" t="t" l="l"/>
              <a:pathLst>
                <a:path h="890524" w="4950460">
                  <a:moveTo>
                    <a:pt x="0" y="0"/>
                  </a:moveTo>
                  <a:lnTo>
                    <a:pt x="4950460" y="0"/>
                  </a:lnTo>
                  <a:lnTo>
                    <a:pt x="4950460" y="890524"/>
                  </a:lnTo>
                  <a:lnTo>
                    <a:pt x="0" y="890524"/>
                  </a:lnTo>
                  <a:close/>
                </a:path>
              </a:pathLst>
            </a:custGeom>
            <a:solidFill>
              <a:srgbClr val="171E38"/>
            </a:solidFill>
            <a:ln w="9525" cap="sq">
              <a:solidFill>
                <a:srgbClr val="2E3760"/>
              </a:solidFill>
              <a:prstDash val="solid"/>
              <a:miter/>
            </a:ln>
          </p:spPr>
        </p:sp>
      </p:grpSp>
      <p:grpSp>
        <p:nvGrpSpPr>
          <p:cNvPr name="Group 54" id="54"/>
          <p:cNvGrpSpPr/>
          <p:nvPr/>
        </p:nvGrpSpPr>
        <p:grpSpPr>
          <a:xfrm rot="0">
            <a:off x="10835640" y="3813048"/>
            <a:ext cx="3703320" cy="658368"/>
            <a:chOff x="0" y="0"/>
            <a:chExt cx="4937760" cy="877824"/>
          </a:xfrm>
        </p:grpSpPr>
        <p:sp>
          <p:nvSpPr>
            <p:cNvPr name="Freeform 55" id="55"/>
            <p:cNvSpPr/>
            <p:nvPr/>
          </p:nvSpPr>
          <p:spPr>
            <a:xfrm flipH="false" flipV="false" rot="0">
              <a:off x="0" y="0"/>
              <a:ext cx="4937760" cy="877824"/>
            </a:xfrm>
            <a:custGeom>
              <a:avLst/>
              <a:gdLst/>
              <a:ahLst/>
              <a:cxnLst/>
              <a:rect r="r" b="b" t="t" l="l"/>
              <a:pathLst>
                <a:path h="877824" w="4937760">
                  <a:moveTo>
                    <a:pt x="0" y="0"/>
                  </a:moveTo>
                  <a:lnTo>
                    <a:pt x="4937760" y="0"/>
                  </a:lnTo>
                  <a:lnTo>
                    <a:pt x="4937760" y="877824"/>
                  </a:lnTo>
                  <a:lnTo>
                    <a:pt x="0" y="877824"/>
                  </a:lnTo>
                  <a:close/>
                </a:path>
              </a:pathLst>
            </a:custGeom>
            <a:blipFill>
              <a:blip r:embed="rId2">
                <a:alphaModFix amt="0"/>
              </a:blip>
              <a:stretch>
                <a:fillRect l="0" t="-59603" r="0" b="-59603"/>
              </a:stretch>
            </a:blipFill>
          </p:spPr>
        </p:sp>
        <p:sp>
          <p:nvSpPr>
            <p:cNvPr name="TextBox 56" id="56"/>
            <p:cNvSpPr txBox="true"/>
            <p:nvPr/>
          </p:nvSpPr>
          <p:spPr>
            <a:xfrm>
              <a:off x="0" y="-28575"/>
              <a:ext cx="49377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4.000</a:t>
              </a:r>
            </a:p>
          </p:txBody>
        </p:sp>
      </p:grpSp>
      <p:grpSp>
        <p:nvGrpSpPr>
          <p:cNvPr name="Group 57" id="57"/>
          <p:cNvGrpSpPr/>
          <p:nvPr/>
        </p:nvGrpSpPr>
        <p:grpSpPr>
          <a:xfrm rot="0">
            <a:off x="14534198" y="3808286"/>
            <a:ext cx="2889885" cy="667893"/>
            <a:chOff x="0" y="0"/>
            <a:chExt cx="3853180" cy="890524"/>
          </a:xfrm>
        </p:grpSpPr>
        <p:sp>
          <p:nvSpPr>
            <p:cNvPr name="Freeform 58" id="58"/>
            <p:cNvSpPr/>
            <p:nvPr/>
          </p:nvSpPr>
          <p:spPr>
            <a:xfrm flipH="false" flipV="false" rot="0">
              <a:off x="0" y="0"/>
              <a:ext cx="3853180" cy="890524"/>
            </a:xfrm>
            <a:custGeom>
              <a:avLst/>
              <a:gdLst/>
              <a:ahLst/>
              <a:cxnLst/>
              <a:rect r="r" b="b" t="t" l="l"/>
              <a:pathLst>
                <a:path h="890524" w="3853180">
                  <a:moveTo>
                    <a:pt x="0" y="0"/>
                  </a:moveTo>
                  <a:lnTo>
                    <a:pt x="3853180" y="0"/>
                  </a:lnTo>
                  <a:lnTo>
                    <a:pt x="3853180" y="890524"/>
                  </a:lnTo>
                  <a:lnTo>
                    <a:pt x="0" y="890524"/>
                  </a:lnTo>
                  <a:close/>
                </a:path>
              </a:pathLst>
            </a:custGeom>
            <a:solidFill>
              <a:srgbClr val="171E38"/>
            </a:solidFill>
            <a:ln w="9525" cap="sq">
              <a:solidFill>
                <a:srgbClr val="2E3760"/>
              </a:solidFill>
              <a:prstDash val="solid"/>
              <a:miter/>
            </a:ln>
          </p:spPr>
        </p:sp>
      </p:grpSp>
      <p:grpSp>
        <p:nvGrpSpPr>
          <p:cNvPr name="Group 59" id="59"/>
          <p:cNvGrpSpPr/>
          <p:nvPr/>
        </p:nvGrpSpPr>
        <p:grpSpPr>
          <a:xfrm rot="0">
            <a:off x="14538960" y="3813048"/>
            <a:ext cx="2880360" cy="658368"/>
            <a:chOff x="0" y="0"/>
            <a:chExt cx="3840480" cy="877824"/>
          </a:xfrm>
        </p:grpSpPr>
        <p:sp>
          <p:nvSpPr>
            <p:cNvPr name="Freeform 60" id="60"/>
            <p:cNvSpPr/>
            <p:nvPr/>
          </p:nvSpPr>
          <p:spPr>
            <a:xfrm flipH="false" flipV="false" rot="0">
              <a:off x="0" y="0"/>
              <a:ext cx="3840480" cy="877824"/>
            </a:xfrm>
            <a:custGeom>
              <a:avLst/>
              <a:gdLst/>
              <a:ahLst/>
              <a:cxnLst/>
              <a:rect r="r" b="b" t="t" l="l"/>
              <a:pathLst>
                <a:path h="877824" w="3840480">
                  <a:moveTo>
                    <a:pt x="0" y="0"/>
                  </a:moveTo>
                  <a:lnTo>
                    <a:pt x="3840480" y="0"/>
                  </a:lnTo>
                  <a:lnTo>
                    <a:pt x="3840480" y="877824"/>
                  </a:lnTo>
                  <a:lnTo>
                    <a:pt x="0" y="877824"/>
                  </a:lnTo>
                  <a:close/>
                </a:path>
              </a:pathLst>
            </a:custGeom>
            <a:blipFill>
              <a:blip r:embed="rId2">
                <a:alphaModFix amt="0"/>
              </a:blip>
              <a:stretch>
                <a:fillRect l="0" t="-35247" r="0" b="-35247"/>
              </a:stretch>
            </a:blipFill>
          </p:spPr>
        </p:sp>
        <p:sp>
          <p:nvSpPr>
            <p:cNvPr name="TextBox 61" id="61"/>
            <p:cNvSpPr txBox="true"/>
            <p:nvPr/>
          </p:nvSpPr>
          <p:spPr>
            <a:xfrm>
              <a:off x="0" y="-28575"/>
              <a:ext cx="384048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1.2</a:t>
              </a:r>
            </a:p>
          </p:txBody>
        </p:sp>
      </p:grpSp>
      <p:grpSp>
        <p:nvGrpSpPr>
          <p:cNvPr name="Group 62" id="62"/>
          <p:cNvGrpSpPr/>
          <p:nvPr/>
        </p:nvGrpSpPr>
        <p:grpSpPr>
          <a:xfrm rot="0">
            <a:off x="818198" y="4466654"/>
            <a:ext cx="7004685" cy="667893"/>
            <a:chOff x="0" y="0"/>
            <a:chExt cx="9339580" cy="890524"/>
          </a:xfrm>
        </p:grpSpPr>
        <p:sp>
          <p:nvSpPr>
            <p:cNvPr name="Freeform 63" id="63"/>
            <p:cNvSpPr/>
            <p:nvPr/>
          </p:nvSpPr>
          <p:spPr>
            <a:xfrm flipH="false" flipV="false" rot="0">
              <a:off x="0" y="0"/>
              <a:ext cx="9339580" cy="890524"/>
            </a:xfrm>
            <a:custGeom>
              <a:avLst/>
              <a:gdLst/>
              <a:ahLst/>
              <a:cxnLst/>
              <a:rect r="r" b="b" t="t" l="l"/>
              <a:pathLst>
                <a:path h="890524" w="9339580">
                  <a:moveTo>
                    <a:pt x="0" y="0"/>
                  </a:moveTo>
                  <a:lnTo>
                    <a:pt x="9339580" y="0"/>
                  </a:lnTo>
                  <a:lnTo>
                    <a:pt x="9339580" y="890524"/>
                  </a:lnTo>
                  <a:lnTo>
                    <a:pt x="0" y="890524"/>
                  </a:lnTo>
                  <a:close/>
                </a:path>
              </a:pathLst>
            </a:custGeom>
            <a:solidFill>
              <a:srgbClr val="171E38"/>
            </a:solidFill>
            <a:ln w="9525" cap="sq">
              <a:solidFill>
                <a:srgbClr val="2E3760"/>
              </a:solidFill>
              <a:prstDash val="solid"/>
              <a:miter/>
            </a:ln>
          </p:spPr>
        </p:sp>
      </p:grpSp>
      <p:grpSp>
        <p:nvGrpSpPr>
          <p:cNvPr name="Group 64" id="64"/>
          <p:cNvGrpSpPr/>
          <p:nvPr/>
        </p:nvGrpSpPr>
        <p:grpSpPr>
          <a:xfrm rot="0">
            <a:off x="822960" y="4471416"/>
            <a:ext cx="6995160" cy="658368"/>
            <a:chOff x="0" y="0"/>
            <a:chExt cx="9326880" cy="877824"/>
          </a:xfrm>
        </p:grpSpPr>
        <p:sp>
          <p:nvSpPr>
            <p:cNvPr name="Freeform 65" id="65"/>
            <p:cNvSpPr/>
            <p:nvPr/>
          </p:nvSpPr>
          <p:spPr>
            <a:xfrm flipH="false" flipV="false" rot="0">
              <a:off x="0" y="0"/>
              <a:ext cx="9326880" cy="877824"/>
            </a:xfrm>
            <a:custGeom>
              <a:avLst/>
              <a:gdLst/>
              <a:ahLst/>
              <a:cxnLst/>
              <a:rect r="r" b="b" t="t" l="l"/>
              <a:pathLst>
                <a:path h="877824" w="9326880">
                  <a:moveTo>
                    <a:pt x="0" y="0"/>
                  </a:moveTo>
                  <a:lnTo>
                    <a:pt x="9326880" y="0"/>
                  </a:lnTo>
                  <a:lnTo>
                    <a:pt x="9326880" y="877824"/>
                  </a:lnTo>
                  <a:lnTo>
                    <a:pt x="0" y="877824"/>
                  </a:lnTo>
                  <a:close/>
                </a:path>
              </a:pathLst>
            </a:custGeom>
            <a:blipFill>
              <a:blip r:embed="rId2">
                <a:alphaModFix amt="0"/>
              </a:blip>
              <a:stretch>
                <a:fillRect l="0" t="-157028" r="0" b="-157028"/>
              </a:stretch>
            </a:blipFill>
          </p:spPr>
        </p:sp>
        <p:sp>
          <p:nvSpPr>
            <p:cNvPr name="TextBox 66" id="66"/>
            <p:cNvSpPr txBox="true"/>
            <p:nvPr/>
          </p:nvSpPr>
          <p:spPr>
            <a:xfrm>
              <a:off x="0" y="-28575"/>
              <a:ext cx="9326880" cy="906399"/>
            </a:xfrm>
            <a:prstGeom prst="rect">
              <a:avLst/>
            </a:prstGeom>
          </p:spPr>
          <p:txBody>
            <a:bodyPr anchor="ctr" rtlCol="false" tIns="0" lIns="0" bIns="0" rIns="0"/>
            <a:lstStyle/>
            <a:p>
              <a:pPr algn="l">
                <a:lnSpc>
                  <a:spcPts val="1980"/>
                </a:lnSpc>
              </a:pPr>
              <a:r>
                <a:rPr lang="en-US" sz="1650" b="true">
                  <a:solidFill>
                    <a:srgbClr val="E7EAF6"/>
                  </a:solidFill>
                  <a:latin typeface="Calibri (MS) Bold"/>
                  <a:ea typeface="Calibri (MS) Bold"/>
                  <a:cs typeface="Calibri (MS) Bold"/>
                  <a:sym typeface="Calibri (MS) Bold"/>
                </a:rPr>
                <a:t>DNN manual</a:t>
              </a:r>
            </a:p>
          </p:txBody>
        </p:sp>
      </p:grpSp>
      <p:grpSp>
        <p:nvGrpSpPr>
          <p:cNvPr name="Group 67" id="67"/>
          <p:cNvGrpSpPr/>
          <p:nvPr/>
        </p:nvGrpSpPr>
        <p:grpSpPr>
          <a:xfrm rot="0">
            <a:off x="7813357" y="4466654"/>
            <a:ext cx="3027045" cy="667893"/>
            <a:chOff x="0" y="0"/>
            <a:chExt cx="4036060" cy="890524"/>
          </a:xfrm>
        </p:grpSpPr>
        <p:sp>
          <p:nvSpPr>
            <p:cNvPr name="Freeform 68" id="68"/>
            <p:cNvSpPr/>
            <p:nvPr/>
          </p:nvSpPr>
          <p:spPr>
            <a:xfrm flipH="false" flipV="false" rot="0">
              <a:off x="0" y="0"/>
              <a:ext cx="4036060" cy="890524"/>
            </a:xfrm>
            <a:custGeom>
              <a:avLst/>
              <a:gdLst/>
              <a:ahLst/>
              <a:cxnLst/>
              <a:rect r="r" b="b" t="t" l="l"/>
              <a:pathLst>
                <a:path h="890524" w="4036060">
                  <a:moveTo>
                    <a:pt x="0" y="0"/>
                  </a:moveTo>
                  <a:lnTo>
                    <a:pt x="4036060" y="0"/>
                  </a:lnTo>
                  <a:lnTo>
                    <a:pt x="4036060" y="890524"/>
                  </a:lnTo>
                  <a:lnTo>
                    <a:pt x="0" y="890524"/>
                  </a:lnTo>
                  <a:close/>
                </a:path>
              </a:pathLst>
            </a:custGeom>
            <a:solidFill>
              <a:srgbClr val="171E38"/>
            </a:solidFill>
            <a:ln w="9525" cap="sq">
              <a:solidFill>
                <a:srgbClr val="2E3760"/>
              </a:solidFill>
              <a:prstDash val="solid"/>
              <a:miter/>
            </a:ln>
          </p:spPr>
        </p:sp>
      </p:grpSp>
      <p:grpSp>
        <p:nvGrpSpPr>
          <p:cNvPr name="Group 69" id="69"/>
          <p:cNvGrpSpPr/>
          <p:nvPr/>
        </p:nvGrpSpPr>
        <p:grpSpPr>
          <a:xfrm rot="0">
            <a:off x="7818120" y="4471416"/>
            <a:ext cx="3017520" cy="658368"/>
            <a:chOff x="0" y="0"/>
            <a:chExt cx="4023360" cy="877824"/>
          </a:xfrm>
        </p:grpSpPr>
        <p:sp>
          <p:nvSpPr>
            <p:cNvPr name="Freeform 70" id="70"/>
            <p:cNvSpPr/>
            <p:nvPr/>
          </p:nvSpPr>
          <p:spPr>
            <a:xfrm flipH="false" flipV="false" rot="0">
              <a:off x="0" y="0"/>
              <a:ext cx="4023360" cy="877824"/>
            </a:xfrm>
            <a:custGeom>
              <a:avLst/>
              <a:gdLst/>
              <a:ahLst/>
              <a:cxnLst/>
              <a:rect r="r" b="b" t="t" l="l"/>
              <a:pathLst>
                <a:path h="877824" w="4023360">
                  <a:moveTo>
                    <a:pt x="0" y="0"/>
                  </a:moveTo>
                  <a:lnTo>
                    <a:pt x="4023360" y="0"/>
                  </a:lnTo>
                  <a:lnTo>
                    <a:pt x="4023360" y="877824"/>
                  </a:lnTo>
                  <a:lnTo>
                    <a:pt x="0" y="877824"/>
                  </a:lnTo>
                  <a:close/>
                </a:path>
              </a:pathLst>
            </a:custGeom>
            <a:blipFill>
              <a:blip r:embed="rId2">
                <a:alphaModFix amt="0"/>
              </a:blip>
              <a:stretch>
                <a:fillRect l="0" t="-39306" r="0" b="-39306"/>
              </a:stretch>
            </a:blipFill>
          </p:spPr>
        </p:sp>
        <p:sp>
          <p:nvSpPr>
            <p:cNvPr name="TextBox 71" id="71"/>
            <p:cNvSpPr txBox="true"/>
            <p:nvPr/>
          </p:nvSpPr>
          <p:spPr>
            <a:xfrm>
              <a:off x="0" y="-28575"/>
              <a:ext cx="40233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0.604</a:t>
              </a:r>
            </a:p>
          </p:txBody>
        </p:sp>
      </p:grpSp>
      <p:grpSp>
        <p:nvGrpSpPr>
          <p:cNvPr name="Group 72" id="72"/>
          <p:cNvGrpSpPr/>
          <p:nvPr/>
        </p:nvGrpSpPr>
        <p:grpSpPr>
          <a:xfrm rot="0">
            <a:off x="10830878" y="4466654"/>
            <a:ext cx="3712845" cy="667893"/>
            <a:chOff x="0" y="0"/>
            <a:chExt cx="4950460" cy="890524"/>
          </a:xfrm>
        </p:grpSpPr>
        <p:sp>
          <p:nvSpPr>
            <p:cNvPr name="Freeform 73" id="73"/>
            <p:cNvSpPr/>
            <p:nvPr/>
          </p:nvSpPr>
          <p:spPr>
            <a:xfrm flipH="false" flipV="false" rot="0">
              <a:off x="0" y="0"/>
              <a:ext cx="4950460" cy="890524"/>
            </a:xfrm>
            <a:custGeom>
              <a:avLst/>
              <a:gdLst/>
              <a:ahLst/>
              <a:cxnLst/>
              <a:rect r="r" b="b" t="t" l="l"/>
              <a:pathLst>
                <a:path h="890524" w="4950460">
                  <a:moveTo>
                    <a:pt x="0" y="0"/>
                  </a:moveTo>
                  <a:lnTo>
                    <a:pt x="4950460" y="0"/>
                  </a:lnTo>
                  <a:lnTo>
                    <a:pt x="4950460" y="890524"/>
                  </a:lnTo>
                  <a:lnTo>
                    <a:pt x="0" y="890524"/>
                  </a:lnTo>
                  <a:close/>
                </a:path>
              </a:pathLst>
            </a:custGeom>
            <a:solidFill>
              <a:srgbClr val="171E38"/>
            </a:solidFill>
            <a:ln w="9525" cap="sq">
              <a:solidFill>
                <a:srgbClr val="2E3760"/>
              </a:solidFill>
              <a:prstDash val="solid"/>
              <a:miter/>
            </a:ln>
          </p:spPr>
        </p:sp>
      </p:grpSp>
      <p:grpSp>
        <p:nvGrpSpPr>
          <p:cNvPr name="Group 74" id="74"/>
          <p:cNvGrpSpPr/>
          <p:nvPr/>
        </p:nvGrpSpPr>
        <p:grpSpPr>
          <a:xfrm rot="0">
            <a:off x="10835640" y="4471416"/>
            <a:ext cx="3703320" cy="658368"/>
            <a:chOff x="0" y="0"/>
            <a:chExt cx="4937760" cy="877824"/>
          </a:xfrm>
        </p:grpSpPr>
        <p:sp>
          <p:nvSpPr>
            <p:cNvPr name="Freeform 75" id="75"/>
            <p:cNvSpPr/>
            <p:nvPr/>
          </p:nvSpPr>
          <p:spPr>
            <a:xfrm flipH="false" flipV="false" rot="0">
              <a:off x="0" y="0"/>
              <a:ext cx="4937760" cy="877824"/>
            </a:xfrm>
            <a:custGeom>
              <a:avLst/>
              <a:gdLst/>
              <a:ahLst/>
              <a:cxnLst/>
              <a:rect r="r" b="b" t="t" l="l"/>
              <a:pathLst>
                <a:path h="877824" w="4937760">
                  <a:moveTo>
                    <a:pt x="0" y="0"/>
                  </a:moveTo>
                  <a:lnTo>
                    <a:pt x="4937760" y="0"/>
                  </a:lnTo>
                  <a:lnTo>
                    <a:pt x="4937760" y="877824"/>
                  </a:lnTo>
                  <a:lnTo>
                    <a:pt x="0" y="877824"/>
                  </a:lnTo>
                  <a:close/>
                </a:path>
              </a:pathLst>
            </a:custGeom>
            <a:blipFill>
              <a:blip r:embed="rId2">
                <a:alphaModFix amt="0"/>
              </a:blip>
              <a:stretch>
                <a:fillRect l="0" t="-59603" r="0" b="-59603"/>
              </a:stretch>
            </a:blipFill>
          </p:spPr>
        </p:sp>
        <p:sp>
          <p:nvSpPr>
            <p:cNvPr name="TextBox 76" id="76"/>
            <p:cNvSpPr txBox="true"/>
            <p:nvPr/>
          </p:nvSpPr>
          <p:spPr>
            <a:xfrm>
              <a:off x="0" y="-28575"/>
              <a:ext cx="49377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21.263</a:t>
              </a:r>
            </a:p>
          </p:txBody>
        </p:sp>
      </p:grpSp>
      <p:grpSp>
        <p:nvGrpSpPr>
          <p:cNvPr name="Group 77" id="77"/>
          <p:cNvGrpSpPr/>
          <p:nvPr/>
        </p:nvGrpSpPr>
        <p:grpSpPr>
          <a:xfrm rot="0">
            <a:off x="14534198" y="4466654"/>
            <a:ext cx="2889885" cy="667893"/>
            <a:chOff x="0" y="0"/>
            <a:chExt cx="3853180" cy="890524"/>
          </a:xfrm>
        </p:grpSpPr>
        <p:sp>
          <p:nvSpPr>
            <p:cNvPr name="Freeform 78" id="78"/>
            <p:cNvSpPr/>
            <p:nvPr/>
          </p:nvSpPr>
          <p:spPr>
            <a:xfrm flipH="false" flipV="false" rot="0">
              <a:off x="0" y="0"/>
              <a:ext cx="3853180" cy="890524"/>
            </a:xfrm>
            <a:custGeom>
              <a:avLst/>
              <a:gdLst/>
              <a:ahLst/>
              <a:cxnLst/>
              <a:rect r="r" b="b" t="t" l="l"/>
              <a:pathLst>
                <a:path h="890524" w="3853180">
                  <a:moveTo>
                    <a:pt x="0" y="0"/>
                  </a:moveTo>
                  <a:lnTo>
                    <a:pt x="3853180" y="0"/>
                  </a:lnTo>
                  <a:lnTo>
                    <a:pt x="3853180" y="890524"/>
                  </a:lnTo>
                  <a:lnTo>
                    <a:pt x="0" y="890524"/>
                  </a:lnTo>
                  <a:close/>
                </a:path>
              </a:pathLst>
            </a:custGeom>
            <a:solidFill>
              <a:srgbClr val="171E38"/>
            </a:solidFill>
            <a:ln w="9525" cap="sq">
              <a:solidFill>
                <a:srgbClr val="2E3760"/>
              </a:solidFill>
              <a:prstDash val="solid"/>
              <a:miter/>
            </a:ln>
          </p:spPr>
        </p:sp>
      </p:grpSp>
      <p:grpSp>
        <p:nvGrpSpPr>
          <p:cNvPr name="Group 79" id="79"/>
          <p:cNvGrpSpPr/>
          <p:nvPr/>
        </p:nvGrpSpPr>
        <p:grpSpPr>
          <a:xfrm rot="0">
            <a:off x="14538960" y="4471416"/>
            <a:ext cx="2880360" cy="658368"/>
            <a:chOff x="0" y="0"/>
            <a:chExt cx="3840480" cy="877824"/>
          </a:xfrm>
        </p:grpSpPr>
        <p:sp>
          <p:nvSpPr>
            <p:cNvPr name="Freeform 80" id="80"/>
            <p:cNvSpPr/>
            <p:nvPr/>
          </p:nvSpPr>
          <p:spPr>
            <a:xfrm flipH="false" flipV="false" rot="0">
              <a:off x="0" y="0"/>
              <a:ext cx="3840480" cy="877824"/>
            </a:xfrm>
            <a:custGeom>
              <a:avLst/>
              <a:gdLst/>
              <a:ahLst/>
              <a:cxnLst/>
              <a:rect r="r" b="b" t="t" l="l"/>
              <a:pathLst>
                <a:path h="877824" w="3840480">
                  <a:moveTo>
                    <a:pt x="0" y="0"/>
                  </a:moveTo>
                  <a:lnTo>
                    <a:pt x="3840480" y="0"/>
                  </a:lnTo>
                  <a:lnTo>
                    <a:pt x="3840480" y="877824"/>
                  </a:lnTo>
                  <a:lnTo>
                    <a:pt x="0" y="877824"/>
                  </a:lnTo>
                  <a:close/>
                </a:path>
              </a:pathLst>
            </a:custGeom>
            <a:blipFill>
              <a:blip r:embed="rId2">
                <a:alphaModFix amt="0"/>
              </a:blip>
              <a:stretch>
                <a:fillRect l="0" t="-35247" r="0" b="-35247"/>
              </a:stretch>
            </a:blipFill>
          </p:spPr>
        </p:sp>
        <p:sp>
          <p:nvSpPr>
            <p:cNvPr name="TextBox 81" id="81"/>
            <p:cNvSpPr txBox="true"/>
            <p:nvPr/>
          </p:nvSpPr>
          <p:spPr>
            <a:xfrm>
              <a:off x="0" y="-28575"/>
              <a:ext cx="384048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a:t>
              </a:r>
            </a:p>
          </p:txBody>
        </p:sp>
      </p:grpSp>
      <p:grpSp>
        <p:nvGrpSpPr>
          <p:cNvPr name="Group 82" id="82"/>
          <p:cNvGrpSpPr/>
          <p:nvPr/>
        </p:nvGrpSpPr>
        <p:grpSpPr>
          <a:xfrm rot="0">
            <a:off x="818198" y="5125021"/>
            <a:ext cx="7004685" cy="667893"/>
            <a:chOff x="0" y="0"/>
            <a:chExt cx="9339580" cy="890524"/>
          </a:xfrm>
        </p:grpSpPr>
        <p:sp>
          <p:nvSpPr>
            <p:cNvPr name="Freeform 83" id="83"/>
            <p:cNvSpPr/>
            <p:nvPr/>
          </p:nvSpPr>
          <p:spPr>
            <a:xfrm flipH="false" flipV="false" rot="0">
              <a:off x="0" y="0"/>
              <a:ext cx="9339580" cy="890524"/>
            </a:xfrm>
            <a:custGeom>
              <a:avLst/>
              <a:gdLst/>
              <a:ahLst/>
              <a:cxnLst/>
              <a:rect r="r" b="b" t="t" l="l"/>
              <a:pathLst>
                <a:path h="890524" w="9339580">
                  <a:moveTo>
                    <a:pt x="0" y="0"/>
                  </a:moveTo>
                  <a:lnTo>
                    <a:pt x="9339580" y="0"/>
                  </a:lnTo>
                  <a:lnTo>
                    <a:pt x="9339580" y="890524"/>
                  </a:lnTo>
                  <a:lnTo>
                    <a:pt x="0" y="890524"/>
                  </a:lnTo>
                  <a:close/>
                </a:path>
              </a:pathLst>
            </a:custGeom>
            <a:solidFill>
              <a:srgbClr val="171E38"/>
            </a:solidFill>
            <a:ln w="9525" cap="sq">
              <a:solidFill>
                <a:srgbClr val="2E3760"/>
              </a:solidFill>
              <a:prstDash val="solid"/>
              <a:miter/>
            </a:ln>
          </p:spPr>
        </p:sp>
      </p:grpSp>
      <p:grpSp>
        <p:nvGrpSpPr>
          <p:cNvPr name="Group 84" id="84"/>
          <p:cNvGrpSpPr/>
          <p:nvPr/>
        </p:nvGrpSpPr>
        <p:grpSpPr>
          <a:xfrm rot="0">
            <a:off x="822960" y="5129784"/>
            <a:ext cx="6995160" cy="658368"/>
            <a:chOff x="0" y="0"/>
            <a:chExt cx="9326880" cy="877824"/>
          </a:xfrm>
        </p:grpSpPr>
        <p:sp>
          <p:nvSpPr>
            <p:cNvPr name="Freeform 85" id="85"/>
            <p:cNvSpPr/>
            <p:nvPr/>
          </p:nvSpPr>
          <p:spPr>
            <a:xfrm flipH="false" flipV="false" rot="0">
              <a:off x="0" y="0"/>
              <a:ext cx="9326880" cy="877824"/>
            </a:xfrm>
            <a:custGeom>
              <a:avLst/>
              <a:gdLst/>
              <a:ahLst/>
              <a:cxnLst/>
              <a:rect r="r" b="b" t="t" l="l"/>
              <a:pathLst>
                <a:path h="877824" w="9326880">
                  <a:moveTo>
                    <a:pt x="0" y="0"/>
                  </a:moveTo>
                  <a:lnTo>
                    <a:pt x="9326880" y="0"/>
                  </a:lnTo>
                  <a:lnTo>
                    <a:pt x="9326880" y="877824"/>
                  </a:lnTo>
                  <a:lnTo>
                    <a:pt x="0" y="877824"/>
                  </a:lnTo>
                  <a:close/>
                </a:path>
              </a:pathLst>
            </a:custGeom>
            <a:blipFill>
              <a:blip r:embed="rId2">
                <a:alphaModFix amt="0"/>
              </a:blip>
              <a:stretch>
                <a:fillRect l="0" t="-157028" r="0" b="-157028"/>
              </a:stretch>
            </a:blipFill>
          </p:spPr>
        </p:sp>
        <p:sp>
          <p:nvSpPr>
            <p:cNvPr name="TextBox 86" id="86"/>
            <p:cNvSpPr txBox="true"/>
            <p:nvPr/>
          </p:nvSpPr>
          <p:spPr>
            <a:xfrm>
              <a:off x="0" y="-28575"/>
              <a:ext cx="9326880" cy="906399"/>
            </a:xfrm>
            <a:prstGeom prst="rect">
              <a:avLst/>
            </a:prstGeom>
          </p:spPr>
          <p:txBody>
            <a:bodyPr anchor="ctr" rtlCol="false" tIns="0" lIns="0" bIns="0" rIns="0"/>
            <a:lstStyle/>
            <a:p>
              <a:pPr algn="l">
                <a:lnSpc>
                  <a:spcPts val="1980"/>
                </a:lnSpc>
              </a:pPr>
              <a:r>
                <a:rPr lang="en-US" sz="1650" b="true">
                  <a:solidFill>
                    <a:srgbClr val="E7EAF6"/>
                  </a:solidFill>
                  <a:latin typeface="Calibri (MS) Bold"/>
                  <a:ea typeface="Calibri (MS) Bold"/>
                  <a:cs typeface="Calibri (MS) Bold"/>
                  <a:sym typeface="Calibri (MS) Bold"/>
                </a:rPr>
                <a:t>AutoML — Extra Trees</a:t>
              </a:r>
            </a:p>
          </p:txBody>
        </p:sp>
      </p:grpSp>
      <p:grpSp>
        <p:nvGrpSpPr>
          <p:cNvPr name="Group 87" id="87"/>
          <p:cNvGrpSpPr/>
          <p:nvPr/>
        </p:nvGrpSpPr>
        <p:grpSpPr>
          <a:xfrm rot="0">
            <a:off x="7813357" y="5125021"/>
            <a:ext cx="3027045" cy="667893"/>
            <a:chOff x="0" y="0"/>
            <a:chExt cx="4036060" cy="890524"/>
          </a:xfrm>
        </p:grpSpPr>
        <p:sp>
          <p:nvSpPr>
            <p:cNvPr name="Freeform 88" id="88"/>
            <p:cNvSpPr/>
            <p:nvPr/>
          </p:nvSpPr>
          <p:spPr>
            <a:xfrm flipH="false" flipV="false" rot="0">
              <a:off x="0" y="0"/>
              <a:ext cx="4036060" cy="890524"/>
            </a:xfrm>
            <a:custGeom>
              <a:avLst/>
              <a:gdLst/>
              <a:ahLst/>
              <a:cxnLst/>
              <a:rect r="r" b="b" t="t" l="l"/>
              <a:pathLst>
                <a:path h="890524" w="4036060">
                  <a:moveTo>
                    <a:pt x="0" y="0"/>
                  </a:moveTo>
                  <a:lnTo>
                    <a:pt x="4036060" y="0"/>
                  </a:lnTo>
                  <a:lnTo>
                    <a:pt x="4036060" y="890524"/>
                  </a:lnTo>
                  <a:lnTo>
                    <a:pt x="0" y="890524"/>
                  </a:lnTo>
                  <a:close/>
                </a:path>
              </a:pathLst>
            </a:custGeom>
            <a:solidFill>
              <a:srgbClr val="171E38"/>
            </a:solidFill>
            <a:ln w="9525" cap="sq">
              <a:solidFill>
                <a:srgbClr val="2E3760"/>
              </a:solidFill>
              <a:prstDash val="solid"/>
              <a:miter/>
            </a:ln>
          </p:spPr>
        </p:sp>
      </p:grpSp>
      <p:grpSp>
        <p:nvGrpSpPr>
          <p:cNvPr name="Group 89" id="89"/>
          <p:cNvGrpSpPr/>
          <p:nvPr/>
        </p:nvGrpSpPr>
        <p:grpSpPr>
          <a:xfrm rot="0">
            <a:off x="7818120" y="5129784"/>
            <a:ext cx="3017520" cy="658368"/>
            <a:chOff x="0" y="0"/>
            <a:chExt cx="4023360" cy="877824"/>
          </a:xfrm>
        </p:grpSpPr>
        <p:sp>
          <p:nvSpPr>
            <p:cNvPr name="Freeform 90" id="90"/>
            <p:cNvSpPr/>
            <p:nvPr/>
          </p:nvSpPr>
          <p:spPr>
            <a:xfrm flipH="false" flipV="false" rot="0">
              <a:off x="0" y="0"/>
              <a:ext cx="4023360" cy="877824"/>
            </a:xfrm>
            <a:custGeom>
              <a:avLst/>
              <a:gdLst/>
              <a:ahLst/>
              <a:cxnLst/>
              <a:rect r="r" b="b" t="t" l="l"/>
              <a:pathLst>
                <a:path h="877824" w="4023360">
                  <a:moveTo>
                    <a:pt x="0" y="0"/>
                  </a:moveTo>
                  <a:lnTo>
                    <a:pt x="4023360" y="0"/>
                  </a:lnTo>
                  <a:lnTo>
                    <a:pt x="4023360" y="877824"/>
                  </a:lnTo>
                  <a:lnTo>
                    <a:pt x="0" y="877824"/>
                  </a:lnTo>
                  <a:close/>
                </a:path>
              </a:pathLst>
            </a:custGeom>
            <a:blipFill>
              <a:blip r:embed="rId2">
                <a:alphaModFix amt="0"/>
              </a:blip>
              <a:stretch>
                <a:fillRect l="0" t="-39306" r="0" b="-39306"/>
              </a:stretch>
            </a:blipFill>
          </p:spPr>
        </p:sp>
        <p:sp>
          <p:nvSpPr>
            <p:cNvPr name="TextBox 91" id="91"/>
            <p:cNvSpPr txBox="true"/>
            <p:nvPr/>
          </p:nvSpPr>
          <p:spPr>
            <a:xfrm>
              <a:off x="0" y="-28575"/>
              <a:ext cx="40233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0.885</a:t>
              </a:r>
            </a:p>
          </p:txBody>
        </p:sp>
      </p:grpSp>
      <p:grpSp>
        <p:nvGrpSpPr>
          <p:cNvPr name="Group 92" id="92"/>
          <p:cNvGrpSpPr/>
          <p:nvPr/>
        </p:nvGrpSpPr>
        <p:grpSpPr>
          <a:xfrm rot="0">
            <a:off x="10830878" y="5125021"/>
            <a:ext cx="3712845" cy="667893"/>
            <a:chOff x="0" y="0"/>
            <a:chExt cx="4950460" cy="890524"/>
          </a:xfrm>
        </p:grpSpPr>
        <p:sp>
          <p:nvSpPr>
            <p:cNvPr name="Freeform 93" id="93"/>
            <p:cNvSpPr/>
            <p:nvPr/>
          </p:nvSpPr>
          <p:spPr>
            <a:xfrm flipH="false" flipV="false" rot="0">
              <a:off x="0" y="0"/>
              <a:ext cx="4950460" cy="890524"/>
            </a:xfrm>
            <a:custGeom>
              <a:avLst/>
              <a:gdLst/>
              <a:ahLst/>
              <a:cxnLst/>
              <a:rect r="r" b="b" t="t" l="l"/>
              <a:pathLst>
                <a:path h="890524" w="4950460">
                  <a:moveTo>
                    <a:pt x="0" y="0"/>
                  </a:moveTo>
                  <a:lnTo>
                    <a:pt x="4950460" y="0"/>
                  </a:lnTo>
                  <a:lnTo>
                    <a:pt x="4950460" y="890524"/>
                  </a:lnTo>
                  <a:lnTo>
                    <a:pt x="0" y="890524"/>
                  </a:lnTo>
                  <a:close/>
                </a:path>
              </a:pathLst>
            </a:custGeom>
            <a:solidFill>
              <a:srgbClr val="171E38"/>
            </a:solidFill>
            <a:ln w="9525" cap="sq">
              <a:solidFill>
                <a:srgbClr val="2E3760"/>
              </a:solidFill>
              <a:prstDash val="solid"/>
              <a:miter/>
            </a:ln>
          </p:spPr>
        </p:sp>
      </p:grpSp>
      <p:grpSp>
        <p:nvGrpSpPr>
          <p:cNvPr name="Group 94" id="94"/>
          <p:cNvGrpSpPr/>
          <p:nvPr/>
        </p:nvGrpSpPr>
        <p:grpSpPr>
          <a:xfrm rot="0">
            <a:off x="10835640" y="5129784"/>
            <a:ext cx="3703320" cy="658368"/>
            <a:chOff x="0" y="0"/>
            <a:chExt cx="4937760" cy="877824"/>
          </a:xfrm>
        </p:grpSpPr>
        <p:sp>
          <p:nvSpPr>
            <p:cNvPr name="Freeform 95" id="95"/>
            <p:cNvSpPr/>
            <p:nvPr/>
          </p:nvSpPr>
          <p:spPr>
            <a:xfrm flipH="false" flipV="false" rot="0">
              <a:off x="0" y="0"/>
              <a:ext cx="4937760" cy="877824"/>
            </a:xfrm>
            <a:custGeom>
              <a:avLst/>
              <a:gdLst/>
              <a:ahLst/>
              <a:cxnLst/>
              <a:rect r="r" b="b" t="t" l="l"/>
              <a:pathLst>
                <a:path h="877824" w="4937760">
                  <a:moveTo>
                    <a:pt x="0" y="0"/>
                  </a:moveTo>
                  <a:lnTo>
                    <a:pt x="4937760" y="0"/>
                  </a:lnTo>
                  <a:lnTo>
                    <a:pt x="4937760" y="877824"/>
                  </a:lnTo>
                  <a:lnTo>
                    <a:pt x="0" y="877824"/>
                  </a:lnTo>
                  <a:close/>
                </a:path>
              </a:pathLst>
            </a:custGeom>
            <a:blipFill>
              <a:blip r:embed="rId2">
                <a:alphaModFix amt="0"/>
              </a:blip>
              <a:stretch>
                <a:fillRect l="0" t="-59603" r="0" b="-59603"/>
              </a:stretch>
            </a:blipFill>
          </p:spPr>
        </p:sp>
        <p:sp>
          <p:nvSpPr>
            <p:cNvPr name="TextBox 96" id="96"/>
            <p:cNvSpPr txBox="true"/>
            <p:nvPr/>
          </p:nvSpPr>
          <p:spPr>
            <a:xfrm>
              <a:off x="0" y="-28575"/>
              <a:ext cx="49377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a:t>
              </a:r>
            </a:p>
          </p:txBody>
        </p:sp>
      </p:grpSp>
      <p:grpSp>
        <p:nvGrpSpPr>
          <p:cNvPr name="Group 97" id="97"/>
          <p:cNvGrpSpPr/>
          <p:nvPr/>
        </p:nvGrpSpPr>
        <p:grpSpPr>
          <a:xfrm rot="0">
            <a:off x="14534198" y="5125021"/>
            <a:ext cx="2889885" cy="667893"/>
            <a:chOff x="0" y="0"/>
            <a:chExt cx="3853180" cy="890524"/>
          </a:xfrm>
        </p:grpSpPr>
        <p:sp>
          <p:nvSpPr>
            <p:cNvPr name="Freeform 98" id="98"/>
            <p:cNvSpPr/>
            <p:nvPr/>
          </p:nvSpPr>
          <p:spPr>
            <a:xfrm flipH="false" flipV="false" rot="0">
              <a:off x="0" y="0"/>
              <a:ext cx="3853180" cy="890524"/>
            </a:xfrm>
            <a:custGeom>
              <a:avLst/>
              <a:gdLst/>
              <a:ahLst/>
              <a:cxnLst/>
              <a:rect r="r" b="b" t="t" l="l"/>
              <a:pathLst>
                <a:path h="890524" w="3853180">
                  <a:moveTo>
                    <a:pt x="0" y="0"/>
                  </a:moveTo>
                  <a:lnTo>
                    <a:pt x="3853180" y="0"/>
                  </a:lnTo>
                  <a:lnTo>
                    <a:pt x="3853180" y="890524"/>
                  </a:lnTo>
                  <a:lnTo>
                    <a:pt x="0" y="890524"/>
                  </a:lnTo>
                  <a:close/>
                </a:path>
              </a:pathLst>
            </a:custGeom>
            <a:solidFill>
              <a:srgbClr val="171E38"/>
            </a:solidFill>
            <a:ln w="9525" cap="sq">
              <a:solidFill>
                <a:srgbClr val="2E3760"/>
              </a:solidFill>
              <a:prstDash val="solid"/>
              <a:miter/>
            </a:ln>
          </p:spPr>
        </p:sp>
      </p:grpSp>
      <p:grpSp>
        <p:nvGrpSpPr>
          <p:cNvPr name="Group 99" id="99"/>
          <p:cNvGrpSpPr/>
          <p:nvPr/>
        </p:nvGrpSpPr>
        <p:grpSpPr>
          <a:xfrm rot="0">
            <a:off x="14538960" y="5129784"/>
            <a:ext cx="2880360" cy="658368"/>
            <a:chOff x="0" y="0"/>
            <a:chExt cx="3840480" cy="877824"/>
          </a:xfrm>
        </p:grpSpPr>
        <p:sp>
          <p:nvSpPr>
            <p:cNvPr name="Freeform 100" id="100"/>
            <p:cNvSpPr/>
            <p:nvPr/>
          </p:nvSpPr>
          <p:spPr>
            <a:xfrm flipH="false" flipV="false" rot="0">
              <a:off x="0" y="0"/>
              <a:ext cx="3840480" cy="877824"/>
            </a:xfrm>
            <a:custGeom>
              <a:avLst/>
              <a:gdLst/>
              <a:ahLst/>
              <a:cxnLst/>
              <a:rect r="r" b="b" t="t" l="l"/>
              <a:pathLst>
                <a:path h="877824" w="3840480">
                  <a:moveTo>
                    <a:pt x="0" y="0"/>
                  </a:moveTo>
                  <a:lnTo>
                    <a:pt x="3840480" y="0"/>
                  </a:lnTo>
                  <a:lnTo>
                    <a:pt x="3840480" y="877824"/>
                  </a:lnTo>
                  <a:lnTo>
                    <a:pt x="0" y="877824"/>
                  </a:lnTo>
                  <a:close/>
                </a:path>
              </a:pathLst>
            </a:custGeom>
            <a:blipFill>
              <a:blip r:embed="rId2">
                <a:alphaModFix amt="0"/>
              </a:blip>
              <a:stretch>
                <a:fillRect l="0" t="-35247" r="0" b="-35247"/>
              </a:stretch>
            </a:blipFill>
          </p:spPr>
        </p:sp>
        <p:sp>
          <p:nvSpPr>
            <p:cNvPr name="TextBox 101" id="101"/>
            <p:cNvSpPr txBox="true"/>
            <p:nvPr/>
          </p:nvSpPr>
          <p:spPr>
            <a:xfrm>
              <a:off x="0" y="-28575"/>
              <a:ext cx="384048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29.9</a:t>
              </a:r>
            </a:p>
          </p:txBody>
        </p:sp>
      </p:grpSp>
      <p:grpSp>
        <p:nvGrpSpPr>
          <p:cNvPr name="Group 102" id="102"/>
          <p:cNvGrpSpPr/>
          <p:nvPr/>
        </p:nvGrpSpPr>
        <p:grpSpPr>
          <a:xfrm rot="0">
            <a:off x="818198" y="5783390"/>
            <a:ext cx="7004685" cy="667893"/>
            <a:chOff x="0" y="0"/>
            <a:chExt cx="9339580" cy="890524"/>
          </a:xfrm>
        </p:grpSpPr>
        <p:sp>
          <p:nvSpPr>
            <p:cNvPr name="Freeform 103" id="103"/>
            <p:cNvSpPr/>
            <p:nvPr/>
          </p:nvSpPr>
          <p:spPr>
            <a:xfrm flipH="false" flipV="false" rot="0">
              <a:off x="0" y="0"/>
              <a:ext cx="9339580" cy="890524"/>
            </a:xfrm>
            <a:custGeom>
              <a:avLst/>
              <a:gdLst/>
              <a:ahLst/>
              <a:cxnLst/>
              <a:rect r="r" b="b" t="t" l="l"/>
              <a:pathLst>
                <a:path h="890524" w="9339580">
                  <a:moveTo>
                    <a:pt x="0" y="0"/>
                  </a:moveTo>
                  <a:lnTo>
                    <a:pt x="9339580" y="0"/>
                  </a:lnTo>
                  <a:lnTo>
                    <a:pt x="9339580" y="890524"/>
                  </a:lnTo>
                  <a:lnTo>
                    <a:pt x="0" y="890524"/>
                  </a:lnTo>
                  <a:close/>
                </a:path>
              </a:pathLst>
            </a:custGeom>
            <a:solidFill>
              <a:srgbClr val="171E38"/>
            </a:solidFill>
            <a:ln w="9525" cap="sq">
              <a:solidFill>
                <a:srgbClr val="2E3760"/>
              </a:solidFill>
              <a:prstDash val="solid"/>
              <a:miter/>
            </a:ln>
          </p:spPr>
        </p:sp>
      </p:grpSp>
      <p:grpSp>
        <p:nvGrpSpPr>
          <p:cNvPr name="Group 104" id="104"/>
          <p:cNvGrpSpPr/>
          <p:nvPr/>
        </p:nvGrpSpPr>
        <p:grpSpPr>
          <a:xfrm rot="0">
            <a:off x="822960" y="5788152"/>
            <a:ext cx="6995160" cy="658368"/>
            <a:chOff x="0" y="0"/>
            <a:chExt cx="9326880" cy="877824"/>
          </a:xfrm>
        </p:grpSpPr>
        <p:sp>
          <p:nvSpPr>
            <p:cNvPr name="Freeform 105" id="105"/>
            <p:cNvSpPr/>
            <p:nvPr/>
          </p:nvSpPr>
          <p:spPr>
            <a:xfrm flipH="false" flipV="false" rot="0">
              <a:off x="0" y="0"/>
              <a:ext cx="9326880" cy="877824"/>
            </a:xfrm>
            <a:custGeom>
              <a:avLst/>
              <a:gdLst/>
              <a:ahLst/>
              <a:cxnLst/>
              <a:rect r="r" b="b" t="t" l="l"/>
              <a:pathLst>
                <a:path h="877824" w="9326880">
                  <a:moveTo>
                    <a:pt x="0" y="0"/>
                  </a:moveTo>
                  <a:lnTo>
                    <a:pt x="9326880" y="0"/>
                  </a:lnTo>
                  <a:lnTo>
                    <a:pt x="9326880" y="877824"/>
                  </a:lnTo>
                  <a:lnTo>
                    <a:pt x="0" y="877824"/>
                  </a:lnTo>
                  <a:close/>
                </a:path>
              </a:pathLst>
            </a:custGeom>
            <a:blipFill>
              <a:blip r:embed="rId2">
                <a:alphaModFix amt="0"/>
              </a:blip>
              <a:stretch>
                <a:fillRect l="0" t="-157028" r="0" b="-157028"/>
              </a:stretch>
            </a:blipFill>
          </p:spPr>
        </p:sp>
        <p:sp>
          <p:nvSpPr>
            <p:cNvPr name="TextBox 106" id="106"/>
            <p:cNvSpPr txBox="true"/>
            <p:nvPr/>
          </p:nvSpPr>
          <p:spPr>
            <a:xfrm>
              <a:off x="0" y="-28575"/>
              <a:ext cx="9326880" cy="906399"/>
            </a:xfrm>
            <a:prstGeom prst="rect">
              <a:avLst/>
            </a:prstGeom>
          </p:spPr>
          <p:txBody>
            <a:bodyPr anchor="ctr" rtlCol="false" tIns="0" lIns="0" bIns="0" rIns="0"/>
            <a:lstStyle/>
            <a:p>
              <a:pPr algn="l">
                <a:lnSpc>
                  <a:spcPts val="1980"/>
                </a:lnSpc>
              </a:pPr>
              <a:r>
                <a:rPr lang="en-US" sz="1650" b="true">
                  <a:solidFill>
                    <a:srgbClr val="E7EAF6"/>
                  </a:solidFill>
                  <a:latin typeface="Calibri (MS) Bold"/>
                  <a:ea typeface="Calibri (MS) Bold"/>
                  <a:cs typeface="Calibri (MS) Bold"/>
                  <a:sym typeface="Calibri (MS) Bold"/>
                </a:rPr>
                <a:t>DNN + NAS</a:t>
              </a:r>
            </a:p>
          </p:txBody>
        </p:sp>
      </p:grpSp>
      <p:grpSp>
        <p:nvGrpSpPr>
          <p:cNvPr name="Group 107" id="107"/>
          <p:cNvGrpSpPr/>
          <p:nvPr/>
        </p:nvGrpSpPr>
        <p:grpSpPr>
          <a:xfrm rot="0">
            <a:off x="7813357" y="5783390"/>
            <a:ext cx="3027045" cy="667893"/>
            <a:chOff x="0" y="0"/>
            <a:chExt cx="4036060" cy="890524"/>
          </a:xfrm>
        </p:grpSpPr>
        <p:sp>
          <p:nvSpPr>
            <p:cNvPr name="Freeform 108" id="108"/>
            <p:cNvSpPr/>
            <p:nvPr/>
          </p:nvSpPr>
          <p:spPr>
            <a:xfrm flipH="false" flipV="false" rot="0">
              <a:off x="0" y="0"/>
              <a:ext cx="4036060" cy="890524"/>
            </a:xfrm>
            <a:custGeom>
              <a:avLst/>
              <a:gdLst/>
              <a:ahLst/>
              <a:cxnLst/>
              <a:rect r="r" b="b" t="t" l="l"/>
              <a:pathLst>
                <a:path h="890524" w="4036060">
                  <a:moveTo>
                    <a:pt x="0" y="0"/>
                  </a:moveTo>
                  <a:lnTo>
                    <a:pt x="4036060" y="0"/>
                  </a:lnTo>
                  <a:lnTo>
                    <a:pt x="4036060" y="890524"/>
                  </a:lnTo>
                  <a:lnTo>
                    <a:pt x="0" y="890524"/>
                  </a:lnTo>
                  <a:close/>
                </a:path>
              </a:pathLst>
            </a:custGeom>
            <a:solidFill>
              <a:srgbClr val="171E38"/>
            </a:solidFill>
            <a:ln w="9525" cap="sq">
              <a:solidFill>
                <a:srgbClr val="2E3760"/>
              </a:solidFill>
              <a:prstDash val="solid"/>
              <a:miter/>
            </a:ln>
          </p:spPr>
        </p:sp>
      </p:grpSp>
      <p:grpSp>
        <p:nvGrpSpPr>
          <p:cNvPr name="Group 109" id="109"/>
          <p:cNvGrpSpPr/>
          <p:nvPr/>
        </p:nvGrpSpPr>
        <p:grpSpPr>
          <a:xfrm rot="0">
            <a:off x="7818120" y="5788152"/>
            <a:ext cx="3017520" cy="658368"/>
            <a:chOff x="0" y="0"/>
            <a:chExt cx="4023360" cy="877824"/>
          </a:xfrm>
        </p:grpSpPr>
        <p:sp>
          <p:nvSpPr>
            <p:cNvPr name="Freeform 110" id="110"/>
            <p:cNvSpPr/>
            <p:nvPr/>
          </p:nvSpPr>
          <p:spPr>
            <a:xfrm flipH="false" flipV="false" rot="0">
              <a:off x="0" y="0"/>
              <a:ext cx="4023360" cy="877824"/>
            </a:xfrm>
            <a:custGeom>
              <a:avLst/>
              <a:gdLst/>
              <a:ahLst/>
              <a:cxnLst/>
              <a:rect r="r" b="b" t="t" l="l"/>
              <a:pathLst>
                <a:path h="877824" w="4023360">
                  <a:moveTo>
                    <a:pt x="0" y="0"/>
                  </a:moveTo>
                  <a:lnTo>
                    <a:pt x="4023360" y="0"/>
                  </a:lnTo>
                  <a:lnTo>
                    <a:pt x="4023360" y="877824"/>
                  </a:lnTo>
                  <a:lnTo>
                    <a:pt x="0" y="877824"/>
                  </a:lnTo>
                  <a:close/>
                </a:path>
              </a:pathLst>
            </a:custGeom>
            <a:blipFill>
              <a:blip r:embed="rId2">
                <a:alphaModFix amt="0"/>
              </a:blip>
              <a:stretch>
                <a:fillRect l="0" t="-39306" r="0" b="-39306"/>
              </a:stretch>
            </a:blipFill>
          </p:spPr>
        </p:sp>
        <p:sp>
          <p:nvSpPr>
            <p:cNvPr name="TextBox 111" id="111"/>
            <p:cNvSpPr txBox="true"/>
            <p:nvPr/>
          </p:nvSpPr>
          <p:spPr>
            <a:xfrm>
              <a:off x="0" y="-28575"/>
              <a:ext cx="40233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0.765</a:t>
              </a:r>
            </a:p>
          </p:txBody>
        </p:sp>
      </p:grpSp>
      <p:grpSp>
        <p:nvGrpSpPr>
          <p:cNvPr name="Group 112" id="112"/>
          <p:cNvGrpSpPr/>
          <p:nvPr/>
        </p:nvGrpSpPr>
        <p:grpSpPr>
          <a:xfrm rot="0">
            <a:off x="10830878" y="5783390"/>
            <a:ext cx="3712845" cy="667893"/>
            <a:chOff x="0" y="0"/>
            <a:chExt cx="4950460" cy="890524"/>
          </a:xfrm>
        </p:grpSpPr>
        <p:sp>
          <p:nvSpPr>
            <p:cNvPr name="Freeform 113" id="113"/>
            <p:cNvSpPr/>
            <p:nvPr/>
          </p:nvSpPr>
          <p:spPr>
            <a:xfrm flipH="false" flipV="false" rot="0">
              <a:off x="0" y="0"/>
              <a:ext cx="4950460" cy="890524"/>
            </a:xfrm>
            <a:custGeom>
              <a:avLst/>
              <a:gdLst/>
              <a:ahLst/>
              <a:cxnLst/>
              <a:rect r="r" b="b" t="t" l="l"/>
              <a:pathLst>
                <a:path h="890524" w="4950460">
                  <a:moveTo>
                    <a:pt x="0" y="0"/>
                  </a:moveTo>
                  <a:lnTo>
                    <a:pt x="4950460" y="0"/>
                  </a:lnTo>
                  <a:lnTo>
                    <a:pt x="4950460" y="890524"/>
                  </a:lnTo>
                  <a:lnTo>
                    <a:pt x="0" y="890524"/>
                  </a:lnTo>
                  <a:close/>
                </a:path>
              </a:pathLst>
            </a:custGeom>
            <a:solidFill>
              <a:srgbClr val="171E38"/>
            </a:solidFill>
            <a:ln w="9525" cap="sq">
              <a:solidFill>
                <a:srgbClr val="2E3760"/>
              </a:solidFill>
              <a:prstDash val="solid"/>
              <a:miter/>
            </a:ln>
          </p:spPr>
        </p:sp>
      </p:grpSp>
      <p:grpSp>
        <p:nvGrpSpPr>
          <p:cNvPr name="Group 114" id="114"/>
          <p:cNvGrpSpPr/>
          <p:nvPr/>
        </p:nvGrpSpPr>
        <p:grpSpPr>
          <a:xfrm rot="0">
            <a:off x="10835640" y="5788152"/>
            <a:ext cx="3703320" cy="658368"/>
            <a:chOff x="0" y="0"/>
            <a:chExt cx="4937760" cy="877824"/>
          </a:xfrm>
        </p:grpSpPr>
        <p:sp>
          <p:nvSpPr>
            <p:cNvPr name="Freeform 115" id="115"/>
            <p:cNvSpPr/>
            <p:nvPr/>
          </p:nvSpPr>
          <p:spPr>
            <a:xfrm flipH="false" flipV="false" rot="0">
              <a:off x="0" y="0"/>
              <a:ext cx="4937760" cy="877824"/>
            </a:xfrm>
            <a:custGeom>
              <a:avLst/>
              <a:gdLst/>
              <a:ahLst/>
              <a:cxnLst/>
              <a:rect r="r" b="b" t="t" l="l"/>
              <a:pathLst>
                <a:path h="877824" w="4937760">
                  <a:moveTo>
                    <a:pt x="0" y="0"/>
                  </a:moveTo>
                  <a:lnTo>
                    <a:pt x="4937760" y="0"/>
                  </a:lnTo>
                  <a:lnTo>
                    <a:pt x="4937760" y="877824"/>
                  </a:lnTo>
                  <a:lnTo>
                    <a:pt x="0" y="877824"/>
                  </a:lnTo>
                  <a:close/>
                </a:path>
              </a:pathLst>
            </a:custGeom>
            <a:blipFill>
              <a:blip r:embed="rId2">
                <a:alphaModFix amt="0"/>
              </a:blip>
              <a:stretch>
                <a:fillRect l="0" t="-59603" r="0" b="-59603"/>
              </a:stretch>
            </a:blipFill>
          </p:spPr>
        </p:sp>
        <p:sp>
          <p:nvSpPr>
            <p:cNvPr name="TextBox 116" id="116"/>
            <p:cNvSpPr txBox="true"/>
            <p:nvPr/>
          </p:nvSpPr>
          <p:spPr>
            <a:xfrm>
              <a:off x="0" y="-28575"/>
              <a:ext cx="49377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6.095</a:t>
              </a:r>
            </a:p>
          </p:txBody>
        </p:sp>
      </p:grpSp>
      <p:grpSp>
        <p:nvGrpSpPr>
          <p:cNvPr name="Group 117" id="117"/>
          <p:cNvGrpSpPr/>
          <p:nvPr/>
        </p:nvGrpSpPr>
        <p:grpSpPr>
          <a:xfrm rot="0">
            <a:off x="14534198" y="5783390"/>
            <a:ext cx="2889885" cy="667893"/>
            <a:chOff x="0" y="0"/>
            <a:chExt cx="3853180" cy="890524"/>
          </a:xfrm>
        </p:grpSpPr>
        <p:sp>
          <p:nvSpPr>
            <p:cNvPr name="Freeform 118" id="118"/>
            <p:cNvSpPr/>
            <p:nvPr/>
          </p:nvSpPr>
          <p:spPr>
            <a:xfrm flipH="false" flipV="false" rot="0">
              <a:off x="0" y="0"/>
              <a:ext cx="3853180" cy="890524"/>
            </a:xfrm>
            <a:custGeom>
              <a:avLst/>
              <a:gdLst/>
              <a:ahLst/>
              <a:cxnLst/>
              <a:rect r="r" b="b" t="t" l="l"/>
              <a:pathLst>
                <a:path h="890524" w="3853180">
                  <a:moveTo>
                    <a:pt x="0" y="0"/>
                  </a:moveTo>
                  <a:lnTo>
                    <a:pt x="3853180" y="0"/>
                  </a:lnTo>
                  <a:lnTo>
                    <a:pt x="3853180" y="890524"/>
                  </a:lnTo>
                  <a:lnTo>
                    <a:pt x="0" y="890524"/>
                  </a:lnTo>
                  <a:close/>
                </a:path>
              </a:pathLst>
            </a:custGeom>
            <a:solidFill>
              <a:srgbClr val="171E38"/>
            </a:solidFill>
            <a:ln w="9525" cap="sq">
              <a:solidFill>
                <a:srgbClr val="2E3760"/>
              </a:solidFill>
              <a:prstDash val="solid"/>
              <a:miter/>
            </a:ln>
          </p:spPr>
        </p:sp>
      </p:grpSp>
      <p:grpSp>
        <p:nvGrpSpPr>
          <p:cNvPr name="Group 119" id="119"/>
          <p:cNvGrpSpPr/>
          <p:nvPr/>
        </p:nvGrpSpPr>
        <p:grpSpPr>
          <a:xfrm rot="0">
            <a:off x="14538960" y="5788152"/>
            <a:ext cx="2880360" cy="658368"/>
            <a:chOff x="0" y="0"/>
            <a:chExt cx="3840480" cy="877824"/>
          </a:xfrm>
        </p:grpSpPr>
        <p:sp>
          <p:nvSpPr>
            <p:cNvPr name="Freeform 120" id="120"/>
            <p:cNvSpPr/>
            <p:nvPr/>
          </p:nvSpPr>
          <p:spPr>
            <a:xfrm flipH="false" flipV="false" rot="0">
              <a:off x="0" y="0"/>
              <a:ext cx="3840480" cy="877824"/>
            </a:xfrm>
            <a:custGeom>
              <a:avLst/>
              <a:gdLst/>
              <a:ahLst/>
              <a:cxnLst/>
              <a:rect r="r" b="b" t="t" l="l"/>
              <a:pathLst>
                <a:path h="877824" w="3840480">
                  <a:moveTo>
                    <a:pt x="0" y="0"/>
                  </a:moveTo>
                  <a:lnTo>
                    <a:pt x="3840480" y="0"/>
                  </a:lnTo>
                  <a:lnTo>
                    <a:pt x="3840480" y="877824"/>
                  </a:lnTo>
                  <a:lnTo>
                    <a:pt x="0" y="877824"/>
                  </a:lnTo>
                  <a:close/>
                </a:path>
              </a:pathLst>
            </a:custGeom>
            <a:blipFill>
              <a:blip r:embed="rId2">
                <a:alphaModFix amt="0"/>
              </a:blip>
              <a:stretch>
                <a:fillRect l="0" t="-35247" r="0" b="-35247"/>
              </a:stretch>
            </a:blipFill>
          </p:spPr>
        </p:sp>
        <p:sp>
          <p:nvSpPr>
            <p:cNvPr name="TextBox 121" id="121"/>
            <p:cNvSpPr txBox="true"/>
            <p:nvPr/>
          </p:nvSpPr>
          <p:spPr>
            <a:xfrm>
              <a:off x="0" y="-28575"/>
              <a:ext cx="384048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8.9</a:t>
              </a:r>
            </a:p>
          </p:txBody>
        </p:sp>
      </p:grpSp>
      <p:grpSp>
        <p:nvGrpSpPr>
          <p:cNvPr name="Group 122" id="122"/>
          <p:cNvGrpSpPr/>
          <p:nvPr/>
        </p:nvGrpSpPr>
        <p:grpSpPr>
          <a:xfrm rot="0">
            <a:off x="818198" y="6441758"/>
            <a:ext cx="7004685" cy="667893"/>
            <a:chOff x="0" y="0"/>
            <a:chExt cx="9339580" cy="890524"/>
          </a:xfrm>
        </p:grpSpPr>
        <p:sp>
          <p:nvSpPr>
            <p:cNvPr name="Freeform 123" id="123"/>
            <p:cNvSpPr/>
            <p:nvPr/>
          </p:nvSpPr>
          <p:spPr>
            <a:xfrm flipH="false" flipV="false" rot="0">
              <a:off x="0" y="0"/>
              <a:ext cx="9339580" cy="890524"/>
            </a:xfrm>
            <a:custGeom>
              <a:avLst/>
              <a:gdLst/>
              <a:ahLst/>
              <a:cxnLst/>
              <a:rect r="r" b="b" t="t" l="l"/>
              <a:pathLst>
                <a:path h="890524" w="9339580">
                  <a:moveTo>
                    <a:pt x="0" y="0"/>
                  </a:moveTo>
                  <a:lnTo>
                    <a:pt x="9339580" y="0"/>
                  </a:lnTo>
                  <a:lnTo>
                    <a:pt x="9339580" y="890524"/>
                  </a:lnTo>
                  <a:lnTo>
                    <a:pt x="0" y="890524"/>
                  </a:lnTo>
                  <a:close/>
                </a:path>
              </a:pathLst>
            </a:custGeom>
            <a:solidFill>
              <a:srgbClr val="171E38"/>
            </a:solidFill>
            <a:ln w="9525" cap="sq">
              <a:solidFill>
                <a:srgbClr val="2E3760"/>
              </a:solidFill>
              <a:prstDash val="solid"/>
              <a:miter/>
            </a:ln>
          </p:spPr>
        </p:sp>
      </p:grpSp>
      <p:grpSp>
        <p:nvGrpSpPr>
          <p:cNvPr name="Group 124" id="124"/>
          <p:cNvGrpSpPr/>
          <p:nvPr/>
        </p:nvGrpSpPr>
        <p:grpSpPr>
          <a:xfrm rot="0">
            <a:off x="822960" y="6446520"/>
            <a:ext cx="6995160" cy="658368"/>
            <a:chOff x="0" y="0"/>
            <a:chExt cx="9326880" cy="877824"/>
          </a:xfrm>
        </p:grpSpPr>
        <p:sp>
          <p:nvSpPr>
            <p:cNvPr name="Freeform 125" id="125"/>
            <p:cNvSpPr/>
            <p:nvPr/>
          </p:nvSpPr>
          <p:spPr>
            <a:xfrm flipH="false" flipV="false" rot="0">
              <a:off x="0" y="0"/>
              <a:ext cx="9326880" cy="877824"/>
            </a:xfrm>
            <a:custGeom>
              <a:avLst/>
              <a:gdLst/>
              <a:ahLst/>
              <a:cxnLst/>
              <a:rect r="r" b="b" t="t" l="l"/>
              <a:pathLst>
                <a:path h="877824" w="9326880">
                  <a:moveTo>
                    <a:pt x="0" y="0"/>
                  </a:moveTo>
                  <a:lnTo>
                    <a:pt x="9326880" y="0"/>
                  </a:lnTo>
                  <a:lnTo>
                    <a:pt x="9326880" y="877824"/>
                  </a:lnTo>
                  <a:lnTo>
                    <a:pt x="0" y="877824"/>
                  </a:lnTo>
                  <a:close/>
                </a:path>
              </a:pathLst>
            </a:custGeom>
            <a:blipFill>
              <a:blip r:embed="rId2">
                <a:alphaModFix amt="0"/>
              </a:blip>
              <a:stretch>
                <a:fillRect l="0" t="-157028" r="0" b="-157028"/>
              </a:stretch>
            </a:blipFill>
          </p:spPr>
        </p:sp>
        <p:sp>
          <p:nvSpPr>
            <p:cNvPr name="TextBox 126" id="126"/>
            <p:cNvSpPr txBox="true"/>
            <p:nvPr/>
          </p:nvSpPr>
          <p:spPr>
            <a:xfrm>
              <a:off x="0" y="-28575"/>
              <a:ext cx="9326880" cy="906399"/>
            </a:xfrm>
            <a:prstGeom prst="rect">
              <a:avLst/>
            </a:prstGeom>
          </p:spPr>
          <p:txBody>
            <a:bodyPr anchor="ctr" rtlCol="false" tIns="0" lIns="0" bIns="0" rIns="0"/>
            <a:lstStyle/>
            <a:p>
              <a:pPr algn="l">
                <a:lnSpc>
                  <a:spcPts val="1980"/>
                </a:lnSpc>
              </a:pPr>
              <a:r>
                <a:rPr lang="en-US" sz="1650" b="true">
                  <a:solidFill>
                    <a:srgbClr val="E7EAF6"/>
                  </a:solidFill>
                  <a:latin typeface="Calibri (MS) Bold"/>
                  <a:ea typeface="Calibri (MS) Bold"/>
                  <a:cs typeface="Calibri (MS) Bold"/>
                  <a:sym typeface="Calibri (MS) Bold"/>
                </a:rPr>
                <a:t>DNN manual (aumentado)</a:t>
              </a:r>
            </a:p>
          </p:txBody>
        </p:sp>
      </p:grpSp>
      <p:grpSp>
        <p:nvGrpSpPr>
          <p:cNvPr name="Group 127" id="127"/>
          <p:cNvGrpSpPr/>
          <p:nvPr/>
        </p:nvGrpSpPr>
        <p:grpSpPr>
          <a:xfrm rot="0">
            <a:off x="7813357" y="6441758"/>
            <a:ext cx="3027045" cy="667893"/>
            <a:chOff x="0" y="0"/>
            <a:chExt cx="4036060" cy="890524"/>
          </a:xfrm>
        </p:grpSpPr>
        <p:sp>
          <p:nvSpPr>
            <p:cNvPr name="Freeform 128" id="128"/>
            <p:cNvSpPr/>
            <p:nvPr/>
          </p:nvSpPr>
          <p:spPr>
            <a:xfrm flipH="false" flipV="false" rot="0">
              <a:off x="0" y="0"/>
              <a:ext cx="4036060" cy="890524"/>
            </a:xfrm>
            <a:custGeom>
              <a:avLst/>
              <a:gdLst/>
              <a:ahLst/>
              <a:cxnLst/>
              <a:rect r="r" b="b" t="t" l="l"/>
              <a:pathLst>
                <a:path h="890524" w="4036060">
                  <a:moveTo>
                    <a:pt x="0" y="0"/>
                  </a:moveTo>
                  <a:lnTo>
                    <a:pt x="4036060" y="0"/>
                  </a:lnTo>
                  <a:lnTo>
                    <a:pt x="4036060" y="890524"/>
                  </a:lnTo>
                  <a:lnTo>
                    <a:pt x="0" y="890524"/>
                  </a:lnTo>
                  <a:close/>
                </a:path>
              </a:pathLst>
            </a:custGeom>
            <a:solidFill>
              <a:srgbClr val="171E38"/>
            </a:solidFill>
            <a:ln w="9525" cap="sq">
              <a:solidFill>
                <a:srgbClr val="2E3760"/>
              </a:solidFill>
              <a:prstDash val="solid"/>
              <a:miter/>
            </a:ln>
          </p:spPr>
        </p:sp>
      </p:grpSp>
      <p:grpSp>
        <p:nvGrpSpPr>
          <p:cNvPr name="Group 129" id="129"/>
          <p:cNvGrpSpPr/>
          <p:nvPr/>
        </p:nvGrpSpPr>
        <p:grpSpPr>
          <a:xfrm rot="0">
            <a:off x="7818120" y="6446520"/>
            <a:ext cx="3017520" cy="658368"/>
            <a:chOff x="0" y="0"/>
            <a:chExt cx="4023360" cy="877824"/>
          </a:xfrm>
        </p:grpSpPr>
        <p:sp>
          <p:nvSpPr>
            <p:cNvPr name="Freeform 130" id="130"/>
            <p:cNvSpPr/>
            <p:nvPr/>
          </p:nvSpPr>
          <p:spPr>
            <a:xfrm flipH="false" flipV="false" rot="0">
              <a:off x="0" y="0"/>
              <a:ext cx="4023360" cy="877824"/>
            </a:xfrm>
            <a:custGeom>
              <a:avLst/>
              <a:gdLst/>
              <a:ahLst/>
              <a:cxnLst/>
              <a:rect r="r" b="b" t="t" l="l"/>
              <a:pathLst>
                <a:path h="877824" w="4023360">
                  <a:moveTo>
                    <a:pt x="0" y="0"/>
                  </a:moveTo>
                  <a:lnTo>
                    <a:pt x="4023360" y="0"/>
                  </a:lnTo>
                  <a:lnTo>
                    <a:pt x="4023360" y="877824"/>
                  </a:lnTo>
                  <a:lnTo>
                    <a:pt x="0" y="877824"/>
                  </a:lnTo>
                  <a:close/>
                </a:path>
              </a:pathLst>
            </a:custGeom>
            <a:blipFill>
              <a:blip r:embed="rId2">
                <a:alphaModFix amt="0"/>
              </a:blip>
              <a:stretch>
                <a:fillRect l="0" t="-39306" r="0" b="-39306"/>
              </a:stretch>
            </a:blipFill>
          </p:spPr>
        </p:sp>
        <p:sp>
          <p:nvSpPr>
            <p:cNvPr name="TextBox 131" id="131"/>
            <p:cNvSpPr txBox="true"/>
            <p:nvPr/>
          </p:nvSpPr>
          <p:spPr>
            <a:xfrm>
              <a:off x="0" y="-28575"/>
              <a:ext cx="40233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0.777</a:t>
              </a:r>
            </a:p>
          </p:txBody>
        </p:sp>
      </p:grpSp>
      <p:grpSp>
        <p:nvGrpSpPr>
          <p:cNvPr name="Group 132" id="132"/>
          <p:cNvGrpSpPr/>
          <p:nvPr/>
        </p:nvGrpSpPr>
        <p:grpSpPr>
          <a:xfrm rot="0">
            <a:off x="10830878" y="6441758"/>
            <a:ext cx="3712845" cy="667893"/>
            <a:chOff x="0" y="0"/>
            <a:chExt cx="4950460" cy="890524"/>
          </a:xfrm>
        </p:grpSpPr>
        <p:sp>
          <p:nvSpPr>
            <p:cNvPr name="Freeform 133" id="133"/>
            <p:cNvSpPr/>
            <p:nvPr/>
          </p:nvSpPr>
          <p:spPr>
            <a:xfrm flipH="false" flipV="false" rot="0">
              <a:off x="0" y="0"/>
              <a:ext cx="4950460" cy="890524"/>
            </a:xfrm>
            <a:custGeom>
              <a:avLst/>
              <a:gdLst/>
              <a:ahLst/>
              <a:cxnLst/>
              <a:rect r="r" b="b" t="t" l="l"/>
              <a:pathLst>
                <a:path h="890524" w="4950460">
                  <a:moveTo>
                    <a:pt x="0" y="0"/>
                  </a:moveTo>
                  <a:lnTo>
                    <a:pt x="4950460" y="0"/>
                  </a:lnTo>
                  <a:lnTo>
                    <a:pt x="4950460" y="890524"/>
                  </a:lnTo>
                  <a:lnTo>
                    <a:pt x="0" y="890524"/>
                  </a:lnTo>
                  <a:close/>
                </a:path>
              </a:pathLst>
            </a:custGeom>
            <a:solidFill>
              <a:srgbClr val="171E38"/>
            </a:solidFill>
            <a:ln w="9525" cap="sq">
              <a:solidFill>
                <a:srgbClr val="2E3760"/>
              </a:solidFill>
              <a:prstDash val="solid"/>
              <a:miter/>
            </a:ln>
          </p:spPr>
        </p:sp>
      </p:grpSp>
      <p:grpSp>
        <p:nvGrpSpPr>
          <p:cNvPr name="Group 134" id="134"/>
          <p:cNvGrpSpPr/>
          <p:nvPr/>
        </p:nvGrpSpPr>
        <p:grpSpPr>
          <a:xfrm rot="0">
            <a:off x="10835640" y="6446520"/>
            <a:ext cx="3703320" cy="658368"/>
            <a:chOff x="0" y="0"/>
            <a:chExt cx="4937760" cy="877824"/>
          </a:xfrm>
        </p:grpSpPr>
        <p:sp>
          <p:nvSpPr>
            <p:cNvPr name="Freeform 135" id="135"/>
            <p:cNvSpPr/>
            <p:nvPr/>
          </p:nvSpPr>
          <p:spPr>
            <a:xfrm flipH="false" flipV="false" rot="0">
              <a:off x="0" y="0"/>
              <a:ext cx="4937760" cy="877824"/>
            </a:xfrm>
            <a:custGeom>
              <a:avLst/>
              <a:gdLst/>
              <a:ahLst/>
              <a:cxnLst/>
              <a:rect r="r" b="b" t="t" l="l"/>
              <a:pathLst>
                <a:path h="877824" w="4937760">
                  <a:moveTo>
                    <a:pt x="0" y="0"/>
                  </a:moveTo>
                  <a:lnTo>
                    <a:pt x="4937760" y="0"/>
                  </a:lnTo>
                  <a:lnTo>
                    <a:pt x="4937760" y="877824"/>
                  </a:lnTo>
                  <a:lnTo>
                    <a:pt x="0" y="877824"/>
                  </a:lnTo>
                  <a:close/>
                </a:path>
              </a:pathLst>
            </a:custGeom>
            <a:blipFill>
              <a:blip r:embed="rId2">
                <a:alphaModFix amt="0"/>
              </a:blip>
              <a:stretch>
                <a:fillRect l="0" t="-59603" r="0" b="-59603"/>
              </a:stretch>
            </a:blipFill>
          </p:spPr>
        </p:sp>
        <p:sp>
          <p:nvSpPr>
            <p:cNvPr name="TextBox 136" id="136"/>
            <p:cNvSpPr txBox="true"/>
            <p:nvPr/>
          </p:nvSpPr>
          <p:spPr>
            <a:xfrm>
              <a:off x="0" y="-28575"/>
              <a:ext cx="49377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21.263</a:t>
              </a:r>
            </a:p>
          </p:txBody>
        </p:sp>
      </p:grpSp>
      <p:grpSp>
        <p:nvGrpSpPr>
          <p:cNvPr name="Group 137" id="137"/>
          <p:cNvGrpSpPr/>
          <p:nvPr/>
        </p:nvGrpSpPr>
        <p:grpSpPr>
          <a:xfrm rot="0">
            <a:off x="14534198" y="6441758"/>
            <a:ext cx="2889885" cy="667893"/>
            <a:chOff x="0" y="0"/>
            <a:chExt cx="3853180" cy="890524"/>
          </a:xfrm>
        </p:grpSpPr>
        <p:sp>
          <p:nvSpPr>
            <p:cNvPr name="Freeform 138" id="138"/>
            <p:cNvSpPr/>
            <p:nvPr/>
          </p:nvSpPr>
          <p:spPr>
            <a:xfrm flipH="false" flipV="false" rot="0">
              <a:off x="0" y="0"/>
              <a:ext cx="3853180" cy="890524"/>
            </a:xfrm>
            <a:custGeom>
              <a:avLst/>
              <a:gdLst/>
              <a:ahLst/>
              <a:cxnLst/>
              <a:rect r="r" b="b" t="t" l="l"/>
              <a:pathLst>
                <a:path h="890524" w="3853180">
                  <a:moveTo>
                    <a:pt x="0" y="0"/>
                  </a:moveTo>
                  <a:lnTo>
                    <a:pt x="3853180" y="0"/>
                  </a:lnTo>
                  <a:lnTo>
                    <a:pt x="3853180" y="890524"/>
                  </a:lnTo>
                  <a:lnTo>
                    <a:pt x="0" y="890524"/>
                  </a:lnTo>
                  <a:close/>
                </a:path>
              </a:pathLst>
            </a:custGeom>
            <a:solidFill>
              <a:srgbClr val="171E38"/>
            </a:solidFill>
            <a:ln w="9525" cap="sq">
              <a:solidFill>
                <a:srgbClr val="2E3760"/>
              </a:solidFill>
              <a:prstDash val="solid"/>
              <a:miter/>
            </a:ln>
          </p:spPr>
        </p:sp>
      </p:grpSp>
      <p:grpSp>
        <p:nvGrpSpPr>
          <p:cNvPr name="Group 139" id="139"/>
          <p:cNvGrpSpPr/>
          <p:nvPr/>
        </p:nvGrpSpPr>
        <p:grpSpPr>
          <a:xfrm rot="0">
            <a:off x="14538960" y="6446520"/>
            <a:ext cx="2880360" cy="658368"/>
            <a:chOff x="0" y="0"/>
            <a:chExt cx="3840480" cy="877824"/>
          </a:xfrm>
        </p:grpSpPr>
        <p:sp>
          <p:nvSpPr>
            <p:cNvPr name="Freeform 140" id="140"/>
            <p:cNvSpPr/>
            <p:nvPr/>
          </p:nvSpPr>
          <p:spPr>
            <a:xfrm flipH="false" flipV="false" rot="0">
              <a:off x="0" y="0"/>
              <a:ext cx="3840480" cy="877824"/>
            </a:xfrm>
            <a:custGeom>
              <a:avLst/>
              <a:gdLst/>
              <a:ahLst/>
              <a:cxnLst/>
              <a:rect r="r" b="b" t="t" l="l"/>
              <a:pathLst>
                <a:path h="877824" w="3840480">
                  <a:moveTo>
                    <a:pt x="0" y="0"/>
                  </a:moveTo>
                  <a:lnTo>
                    <a:pt x="3840480" y="0"/>
                  </a:lnTo>
                  <a:lnTo>
                    <a:pt x="3840480" y="877824"/>
                  </a:lnTo>
                  <a:lnTo>
                    <a:pt x="0" y="877824"/>
                  </a:lnTo>
                  <a:close/>
                </a:path>
              </a:pathLst>
            </a:custGeom>
            <a:blipFill>
              <a:blip r:embed="rId2">
                <a:alphaModFix amt="0"/>
              </a:blip>
              <a:stretch>
                <a:fillRect l="0" t="-35247" r="0" b="-35247"/>
              </a:stretch>
            </a:blipFill>
          </p:spPr>
        </p:sp>
        <p:sp>
          <p:nvSpPr>
            <p:cNvPr name="TextBox 141" id="141"/>
            <p:cNvSpPr txBox="true"/>
            <p:nvPr/>
          </p:nvSpPr>
          <p:spPr>
            <a:xfrm>
              <a:off x="0" y="-28575"/>
              <a:ext cx="384048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a:t>
              </a:r>
            </a:p>
          </p:txBody>
        </p:sp>
      </p:grpSp>
      <p:grpSp>
        <p:nvGrpSpPr>
          <p:cNvPr name="Group 142" id="142"/>
          <p:cNvGrpSpPr/>
          <p:nvPr/>
        </p:nvGrpSpPr>
        <p:grpSpPr>
          <a:xfrm rot="0">
            <a:off x="818198" y="7100125"/>
            <a:ext cx="7004685" cy="667893"/>
            <a:chOff x="0" y="0"/>
            <a:chExt cx="9339580" cy="890524"/>
          </a:xfrm>
        </p:grpSpPr>
        <p:sp>
          <p:nvSpPr>
            <p:cNvPr name="Freeform 143" id="143"/>
            <p:cNvSpPr/>
            <p:nvPr/>
          </p:nvSpPr>
          <p:spPr>
            <a:xfrm flipH="false" flipV="false" rot="0">
              <a:off x="0" y="0"/>
              <a:ext cx="9339580" cy="890524"/>
            </a:xfrm>
            <a:custGeom>
              <a:avLst/>
              <a:gdLst/>
              <a:ahLst/>
              <a:cxnLst/>
              <a:rect r="r" b="b" t="t" l="l"/>
              <a:pathLst>
                <a:path h="890524" w="9339580">
                  <a:moveTo>
                    <a:pt x="0" y="0"/>
                  </a:moveTo>
                  <a:lnTo>
                    <a:pt x="9339580" y="0"/>
                  </a:lnTo>
                  <a:lnTo>
                    <a:pt x="9339580" y="890524"/>
                  </a:lnTo>
                  <a:lnTo>
                    <a:pt x="0" y="890524"/>
                  </a:lnTo>
                  <a:close/>
                </a:path>
              </a:pathLst>
            </a:custGeom>
            <a:solidFill>
              <a:srgbClr val="1E3A34"/>
            </a:solidFill>
            <a:ln w="9525" cap="sq">
              <a:solidFill>
                <a:srgbClr val="2E3760"/>
              </a:solidFill>
              <a:prstDash val="solid"/>
              <a:miter/>
            </a:ln>
          </p:spPr>
        </p:sp>
      </p:grpSp>
      <p:grpSp>
        <p:nvGrpSpPr>
          <p:cNvPr name="Group 144" id="144"/>
          <p:cNvGrpSpPr/>
          <p:nvPr/>
        </p:nvGrpSpPr>
        <p:grpSpPr>
          <a:xfrm rot="0">
            <a:off x="822960" y="7104888"/>
            <a:ext cx="6995160" cy="658368"/>
            <a:chOff x="0" y="0"/>
            <a:chExt cx="9326880" cy="877824"/>
          </a:xfrm>
        </p:grpSpPr>
        <p:sp>
          <p:nvSpPr>
            <p:cNvPr name="Freeform 145" id="145"/>
            <p:cNvSpPr/>
            <p:nvPr/>
          </p:nvSpPr>
          <p:spPr>
            <a:xfrm flipH="false" flipV="false" rot="0">
              <a:off x="0" y="0"/>
              <a:ext cx="9326880" cy="877824"/>
            </a:xfrm>
            <a:custGeom>
              <a:avLst/>
              <a:gdLst/>
              <a:ahLst/>
              <a:cxnLst/>
              <a:rect r="r" b="b" t="t" l="l"/>
              <a:pathLst>
                <a:path h="877824" w="9326880">
                  <a:moveTo>
                    <a:pt x="0" y="0"/>
                  </a:moveTo>
                  <a:lnTo>
                    <a:pt x="9326880" y="0"/>
                  </a:lnTo>
                  <a:lnTo>
                    <a:pt x="9326880" y="877824"/>
                  </a:lnTo>
                  <a:lnTo>
                    <a:pt x="0" y="877824"/>
                  </a:lnTo>
                  <a:close/>
                </a:path>
              </a:pathLst>
            </a:custGeom>
            <a:blipFill>
              <a:blip r:embed="rId2">
                <a:alphaModFix amt="0"/>
              </a:blip>
              <a:stretch>
                <a:fillRect l="0" t="-157028" r="0" b="-157028"/>
              </a:stretch>
            </a:blipFill>
          </p:spPr>
        </p:sp>
        <p:sp>
          <p:nvSpPr>
            <p:cNvPr name="TextBox 146" id="146"/>
            <p:cNvSpPr txBox="true"/>
            <p:nvPr/>
          </p:nvSpPr>
          <p:spPr>
            <a:xfrm>
              <a:off x="0" y="-28575"/>
              <a:ext cx="9326880" cy="906399"/>
            </a:xfrm>
            <a:prstGeom prst="rect">
              <a:avLst/>
            </a:prstGeom>
          </p:spPr>
          <p:txBody>
            <a:bodyPr anchor="ctr" rtlCol="false" tIns="0" lIns="0" bIns="0" rIns="0"/>
            <a:lstStyle/>
            <a:p>
              <a:pPr algn="l">
                <a:lnSpc>
                  <a:spcPts val="1980"/>
                </a:lnSpc>
              </a:pPr>
              <a:r>
                <a:rPr lang="en-US" sz="1650" b="true">
                  <a:solidFill>
                    <a:srgbClr val="E7EAF6"/>
                  </a:solidFill>
                  <a:latin typeface="Calibri (MS) Bold"/>
                  <a:ea typeface="Calibri (MS) Bold"/>
                  <a:cs typeface="Calibri (MS) Bold"/>
                  <a:sym typeface="Calibri (MS) Bold"/>
                </a:rPr>
                <a:t>AutoML (aumentado) — k-NN</a:t>
              </a:r>
            </a:p>
          </p:txBody>
        </p:sp>
      </p:grpSp>
      <p:grpSp>
        <p:nvGrpSpPr>
          <p:cNvPr name="Group 147" id="147"/>
          <p:cNvGrpSpPr/>
          <p:nvPr/>
        </p:nvGrpSpPr>
        <p:grpSpPr>
          <a:xfrm rot="0">
            <a:off x="7813357" y="7100125"/>
            <a:ext cx="3027045" cy="667893"/>
            <a:chOff x="0" y="0"/>
            <a:chExt cx="4036060" cy="890524"/>
          </a:xfrm>
        </p:grpSpPr>
        <p:sp>
          <p:nvSpPr>
            <p:cNvPr name="Freeform 148" id="148"/>
            <p:cNvSpPr/>
            <p:nvPr/>
          </p:nvSpPr>
          <p:spPr>
            <a:xfrm flipH="false" flipV="false" rot="0">
              <a:off x="0" y="0"/>
              <a:ext cx="4036060" cy="890524"/>
            </a:xfrm>
            <a:custGeom>
              <a:avLst/>
              <a:gdLst/>
              <a:ahLst/>
              <a:cxnLst/>
              <a:rect r="r" b="b" t="t" l="l"/>
              <a:pathLst>
                <a:path h="890524" w="4036060">
                  <a:moveTo>
                    <a:pt x="0" y="0"/>
                  </a:moveTo>
                  <a:lnTo>
                    <a:pt x="4036060" y="0"/>
                  </a:lnTo>
                  <a:lnTo>
                    <a:pt x="4036060" y="890524"/>
                  </a:lnTo>
                  <a:lnTo>
                    <a:pt x="0" y="890524"/>
                  </a:lnTo>
                  <a:close/>
                </a:path>
              </a:pathLst>
            </a:custGeom>
            <a:solidFill>
              <a:srgbClr val="1E3A34"/>
            </a:solidFill>
            <a:ln w="9525" cap="sq">
              <a:solidFill>
                <a:srgbClr val="2E3760"/>
              </a:solidFill>
              <a:prstDash val="solid"/>
              <a:miter/>
            </a:ln>
          </p:spPr>
        </p:sp>
      </p:grpSp>
      <p:grpSp>
        <p:nvGrpSpPr>
          <p:cNvPr name="Group 149" id="149"/>
          <p:cNvGrpSpPr/>
          <p:nvPr/>
        </p:nvGrpSpPr>
        <p:grpSpPr>
          <a:xfrm rot="0">
            <a:off x="7818120" y="7104888"/>
            <a:ext cx="3017520" cy="658368"/>
            <a:chOff x="0" y="0"/>
            <a:chExt cx="4023360" cy="877824"/>
          </a:xfrm>
        </p:grpSpPr>
        <p:sp>
          <p:nvSpPr>
            <p:cNvPr name="Freeform 150" id="150"/>
            <p:cNvSpPr/>
            <p:nvPr/>
          </p:nvSpPr>
          <p:spPr>
            <a:xfrm flipH="false" flipV="false" rot="0">
              <a:off x="0" y="0"/>
              <a:ext cx="4023360" cy="877824"/>
            </a:xfrm>
            <a:custGeom>
              <a:avLst/>
              <a:gdLst/>
              <a:ahLst/>
              <a:cxnLst/>
              <a:rect r="r" b="b" t="t" l="l"/>
              <a:pathLst>
                <a:path h="877824" w="4023360">
                  <a:moveTo>
                    <a:pt x="0" y="0"/>
                  </a:moveTo>
                  <a:lnTo>
                    <a:pt x="4023360" y="0"/>
                  </a:lnTo>
                  <a:lnTo>
                    <a:pt x="4023360" y="877824"/>
                  </a:lnTo>
                  <a:lnTo>
                    <a:pt x="0" y="877824"/>
                  </a:lnTo>
                  <a:close/>
                </a:path>
              </a:pathLst>
            </a:custGeom>
            <a:blipFill>
              <a:blip r:embed="rId2">
                <a:alphaModFix amt="0"/>
              </a:blip>
              <a:stretch>
                <a:fillRect l="0" t="-39306" r="0" b="-39306"/>
              </a:stretch>
            </a:blipFill>
          </p:spPr>
        </p:sp>
        <p:sp>
          <p:nvSpPr>
            <p:cNvPr name="TextBox 151" id="151"/>
            <p:cNvSpPr txBox="true"/>
            <p:nvPr/>
          </p:nvSpPr>
          <p:spPr>
            <a:xfrm>
              <a:off x="0" y="-28575"/>
              <a:ext cx="4023360" cy="906399"/>
            </a:xfrm>
            <a:prstGeom prst="rect">
              <a:avLst/>
            </a:prstGeom>
          </p:spPr>
          <p:txBody>
            <a:bodyPr anchor="ctr" rtlCol="false" tIns="0" lIns="0" bIns="0" rIns="0"/>
            <a:lstStyle/>
            <a:p>
              <a:pPr algn="ctr">
                <a:lnSpc>
                  <a:spcPts val="1980"/>
                </a:lnSpc>
              </a:pPr>
              <a:r>
                <a:rPr lang="en-US" sz="1650" b="true">
                  <a:solidFill>
                    <a:srgbClr val="00D1B2"/>
                  </a:solidFill>
                  <a:latin typeface="Calibri (MS) Bold"/>
                  <a:ea typeface="Calibri (MS) Bold"/>
                  <a:cs typeface="Calibri (MS) Bold"/>
                  <a:sym typeface="Calibri (MS) Bold"/>
                </a:rPr>
                <a:t>0.906</a:t>
              </a:r>
            </a:p>
          </p:txBody>
        </p:sp>
      </p:grpSp>
      <p:grpSp>
        <p:nvGrpSpPr>
          <p:cNvPr name="Group 152" id="152"/>
          <p:cNvGrpSpPr/>
          <p:nvPr/>
        </p:nvGrpSpPr>
        <p:grpSpPr>
          <a:xfrm rot="0">
            <a:off x="10830878" y="7100125"/>
            <a:ext cx="3712845" cy="667893"/>
            <a:chOff x="0" y="0"/>
            <a:chExt cx="4950460" cy="890524"/>
          </a:xfrm>
        </p:grpSpPr>
        <p:sp>
          <p:nvSpPr>
            <p:cNvPr name="Freeform 153" id="153"/>
            <p:cNvSpPr/>
            <p:nvPr/>
          </p:nvSpPr>
          <p:spPr>
            <a:xfrm flipH="false" flipV="false" rot="0">
              <a:off x="0" y="0"/>
              <a:ext cx="4950460" cy="890524"/>
            </a:xfrm>
            <a:custGeom>
              <a:avLst/>
              <a:gdLst/>
              <a:ahLst/>
              <a:cxnLst/>
              <a:rect r="r" b="b" t="t" l="l"/>
              <a:pathLst>
                <a:path h="890524" w="4950460">
                  <a:moveTo>
                    <a:pt x="0" y="0"/>
                  </a:moveTo>
                  <a:lnTo>
                    <a:pt x="4950460" y="0"/>
                  </a:lnTo>
                  <a:lnTo>
                    <a:pt x="4950460" y="890524"/>
                  </a:lnTo>
                  <a:lnTo>
                    <a:pt x="0" y="890524"/>
                  </a:lnTo>
                  <a:close/>
                </a:path>
              </a:pathLst>
            </a:custGeom>
            <a:solidFill>
              <a:srgbClr val="1E3A34"/>
            </a:solidFill>
            <a:ln w="9525" cap="sq">
              <a:solidFill>
                <a:srgbClr val="2E3760"/>
              </a:solidFill>
              <a:prstDash val="solid"/>
              <a:miter/>
            </a:ln>
          </p:spPr>
        </p:sp>
      </p:grpSp>
      <p:grpSp>
        <p:nvGrpSpPr>
          <p:cNvPr name="Group 154" id="154"/>
          <p:cNvGrpSpPr/>
          <p:nvPr/>
        </p:nvGrpSpPr>
        <p:grpSpPr>
          <a:xfrm rot="0">
            <a:off x="10835640" y="7104888"/>
            <a:ext cx="3703320" cy="658368"/>
            <a:chOff x="0" y="0"/>
            <a:chExt cx="4937760" cy="877824"/>
          </a:xfrm>
        </p:grpSpPr>
        <p:sp>
          <p:nvSpPr>
            <p:cNvPr name="Freeform 155" id="155"/>
            <p:cNvSpPr/>
            <p:nvPr/>
          </p:nvSpPr>
          <p:spPr>
            <a:xfrm flipH="false" flipV="false" rot="0">
              <a:off x="0" y="0"/>
              <a:ext cx="4937760" cy="877824"/>
            </a:xfrm>
            <a:custGeom>
              <a:avLst/>
              <a:gdLst/>
              <a:ahLst/>
              <a:cxnLst/>
              <a:rect r="r" b="b" t="t" l="l"/>
              <a:pathLst>
                <a:path h="877824" w="4937760">
                  <a:moveTo>
                    <a:pt x="0" y="0"/>
                  </a:moveTo>
                  <a:lnTo>
                    <a:pt x="4937760" y="0"/>
                  </a:lnTo>
                  <a:lnTo>
                    <a:pt x="4937760" y="877824"/>
                  </a:lnTo>
                  <a:lnTo>
                    <a:pt x="0" y="877824"/>
                  </a:lnTo>
                  <a:close/>
                </a:path>
              </a:pathLst>
            </a:custGeom>
            <a:blipFill>
              <a:blip r:embed="rId2">
                <a:alphaModFix amt="0"/>
              </a:blip>
              <a:stretch>
                <a:fillRect l="0" t="-59603" r="0" b="-59603"/>
              </a:stretch>
            </a:blipFill>
          </p:spPr>
        </p:sp>
        <p:sp>
          <p:nvSpPr>
            <p:cNvPr name="TextBox 156" id="156"/>
            <p:cNvSpPr txBox="true"/>
            <p:nvPr/>
          </p:nvSpPr>
          <p:spPr>
            <a:xfrm>
              <a:off x="0" y="-28575"/>
              <a:ext cx="4937760" cy="906399"/>
            </a:xfrm>
            <a:prstGeom prst="rect">
              <a:avLst/>
            </a:prstGeom>
          </p:spPr>
          <p:txBody>
            <a:bodyPr anchor="ctr" rtlCol="false" tIns="0" lIns="0" bIns="0" rIns="0"/>
            <a:lstStyle/>
            <a:p>
              <a:pPr algn="ctr">
                <a:lnSpc>
                  <a:spcPts val="1980"/>
                </a:lnSpc>
              </a:pPr>
              <a:r>
                <a:rPr lang="en-US" sz="1650" b="true">
                  <a:solidFill>
                    <a:srgbClr val="E7EAF6"/>
                  </a:solidFill>
                  <a:latin typeface="Calibri (MS) Bold"/>
                  <a:ea typeface="Calibri (MS) Bold"/>
                  <a:cs typeface="Calibri (MS) Bold"/>
                  <a:sym typeface="Calibri (MS) Bold"/>
                </a:rPr>
                <a:t>—</a:t>
              </a:r>
            </a:p>
          </p:txBody>
        </p:sp>
      </p:grpSp>
      <p:grpSp>
        <p:nvGrpSpPr>
          <p:cNvPr name="Group 157" id="157"/>
          <p:cNvGrpSpPr/>
          <p:nvPr/>
        </p:nvGrpSpPr>
        <p:grpSpPr>
          <a:xfrm rot="0">
            <a:off x="14534198" y="7100125"/>
            <a:ext cx="2889885" cy="667893"/>
            <a:chOff x="0" y="0"/>
            <a:chExt cx="3853180" cy="890524"/>
          </a:xfrm>
        </p:grpSpPr>
        <p:sp>
          <p:nvSpPr>
            <p:cNvPr name="Freeform 158" id="158"/>
            <p:cNvSpPr/>
            <p:nvPr/>
          </p:nvSpPr>
          <p:spPr>
            <a:xfrm flipH="false" flipV="false" rot="0">
              <a:off x="0" y="0"/>
              <a:ext cx="3853180" cy="890524"/>
            </a:xfrm>
            <a:custGeom>
              <a:avLst/>
              <a:gdLst/>
              <a:ahLst/>
              <a:cxnLst/>
              <a:rect r="r" b="b" t="t" l="l"/>
              <a:pathLst>
                <a:path h="890524" w="3853180">
                  <a:moveTo>
                    <a:pt x="0" y="0"/>
                  </a:moveTo>
                  <a:lnTo>
                    <a:pt x="3853180" y="0"/>
                  </a:lnTo>
                  <a:lnTo>
                    <a:pt x="3853180" y="890524"/>
                  </a:lnTo>
                  <a:lnTo>
                    <a:pt x="0" y="890524"/>
                  </a:lnTo>
                  <a:close/>
                </a:path>
              </a:pathLst>
            </a:custGeom>
            <a:solidFill>
              <a:srgbClr val="1E3A34"/>
            </a:solidFill>
            <a:ln w="9525" cap="sq">
              <a:solidFill>
                <a:srgbClr val="2E3760"/>
              </a:solidFill>
              <a:prstDash val="solid"/>
              <a:miter/>
            </a:ln>
          </p:spPr>
        </p:sp>
      </p:grpSp>
      <p:grpSp>
        <p:nvGrpSpPr>
          <p:cNvPr name="Group 159" id="159"/>
          <p:cNvGrpSpPr/>
          <p:nvPr/>
        </p:nvGrpSpPr>
        <p:grpSpPr>
          <a:xfrm rot="0">
            <a:off x="14538960" y="7104888"/>
            <a:ext cx="2880360" cy="658368"/>
            <a:chOff x="0" y="0"/>
            <a:chExt cx="3840480" cy="877824"/>
          </a:xfrm>
        </p:grpSpPr>
        <p:sp>
          <p:nvSpPr>
            <p:cNvPr name="Freeform 160" id="160"/>
            <p:cNvSpPr/>
            <p:nvPr/>
          </p:nvSpPr>
          <p:spPr>
            <a:xfrm flipH="false" flipV="false" rot="0">
              <a:off x="0" y="0"/>
              <a:ext cx="3840480" cy="877824"/>
            </a:xfrm>
            <a:custGeom>
              <a:avLst/>
              <a:gdLst/>
              <a:ahLst/>
              <a:cxnLst/>
              <a:rect r="r" b="b" t="t" l="l"/>
              <a:pathLst>
                <a:path h="877824" w="3840480">
                  <a:moveTo>
                    <a:pt x="0" y="0"/>
                  </a:moveTo>
                  <a:lnTo>
                    <a:pt x="3840480" y="0"/>
                  </a:lnTo>
                  <a:lnTo>
                    <a:pt x="3840480" y="877824"/>
                  </a:lnTo>
                  <a:lnTo>
                    <a:pt x="0" y="877824"/>
                  </a:lnTo>
                  <a:close/>
                </a:path>
              </a:pathLst>
            </a:custGeom>
            <a:blipFill>
              <a:blip r:embed="rId2">
                <a:alphaModFix amt="0"/>
              </a:blip>
              <a:stretch>
                <a:fillRect l="0" t="-35247" r="0" b="-35247"/>
              </a:stretch>
            </a:blipFill>
          </p:spPr>
        </p:sp>
        <p:sp>
          <p:nvSpPr>
            <p:cNvPr name="TextBox 161" id="161"/>
            <p:cNvSpPr txBox="true"/>
            <p:nvPr/>
          </p:nvSpPr>
          <p:spPr>
            <a:xfrm>
              <a:off x="0" y="-28575"/>
              <a:ext cx="3840480" cy="906399"/>
            </a:xfrm>
            <a:prstGeom prst="rect">
              <a:avLst/>
            </a:prstGeom>
          </p:spPr>
          <p:txBody>
            <a:bodyPr anchor="ctr" rtlCol="false" tIns="0" lIns="0" bIns="0" rIns="0"/>
            <a:lstStyle/>
            <a:p>
              <a:pPr algn="ctr">
                <a:lnSpc>
                  <a:spcPts val="1980"/>
                </a:lnSpc>
              </a:pPr>
              <a:r>
                <a:rPr lang="en-US" sz="1650" b="true">
                  <a:solidFill>
                    <a:srgbClr val="E7EAF6"/>
                  </a:solidFill>
                  <a:latin typeface="Calibri (MS) Bold"/>
                  <a:ea typeface="Calibri (MS) Bold"/>
                  <a:cs typeface="Calibri (MS) Bold"/>
                  <a:sym typeface="Calibri (MS) Bold"/>
                </a:rPr>
                <a:t>38.0</a:t>
              </a:r>
            </a:p>
          </p:txBody>
        </p:sp>
      </p:grpSp>
      <p:grpSp>
        <p:nvGrpSpPr>
          <p:cNvPr name="Group 162" id="162"/>
          <p:cNvGrpSpPr/>
          <p:nvPr/>
        </p:nvGrpSpPr>
        <p:grpSpPr>
          <a:xfrm rot="0">
            <a:off x="818198" y="7758494"/>
            <a:ext cx="7004685" cy="667893"/>
            <a:chOff x="0" y="0"/>
            <a:chExt cx="9339580" cy="890524"/>
          </a:xfrm>
        </p:grpSpPr>
        <p:sp>
          <p:nvSpPr>
            <p:cNvPr name="Freeform 163" id="163"/>
            <p:cNvSpPr/>
            <p:nvPr/>
          </p:nvSpPr>
          <p:spPr>
            <a:xfrm flipH="false" flipV="false" rot="0">
              <a:off x="0" y="0"/>
              <a:ext cx="9339580" cy="890524"/>
            </a:xfrm>
            <a:custGeom>
              <a:avLst/>
              <a:gdLst/>
              <a:ahLst/>
              <a:cxnLst/>
              <a:rect r="r" b="b" t="t" l="l"/>
              <a:pathLst>
                <a:path h="890524" w="9339580">
                  <a:moveTo>
                    <a:pt x="0" y="0"/>
                  </a:moveTo>
                  <a:lnTo>
                    <a:pt x="9339580" y="0"/>
                  </a:lnTo>
                  <a:lnTo>
                    <a:pt x="9339580" y="890524"/>
                  </a:lnTo>
                  <a:lnTo>
                    <a:pt x="0" y="890524"/>
                  </a:lnTo>
                  <a:close/>
                </a:path>
              </a:pathLst>
            </a:custGeom>
            <a:solidFill>
              <a:srgbClr val="171E38"/>
            </a:solidFill>
            <a:ln w="9525" cap="sq">
              <a:solidFill>
                <a:srgbClr val="2E3760"/>
              </a:solidFill>
              <a:prstDash val="solid"/>
              <a:miter/>
            </a:ln>
          </p:spPr>
        </p:sp>
      </p:grpSp>
      <p:grpSp>
        <p:nvGrpSpPr>
          <p:cNvPr name="Group 164" id="164"/>
          <p:cNvGrpSpPr/>
          <p:nvPr/>
        </p:nvGrpSpPr>
        <p:grpSpPr>
          <a:xfrm rot="0">
            <a:off x="822960" y="7763256"/>
            <a:ext cx="6995160" cy="658368"/>
            <a:chOff x="0" y="0"/>
            <a:chExt cx="9326880" cy="877824"/>
          </a:xfrm>
        </p:grpSpPr>
        <p:sp>
          <p:nvSpPr>
            <p:cNvPr name="Freeform 165" id="165"/>
            <p:cNvSpPr/>
            <p:nvPr/>
          </p:nvSpPr>
          <p:spPr>
            <a:xfrm flipH="false" flipV="false" rot="0">
              <a:off x="0" y="0"/>
              <a:ext cx="9326880" cy="877824"/>
            </a:xfrm>
            <a:custGeom>
              <a:avLst/>
              <a:gdLst/>
              <a:ahLst/>
              <a:cxnLst/>
              <a:rect r="r" b="b" t="t" l="l"/>
              <a:pathLst>
                <a:path h="877824" w="9326880">
                  <a:moveTo>
                    <a:pt x="0" y="0"/>
                  </a:moveTo>
                  <a:lnTo>
                    <a:pt x="9326880" y="0"/>
                  </a:lnTo>
                  <a:lnTo>
                    <a:pt x="9326880" y="877824"/>
                  </a:lnTo>
                  <a:lnTo>
                    <a:pt x="0" y="877824"/>
                  </a:lnTo>
                  <a:close/>
                </a:path>
              </a:pathLst>
            </a:custGeom>
            <a:blipFill>
              <a:blip r:embed="rId2">
                <a:alphaModFix amt="0"/>
              </a:blip>
              <a:stretch>
                <a:fillRect l="0" t="-157028" r="0" b="-157028"/>
              </a:stretch>
            </a:blipFill>
          </p:spPr>
        </p:sp>
        <p:sp>
          <p:nvSpPr>
            <p:cNvPr name="TextBox 166" id="166"/>
            <p:cNvSpPr txBox="true"/>
            <p:nvPr/>
          </p:nvSpPr>
          <p:spPr>
            <a:xfrm>
              <a:off x="0" y="-28575"/>
              <a:ext cx="9326880" cy="906399"/>
            </a:xfrm>
            <a:prstGeom prst="rect">
              <a:avLst/>
            </a:prstGeom>
          </p:spPr>
          <p:txBody>
            <a:bodyPr anchor="ctr" rtlCol="false" tIns="0" lIns="0" bIns="0" rIns="0"/>
            <a:lstStyle/>
            <a:p>
              <a:pPr algn="l">
                <a:lnSpc>
                  <a:spcPts val="1980"/>
                </a:lnSpc>
              </a:pPr>
              <a:r>
                <a:rPr lang="en-US" sz="1650" b="true">
                  <a:solidFill>
                    <a:srgbClr val="E7EAF6"/>
                  </a:solidFill>
                  <a:latin typeface="Calibri (MS) Bold"/>
                  <a:ea typeface="Calibri (MS) Bold"/>
                  <a:cs typeface="Calibri (MS) Bold"/>
                  <a:sym typeface="Calibri (MS) Bold"/>
                </a:rPr>
                <a:t>DNN + NAS (aumentado)</a:t>
              </a:r>
            </a:p>
          </p:txBody>
        </p:sp>
      </p:grpSp>
      <p:grpSp>
        <p:nvGrpSpPr>
          <p:cNvPr name="Group 167" id="167"/>
          <p:cNvGrpSpPr/>
          <p:nvPr/>
        </p:nvGrpSpPr>
        <p:grpSpPr>
          <a:xfrm rot="0">
            <a:off x="7813357" y="7758494"/>
            <a:ext cx="3027045" cy="667893"/>
            <a:chOff x="0" y="0"/>
            <a:chExt cx="4036060" cy="890524"/>
          </a:xfrm>
        </p:grpSpPr>
        <p:sp>
          <p:nvSpPr>
            <p:cNvPr name="Freeform 168" id="168"/>
            <p:cNvSpPr/>
            <p:nvPr/>
          </p:nvSpPr>
          <p:spPr>
            <a:xfrm flipH="false" flipV="false" rot="0">
              <a:off x="0" y="0"/>
              <a:ext cx="4036060" cy="890524"/>
            </a:xfrm>
            <a:custGeom>
              <a:avLst/>
              <a:gdLst/>
              <a:ahLst/>
              <a:cxnLst/>
              <a:rect r="r" b="b" t="t" l="l"/>
              <a:pathLst>
                <a:path h="890524" w="4036060">
                  <a:moveTo>
                    <a:pt x="0" y="0"/>
                  </a:moveTo>
                  <a:lnTo>
                    <a:pt x="4036060" y="0"/>
                  </a:lnTo>
                  <a:lnTo>
                    <a:pt x="4036060" y="890524"/>
                  </a:lnTo>
                  <a:lnTo>
                    <a:pt x="0" y="890524"/>
                  </a:lnTo>
                  <a:close/>
                </a:path>
              </a:pathLst>
            </a:custGeom>
            <a:solidFill>
              <a:srgbClr val="171E38"/>
            </a:solidFill>
            <a:ln w="9525" cap="sq">
              <a:solidFill>
                <a:srgbClr val="2E3760"/>
              </a:solidFill>
              <a:prstDash val="solid"/>
              <a:miter/>
            </a:ln>
          </p:spPr>
        </p:sp>
      </p:grpSp>
      <p:grpSp>
        <p:nvGrpSpPr>
          <p:cNvPr name="Group 169" id="169"/>
          <p:cNvGrpSpPr/>
          <p:nvPr/>
        </p:nvGrpSpPr>
        <p:grpSpPr>
          <a:xfrm rot="0">
            <a:off x="7818120" y="7763256"/>
            <a:ext cx="3017520" cy="658368"/>
            <a:chOff x="0" y="0"/>
            <a:chExt cx="4023360" cy="877824"/>
          </a:xfrm>
        </p:grpSpPr>
        <p:sp>
          <p:nvSpPr>
            <p:cNvPr name="Freeform 170" id="170"/>
            <p:cNvSpPr/>
            <p:nvPr/>
          </p:nvSpPr>
          <p:spPr>
            <a:xfrm flipH="false" flipV="false" rot="0">
              <a:off x="0" y="0"/>
              <a:ext cx="4023360" cy="877824"/>
            </a:xfrm>
            <a:custGeom>
              <a:avLst/>
              <a:gdLst/>
              <a:ahLst/>
              <a:cxnLst/>
              <a:rect r="r" b="b" t="t" l="l"/>
              <a:pathLst>
                <a:path h="877824" w="4023360">
                  <a:moveTo>
                    <a:pt x="0" y="0"/>
                  </a:moveTo>
                  <a:lnTo>
                    <a:pt x="4023360" y="0"/>
                  </a:lnTo>
                  <a:lnTo>
                    <a:pt x="4023360" y="877824"/>
                  </a:lnTo>
                  <a:lnTo>
                    <a:pt x="0" y="877824"/>
                  </a:lnTo>
                  <a:close/>
                </a:path>
              </a:pathLst>
            </a:custGeom>
            <a:blipFill>
              <a:blip r:embed="rId2">
                <a:alphaModFix amt="0"/>
              </a:blip>
              <a:stretch>
                <a:fillRect l="0" t="-39306" r="0" b="-39306"/>
              </a:stretch>
            </a:blipFill>
          </p:spPr>
        </p:sp>
        <p:sp>
          <p:nvSpPr>
            <p:cNvPr name="TextBox 171" id="171"/>
            <p:cNvSpPr txBox="true"/>
            <p:nvPr/>
          </p:nvSpPr>
          <p:spPr>
            <a:xfrm>
              <a:off x="0" y="-28575"/>
              <a:ext cx="40233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0.799</a:t>
              </a:r>
            </a:p>
          </p:txBody>
        </p:sp>
      </p:grpSp>
      <p:grpSp>
        <p:nvGrpSpPr>
          <p:cNvPr name="Group 172" id="172"/>
          <p:cNvGrpSpPr/>
          <p:nvPr/>
        </p:nvGrpSpPr>
        <p:grpSpPr>
          <a:xfrm rot="0">
            <a:off x="10830878" y="7758494"/>
            <a:ext cx="3712845" cy="667893"/>
            <a:chOff x="0" y="0"/>
            <a:chExt cx="4950460" cy="890524"/>
          </a:xfrm>
        </p:grpSpPr>
        <p:sp>
          <p:nvSpPr>
            <p:cNvPr name="Freeform 173" id="173"/>
            <p:cNvSpPr/>
            <p:nvPr/>
          </p:nvSpPr>
          <p:spPr>
            <a:xfrm flipH="false" flipV="false" rot="0">
              <a:off x="0" y="0"/>
              <a:ext cx="4950460" cy="890524"/>
            </a:xfrm>
            <a:custGeom>
              <a:avLst/>
              <a:gdLst/>
              <a:ahLst/>
              <a:cxnLst/>
              <a:rect r="r" b="b" t="t" l="l"/>
              <a:pathLst>
                <a:path h="890524" w="4950460">
                  <a:moveTo>
                    <a:pt x="0" y="0"/>
                  </a:moveTo>
                  <a:lnTo>
                    <a:pt x="4950460" y="0"/>
                  </a:lnTo>
                  <a:lnTo>
                    <a:pt x="4950460" y="890524"/>
                  </a:lnTo>
                  <a:lnTo>
                    <a:pt x="0" y="890524"/>
                  </a:lnTo>
                  <a:close/>
                </a:path>
              </a:pathLst>
            </a:custGeom>
            <a:solidFill>
              <a:srgbClr val="171E38"/>
            </a:solidFill>
            <a:ln w="9525" cap="sq">
              <a:solidFill>
                <a:srgbClr val="2E3760"/>
              </a:solidFill>
              <a:prstDash val="solid"/>
              <a:miter/>
            </a:ln>
          </p:spPr>
        </p:sp>
      </p:grpSp>
      <p:grpSp>
        <p:nvGrpSpPr>
          <p:cNvPr name="Group 174" id="174"/>
          <p:cNvGrpSpPr/>
          <p:nvPr/>
        </p:nvGrpSpPr>
        <p:grpSpPr>
          <a:xfrm rot="0">
            <a:off x="10835640" y="7763256"/>
            <a:ext cx="3703320" cy="658368"/>
            <a:chOff x="0" y="0"/>
            <a:chExt cx="4937760" cy="877824"/>
          </a:xfrm>
        </p:grpSpPr>
        <p:sp>
          <p:nvSpPr>
            <p:cNvPr name="Freeform 175" id="175"/>
            <p:cNvSpPr/>
            <p:nvPr/>
          </p:nvSpPr>
          <p:spPr>
            <a:xfrm flipH="false" flipV="false" rot="0">
              <a:off x="0" y="0"/>
              <a:ext cx="4937760" cy="877824"/>
            </a:xfrm>
            <a:custGeom>
              <a:avLst/>
              <a:gdLst/>
              <a:ahLst/>
              <a:cxnLst/>
              <a:rect r="r" b="b" t="t" l="l"/>
              <a:pathLst>
                <a:path h="877824" w="4937760">
                  <a:moveTo>
                    <a:pt x="0" y="0"/>
                  </a:moveTo>
                  <a:lnTo>
                    <a:pt x="4937760" y="0"/>
                  </a:lnTo>
                  <a:lnTo>
                    <a:pt x="4937760" y="877824"/>
                  </a:lnTo>
                  <a:lnTo>
                    <a:pt x="0" y="877824"/>
                  </a:lnTo>
                  <a:close/>
                </a:path>
              </a:pathLst>
            </a:custGeom>
            <a:blipFill>
              <a:blip r:embed="rId2">
                <a:alphaModFix amt="0"/>
              </a:blip>
              <a:stretch>
                <a:fillRect l="0" t="-59603" r="0" b="-59603"/>
              </a:stretch>
            </a:blipFill>
          </p:spPr>
        </p:sp>
        <p:sp>
          <p:nvSpPr>
            <p:cNvPr name="TextBox 176" id="176"/>
            <p:cNvSpPr txBox="true"/>
            <p:nvPr/>
          </p:nvSpPr>
          <p:spPr>
            <a:xfrm>
              <a:off x="0" y="-28575"/>
              <a:ext cx="493776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6.095</a:t>
              </a:r>
            </a:p>
          </p:txBody>
        </p:sp>
      </p:grpSp>
      <p:grpSp>
        <p:nvGrpSpPr>
          <p:cNvPr name="Group 177" id="177"/>
          <p:cNvGrpSpPr/>
          <p:nvPr/>
        </p:nvGrpSpPr>
        <p:grpSpPr>
          <a:xfrm rot="0">
            <a:off x="14534198" y="7758494"/>
            <a:ext cx="2889885" cy="667893"/>
            <a:chOff x="0" y="0"/>
            <a:chExt cx="3853180" cy="890524"/>
          </a:xfrm>
        </p:grpSpPr>
        <p:sp>
          <p:nvSpPr>
            <p:cNvPr name="Freeform 178" id="178"/>
            <p:cNvSpPr/>
            <p:nvPr/>
          </p:nvSpPr>
          <p:spPr>
            <a:xfrm flipH="false" flipV="false" rot="0">
              <a:off x="0" y="0"/>
              <a:ext cx="3853180" cy="890524"/>
            </a:xfrm>
            <a:custGeom>
              <a:avLst/>
              <a:gdLst/>
              <a:ahLst/>
              <a:cxnLst/>
              <a:rect r="r" b="b" t="t" l="l"/>
              <a:pathLst>
                <a:path h="890524" w="3853180">
                  <a:moveTo>
                    <a:pt x="0" y="0"/>
                  </a:moveTo>
                  <a:lnTo>
                    <a:pt x="3853180" y="0"/>
                  </a:lnTo>
                  <a:lnTo>
                    <a:pt x="3853180" y="890524"/>
                  </a:lnTo>
                  <a:lnTo>
                    <a:pt x="0" y="890524"/>
                  </a:lnTo>
                  <a:close/>
                </a:path>
              </a:pathLst>
            </a:custGeom>
            <a:solidFill>
              <a:srgbClr val="171E38"/>
            </a:solidFill>
            <a:ln w="9525" cap="sq">
              <a:solidFill>
                <a:srgbClr val="2E3760"/>
              </a:solidFill>
              <a:prstDash val="solid"/>
              <a:miter/>
            </a:ln>
          </p:spPr>
        </p:sp>
      </p:grpSp>
      <p:grpSp>
        <p:nvGrpSpPr>
          <p:cNvPr name="Group 179" id="179"/>
          <p:cNvGrpSpPr/>
          <p:nvPr/>
        </p:nvGrpSpPr>
        <p:grpSpPr>
          <a:xfrm rot="0">
            <a:off x="14538960" y="7763256"/>
            <a:ext cx="2880360" cy="658368"/>
            <a:chOff x="0" y="0"/>
            <a:chExt cx="3840480" cy="877824"/>
          </a:xfrm>
        </p:grpSpPr>
        <p:sp>
          <p:nvSpPr>
            <p:cNvPr name="Freeform 180" id="180"/>
            <p:cNvSpPr/>
            <p:nvPr/>
          </p:nvSpPr>
          <p:spPr>
            <a:xfrm flipH="false" flipV="false" rot="0">
              <a:off x="0" y="0"/>
              <a:ext cx="3840480" cy="877824"/>
            </a:xfrm>
            <a:custGeom>
              <a:avLst/>
              <a:gdLst/>
              <a:ahLst/>
              <a:cxnLst/>
              <a:rect r="r" b="b" t="t" l="l"/>
              <a:pathLst>
                <a:path h="877824" w="3840480">
                  <a:moveTo>
                    <a:pt x="0" y="0"/>
                  </a:moveTo>
                  <a:lnTo>
                    <a:pt x="3840480" y="0"/>
                  </a:lnTo>
                  <a:lnTo>
                    <a:pt x="3840480" y="877824"/>
                  </a:lnTo>
                  <a:lnTo>
                    <a:pt x="0" y="877824"/>
                  </a:lnTo>
                  <a:close/>
                </a:path>
              </a:pathLst>
            </a:custGeom>
            <a:blipFill>
              <a:blip r:embed="rId2">
                <a:alphaModFix amt="0"/>
              </a:blip>
              <a:stretch>
                <a:fillRect l="0" t="-35247" r="0" b="-35247"/>
              </a:stretch>
            </a:blipFill>
          </p:spPr>
        </p:sp>
        <p:sp>
          <p:nvSpPr>
            <p:cNvPr name="TextBox 181" id="181"/>
            <p:cNvSpPr txBox="true"/>
            <p:nvPr/>
          </p:nvSpPr>
          <p:spPr>
            <a:xfrm>
              <a:off x="0" y="-28575"/>
              <a:ext cx="3840480" cy="906399"/>
            </a:xfrm>
            <a:prstGeom prst="rect">
              <a:avLst/>
            </a:prstGeom>
          </p:spPr>
          <p:txBody>
            <a:bodyPr anchor="ctr" rtlCol="false" tIns="0" lIns="0" bIns="0" rIns="0"/>
            <a:lstStyle/>
            <a:p>
              <a:pPr algn="ctr">
                <a:lnSpc>
                  <a:spcPts val="1980"/>
                </a:lnSpc>
              </a:pPr>
              <a:r>
                <a:rPr lang="en-US" sz="1650">
                  <a:solidFill>
                    <a:srgbClr val="E7EAF6"/>
                  </a:solidFill>
                  <a:latin typeface="Calibri (MS)"/>
                  <a:ea typeface="Calibri (MS)"/>
                  <a:cs typeface="Calibri (MS)"/>
                  <a:sym typeface="Calibri (MS)"/>
                </a:rPr>
                <a:t>11.1</a:t>
              </a:r>
            </a:p>
          </p:txBody>
        </p:sp>
      </p:grpSp>
      <p:grpSp>
        <p:nvGrpSpPr>
          <p:cNvPr name="Group 182" id="182"/>
          <p:cNvGrpSpPr/>
          <p:nvPr/>
        </p:nvGrpSpPr>
        <p:grpSpPr>
          <a:xfrm rot="0">
            <a:off x="822960" y="8764524"/>
            <a:ext cx="16596360" cy="548640"/>
            <a:chOff x="0" y="0"/>
            <a:chExt cx="22128480" cy="731520"/>
          </a:xfrm>
        </p:grpSpPr>
        <p:sp>
          <p:nvSpPr>
            <p:cNvPr name="Freeform 183" id="183"/>
            <p:cNvSpPr/>
            <p:nvPr/>
          </p:nvSpPr>
          <p:spPr>
            <a:xfrm flipH="false" flipV="false" rot="0">
              <a:off x="0" y="0"/>
              <a:ext cx="22128480" cy="731520"/>
            </a:xfrm>
            <a:custGeom>
              <a:avLst/>
              <a:gdLst/>
              <a:ahLst/>
              <a:cxnLst/>
              <a:rect r="r" b="b" t="t" l="l"/>
              <a:pathLst>
                <a:path h="731520" w="22128480">
                  <a:moveTo>
                    <a:pt x="0" y="0"/>
                  </a:moveTo>
                  <a:lnTo>
                    <a:pt x="22128480" y="0"/>
                  </a:lnTo>
                  <a:lnTo>
                    <a:pt x="22128480" y="731520"/>
                  </a:lnTo>
                  <a:lnTo>
                    <a:pt x="0" y="731520"/>
                  </a:lnTo>
                  <a:close/>
                </a:path>
              </a:pathLst>
            </a:custGeom>
            <a:blipFill>
              <a:blip r:embed="rId2">
                <a:alphaModFix amt="0"/>
              </a:blip>
              <a:stretch>
                <a:fillRect l="0" t="-539422" r="0" b="-539422"/>
              </a:stretch>
            </a:blipFill>
          </p:spPr>
        </p:sp>
        <p:sp>
          <p:nvSpPr>
            <p:cNvPr name="TextBox 184" id="184"/>
            <p:cNvSpPr txBox="true"/>
            <p:nvPr/>
          </p:nvSpPr>
          <p:spPr>
            <a:xfrm>
              <a:off x="0" y="-28575"/>
              <a:ext cx="22128480" cy="760095"/>
            </a:xfrm>
            <a:prstGeom prst="rect">
              <a:avLst/>
            </a:prstGeom>
          </p:spPr>
          <p:txBody>
            <a:bodyPr anchor="ctr" rtlCol="false" tIns="0" lIns="0" bIns="0" rIns="0"/>
            <a:lstStyle/>
            <a:p>
              <a:pPr algn="l">
                <a:lnSpc>
                  <a:spcPts val="1980"/>
                </a:lnSpc>
              </a:pPr>
              <a:r>
                <a:rPr lang="en-US" sz="1650" i="true">
                  <a:solidFill>
                    <a:srgbClr val="8A93B8"/>
                  </a:solidFill>
                  <a:latin typeface="Calibri (MS) Italics"/>
                  <a:ea typeface="Calibri (MS) Italics"/>
                  <a:cs typeface="Calibri (MS) Italics"/>
                  <a:sym typeface="Calibri (MS) Italics"/>
                </a:rPr>
                <a:t>Mejor macro-F1 global: AutoML (k-NN) sobre train aumentado con la salvedad de costo de inferencia ya discutida.</a:t>
              </a:r>
            </a:p>
          </p:txBody>
        </p:sp>
      </p:grpSp>
      <p:grpSp>
        <p:nvGrpSpPr>
          <p:cNvPr name="Group 185" id="185"/>
          <p:cNvGrpSpPr/>
          <p:nvPr/>
        </p:nvGrpSpPr>
        <p:grpSpPr>
          <a:xfrm rot="0">
            <a:off x="17053103" y="9601200"/>
            <a:ext cx="822960" cy="411480"/>
            <a:chOff x="0" y="0"/>
            <a:chExt cx="1097280" cy="548640"/>
          </a:xfrm>
        </p:grpSpPr>
        <p:sp>
          <p:nvSpPr>
            <p:cNvPr name="Freeform 186" id="186"/>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187" id="187"/>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8A93B8"/>
                  </a:solidFill>
                  <a:latin typeface="Calibri (MS)"/>
                  <a:ea typeface="Calibri (MS)"/>
                  <a:cs typeface="Calibri (MS)"/>
                  <a:sym typeface="Calibri (MS)"/>
                </a:rPr>
                <a:t>19</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CONCLUSIONES</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¿Cuándo es necesaria una red profunda?</a:t>
              </a:r>
            </a:p>
          </p:txBody>
        </p:sp>
      </p:grpSp>
      <p:grpSp>
        <p:nvGrpSpPr>
          <p:cNvPr name="Group 8" id="8"/>
          <p:cNvGrpSpPr/>
          <p:nvPr/>
        </p:nvGrpSpPr>
        <p:grpSpPr>
          <a:xfrm rot="0">
            <a:off x="813435" y="2596515"/>
            <a:ext cx="5299710" cy="5093970"/>
            <a:chOff x="0" y="0"/>
            <a:chExt cx="7066280" cy="6791960"/>
          </a:xfrm>
        </p:grpSpPr>
        <p:sp>
          <p:nvSpPr>
            <p:cNvPr name="Freeform 9" id="9"/>
            <p:cNvSpPr/>
            <p:nvPr/>
          </p:nvSpPr>
          <p:spPr>
            <a:xfrm flipH="false" flipV="false" rot="0">
              <a:off x="0" y="0"/>
              <a:ext cx="7066280" cy="6791961"/>
            </a:xfrm>
            <a:custGeom>
              <a:avLst/>
              <a:gdLst/>
              <a:ahLst/>
              <a:cxnLst/>
              <a:rect r="r" b="b" t="t" l="l"/>
              <a:pathLst>
                <a:path h="6791961" w="7066280">
                  <a:moveTo>
                    <a:pt x="0" y="183642"/>
                  </a:moveTo>
                  <a:cubicBezTo>
                    <a:pt x="0" y="82169"/>
                    <a:pt x="82169" y="0"/>
                    <a:pt x="183642" y="0"/>
                  </a:cubicBezTo>
                  <a:lnTo>
                    <a:pt x="6882638" y="0"/>
                  </a:lnTo>
                  <a:cubicBezTo>
                    <a:pt x="6983984" y="0"/>
                    <a:pt x="7066280" y="82169"/>
                    <a:pt x="7066280" y="183642"/>
                  </a:cubicBezTo>
                  <a:lnTo>
                    <a:pt x="7066280" y="6608318"/>
                  </a:lnTo>
                  <a:cubicBezTo>
                    <a:pt x="7066280" y="6709664"/>
                    <a:pt x="6984111" y="6791961"/>
                    <a:pt x="6882638" y="6791961"/>
                  </a:cubicBezTo>
                  <a:lnTo>
                    <a:pt x="183642" y="6791961"/>
                  </a:lnTo>
                  <a:cubicBezTo>
                    <a:pt x="82169" y="6791960"/>
                    <a:pt x="0" y="6709791"/>
                    <a:pt x="0" y="6608318"/>
                  </a:cubicBezTo>
                  <a:close/>
                </a:path>
              </a:pathLst>
            </a:custGeom>
            <a:solidFill>
              <a:srgbClr val="FFFFFF"/>
            </a:solidFill>
            <a:ln w="19050" cap="sq">
              <a:solidFill>
                <a:srgbClr val="E3E6F0"/>
              </a:solidFill>
              <a:prstDash val="solid"/>
              <a:miter/>
            </a:ln>
          </p:spPr>
        </p:sp>
      </p:grpSp>
      <p:grpSp>
        <p:nvGrpSpPr>
          <p:cNvPr name="Group 10" id="10"/>
          <p:cNvGrpSpPr/>
          <p:nvPr/>
        </p:nvGrpSpPr>
        <p:grpSpPr>
          <a:xfrm rot="0">
            <a:off x="1207008" y="3017520"/>
            <a:ext cx="685800" cy="685800"/>
            <a:chOff x="0" y="0"/>
            <a:chExt cx="914400" cy="914400"/>
          </a:xfrm>
        </p:grpSpPr>
        <p:sp>
          <p:nvSpPr>
            <p:cNvPr name="Freeform 11" id="1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5C5C"/>
            </a:solidFill>
          </p:spPr>
        </p:sp>
      </p:grpSp>
      <p:grpSp>
        <p:nvGrpSpPr>
          <p:cNvPr name="Group 12" id="12"/>
          <p:cNvGrpSpPr/>
          <p:nvPr/>
        </p:nvGrpSpPr>
        <p:grpSpPr>
          <a:xfrm rot="0">
            <a:off x="1207008" y="3017520"/>
            <a:ext cx="685800" cy="685800"/>
            <a:chOff x="0" y="0"/>
            <a:chExt cx="914400" cy="914400"/>
          </a:xfrm>
        </p:grpSpPr>
        <p:sp>
          <p:nvSpPr>
            <p:cNvPr name="Freeform 13" id="1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14" id="14"/>
            <p:cNvSpPr txBox="true"/>
            <p:nvPr/>
          </p:nvSpPr>
          <p:spPr>
            <a:xfrm>
              <a:off x="0" y="-57150"/>
              <a:ext cx="914400" cy="971550"/>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1</a:t>
              </a:r>
            </a:p>
          </p:txBody>
        </p:sp>
      </p:grpSp>
      <p:grpSp>
        <p:nvGrpSpPr>
          <p:cNvPr name="Group 15" id="15"/>
          <p:cNvGrpSpPr/>
          <p:nvPr/>
        </p:nvGrpSpPr>
        <p:grpSpPr>
          <a:xfrm rot="0">
            <a:off x="1207008" y="3909060"/>
            <a:ext cx="4526280" cy="1028700"/>
            <a:chOff x="0" y="0"/>
            <a:chExt cx="6035040" cy="1371600"/>
          </a:xfrm>
        </p:grpSpPr>
        <p:sp>
          <p:nvSpPr>
            <p:cNvPr name="Freeform 16" id="16"/>
            <p:cNvSpPr/>
            <p:nvPr/>
          </p:nvSpPr>
          <p:spPr>
            <a:xfrm flipH="false" flipV="false" rot="0">
              <a:off x="0" y="0"/>
              <a:ext cx="6035040" cy="1371600"/>
            </a:xfrm>
            <a:custGeom>
              <a:avLst/>
              <a:gdLst/>
              <a:ahLst/>
              <a:cxnLst/>
              <a:rect r="r" b="b" t="t" l="l"/>
              <a:pathLst>
                <a:path h="1371600" w="6035040">
                  <a:moveTo>
                    <a:pt x="0" y="0"/>
                  </a:moveTo>
                  <a:lnTo>
                    <a:pt x="6035040" y="0"/>
                  </a:lnTo>
                  <a:lnTo>
                    <a:pt x="6035040" y="1371600"/>
                  </a:lnTo>
                  <a:lnTo>
                    <a:pt x="0" y="1371600"/>
                  </a:lnTo>
                  <a:close/>
                </a:path>
              </a:pathLst>
            </a:custGeom>
            <a:blipFill>
              <a:blip r:embed="rId2">
                <a:alphaModFix amt="0"/>
              </a:blip>
              <a:stretch>
                <a:fillRect l="0" t="-35734" r="0" b="-35734"/>
              </a:stretch>
            </a:blipFill>
          </p:spPr>
        </p:sp>
        <p:sp>
          <p:nvSpPr>
            <p:cNvPr name="TextBox 17" id="17"/>
            <p:cNvSpPr txBox="true"/>
            <p:nvPr/>
          </p:nvSpPr>
          <p:spPr>
            <a:xfrm>
              <a:off x="0" y="-38100"/>
              <a:ext cx="6035040" cy="1409700"/>
            </a:xfrm>
            <a:prstGeom prst="rect">
              <a:avLst/>
            </a:prstGeom>
          </p:spPr>
          <p:txBody>
            <a:bodyPr anchor="ctr" rtlCol="false" tIns="0" lIns="0" bIns="0" rIns="0"/>
            <a:lstStyle/>
            <a:p>
              <a:pPr algn="l">
                <a:lnSpc>
                  <a:spcPts val="3267"/>
                </a:lnSpc>
              </a:pPr>
              <a:r>
                <a:rPr lang="en-US" sz="2475" b="true">
                  <a:solidFill>
                    <a:srgbClr val="0E1220"/>
                  </a:solidFill>
                  <a:latin typeface="Cambria Bold"/>
                  <a:ea typeface="Cambria Bold"/>
                  <a:cs typeface="Cambria Bold"/>
                  <a:sym typeface="Cambria Bold"/>
                </a:rPr>
                <a:t>No siempre</a:t>
              </a:r>
            </a:p>
          </p:txBody>
        </p:sp>
      </p:grpSp>
      <p:grpSp>
        <p:nvGrpSpPr>
          <p:cNvPr name="Group 18" id="18"/>
          <p:cNvGrpSpPr/>
          <p:nvPr/>
        </p:nvGrpSpPr>
        <p:grpSpPr>
          <a:xfrm rot="0">
            <a:off x="1207008" y="5006340"/>
            <a:ext cx="4526280" cy="2537460"/>
            <a:chOff x="0" y="0"/>
            <a:chExt cx="6035040" cy="3383280"/>
          </a:xfrm>
        </p:grpSpPr>
        <p:sp>
          <p:nvSpPr>
            <p:cNvPr name="Freeform 19" id="19"/>
            <p:cNvSpPr/>
            <p:nvPr/>
          </p:nvSpPr>
          <p:spPr>
            <a:xfrm flipH="false" flipV="false" rot="0">
              <a:off x="0" y="0"/>
              <a:ext cx="6035040" cy="3383280"/>
            </a:xfrm>
            <a:custGeom>
              <a:avLst/>
              <a:gdLst/>
              <a:ahLst/>
              <a:cxnLst/>
              <a:rect r="r" b="b" t="t" l="l"/>
              <a:pathLst>
                <a:path h="3383280" w="6035040">
                  <a:moveTo>
                    <a:pt x="0" y="0"/>
                  </a:moveTo>
                  <a:lnTo>
                    <a:pt x="6035040" y="0"/>
                  </a:lnTo>
                  <a:lnTo>
                    <a:pt x="6035040" y="3383280"/>
                  </a:lnTo>
                  <a:lnTo>
                    <a:pt x="0" y="3383280"/>
                  </a:lnTo>
                  <a:close/>
                </a:path>
              </a:pathLst>
            </a:custGeom>
            <a:blipFill>
              <a:blip r:embed="rId2">
                <a:alphaModFix amt="0"/>
              </a:blip>
              <a:stretch>
                <a:fillRect l="-21927" t="0" r="-21927" b="0"/>
              </a:stretch>
            </a:blipFill>
          </p:spPr>
        </p:sp>
        <p:sp>
          <p:nvSpPr>
            <p:cNvPr name="TextBox 20" id="20"/>
            <p:cNvSpPr txBox="true"/>
            <p:nvPr/>
          </p:nvSpPr>
          <p:spPr>
            <a:xfrm>
              <a:off x="0" y="-85725"/>
              <a:ext cx="6035040" cy="3469005"/>
            </a:xfrm>
            <a:prstGeom prst="rect">
              <a:avLst/>
            </a:prstGeom>
          </p:spPr>
          <p:txBody>
            <a:bodyPr anchor="ctr" rtlCol="false" tIns="0" lIns="0" bIns="0" rIns="0"/>
            <a:lstStyle/>
            <a:p>
              <a:pPr algn="l">
                <a:lnSpc>
                  <a:spcPts val="2587"/>
                </a:lnSpc>
              </a:pPr>
              <a:r>
                <a:rPr lang="en-US" sz="1725">
                  <a:solidFill>
                    <a:srgbClr val="6B7280"/>
                  </a:solidFill>
                  <a:latin typeface="Calibri (MS)"/>
                  <a:ea typeface="Calibri (MS)"/>
                  <a:cs typeface="Calibri (MS)"/>
                  <a:sym typeface="Calibri (MS)"/>
                </a:rPr>
                <a:t>Para CIC-IDS2017, un AutoML de baja complejidad (árboles) igualó o superó a la DNN diseñada manualmente y a la DNN+NAS en macro-F1, con menor costo de entrenamiento.</a:t>
              </a:r>
            </a:p>
          </p:txBody>
        </p:sp>
      </p:grpSp>
      <p:grpSp>
        <p:nvGrpSpPr>
          <p:cNvPr name="Group 21" id="21"/>
          <p:cNvGrpSpPr/>
          <p:nvPr/>
        </p:nvGrpSpPr>
        <p:grpSpPr>
          <a:xfrm rot="0">
            <a:off x="6574155" y="2596515"/>
            <a:ext cx="5299710" cy="5093970"/>
            <a:chOff x="0" y="0"/>
            <a:chExt cx="7066280" cy="6791960"/>
          </a:xfrm>
        </p:grpSpPr>
        <p:sp>
          <p:nvSpPr>
            <p:cNvPr name="Freeform 22" id="22"/>
            <p:cNvSpPr/>
            <p:nvPr/>
          </p:nvSpPr>
          <p:spPr>
            <a:xfrm flipH="false" flipV="false" rot="0">
              <a:off x="0" y="0"/>
              <a:ext cx="7066280" cy="6791961"/>
            </a:xfrm>
            <a:custGeom>
              <a:avLst/>
              <a:gdLst/>
              <a:ahLst/>
              <a:cxnLst/>
              <a:rect r="r" b="b" t="t" l="l"/>
              <a:pathLst>
                <a:path h="6791961" w="7066280">
                  <a:moveTo>
                    <a:pt x="0" y="183642"/>
                  </a:moveTo>
                  <a:cubicBezTo>
                    <a:pt x="0" y="82169"/>
                    <a:pt x="82169" y="0"/>
                    <a:pt x="183642" y="0"/>
                  </a:cubicBezTo>
                  <a:lnTo>
                    <a:pt x="6882638" y="0"/>
                  </a:lnTo>
                  <a:cubicBezTo>
                    <a:pt x="6983984" y="0"/>
                    <a:pt x="7066280" y="82169"/>
                    <a:pt x="7066280" y="183642"/>
                  </a:cubicBezTo>
                  <a:lnTo>
                    <a:pt x="7066280" y="6608318"/>
                  </a:lnTo>
                  <a:cubicBezTo>
                    <a:pt x="7066280" y="6709664"/>
                    <a:pt x="6984111" y="6791961"/>
                    <a:pt x="6882638" y="6791961"/>
                  </a:cubicBezTo>
                  <a:lnTo>
                    <a:pt x="183642" y="6791961"/>
                  </a:lnTo>
                  <a:cubicBezTo>
                    <a:pt x="82169" y="6791960"/>
                    <a:pt x="0" y="6709791"/>
                    <a:pt x="0" y="6608318"/>
                  </a:cubicBezTo>
                  <a:close/>
                </a:path>
              </a:pathLst>
            </a:custGeom>
            <a:solidFill>
              <a:srgbClr val="FFFFFF"/>
            </a:solidFill>
            <a:ln w="19050" cap="sq">
              <a:solidFill>
                <a:srgbClr val="E3E6F0"/>
              </a:solidFill>
              <a:prstDash val="solid"/>
              <a:miter/>
            </a:ln>
          </p:spPr>
        </p:sp>
      </p:grpSp>
      <p:grpSp>
        <p:nvGrpSpPr>
          <p:cNvPr name="Group 23" id="23"/>
          <p:cNvGrpSpPr/>
          <p:nvPr/>
        </p:nvGrpSpPr>
        <p:grpSpPr>
          <a:xfrm rot="0">
            <a:off x="6967728" y="3017520"/>
            <a:ext cx="685800" cy="685800"/>
            <a:chOff x="0" y="0"/>
            <a:chExt cx="914400" cy="914400"/>
          </a:xfrm>
        </p:grpSpPr>
        <p:sp>
          <p:nvSpPr>
            <p:cNvPr name="Freeform 24" id="2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2F5DFF"/>
            </a:solidFill>
          </p:spPr>
        </p:sp>
      </p:grpSp>
      <p:grpSp>
        <p:nvGrpSpPr>
          <p:cNvPr name="Group 25" id="25"/>
          <p:cNvGrpSpPr/>
          <p:nvPr/>
        </p:nvGrpSpPr>
        <p:grpSpPr>
          <a:xfrm rot="0">
            <a:off x="6967728" y="3017520"/>
            <a:ext cx="685800" cy="685800"/>
            <a:chOff x="0" y="0"/>
            <a:chExt cx="914400" cy="914400"/>
          </a:xfrm>
        </p:grpSpPr>
        <p:sp>
          <p:nvSpPr>
            <p:cNvPr name="Freeform 26" id="2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27" id="27"/>
            <p:cNvSpPr txBox="true"/>
            <p:nvPr/>
          </p:nvSpPr>
          <p:spPr>
            <a:xfrm>
              <a:off x="0" y="-57150"/>
              <a:ext cx="914400" cy="971550"/>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2</a:t>
              </a:r>
            </a:p>
          </p:txBody>
        </p:sp>
      </p:grpSp>
      <p:grpSp>
        <p:nvGrpSpPr>
          <p:cNvPr name="Group 28" id="28"/>
          <p:cNvGrpSpPr/>
          <p:nvPr/>
        </p:nvGrpSpPr>
        <p:grpSpPr>
          <a:xfrm rot="0">
            <a:off x="6967728" y="3909060"/>
            <a:ext cx="4526280" cy="1028700"/>
            <a:chOff x="0" y="0"/>
            <a:chExt cx="6035040" cy="1371600"/>
          </a:xfrm>
        </p:grpSpPr>
        <p:sp>
          <p:nvSpPr>
            <p:cNvPr name="Freeform 29" id="29"/>
            <p:cNvSpPr/>
            <p:nvPr/>
          </p:nvSpPr>
          <p:spPr>
            <a:xfrm flipH="false" flipV="false" rot="0">
              <a:off x="0" y="0"/>
              <a:ext cx="6035040" cy="1371600"/>
            </a:xfrm>
            <a:custGeom>
              <a:avLst/>
              <a:gdLst/>
              <a:ahLst/>
              <a:cxnLst/>
              <a:rect r="r" b="b" t="t" l="l"/>
              <a:pathLst>
                <a:path h="1371600" w="6035040">
                  <a:moveTo>
                    <a:pt x="0" y="0"/>
                  </a:moveTo>
                  <a:lnTo>
                    <a:pt x="6035040" y="0"/>
                  </a:lnTo>
                  <a:lnTo>
                    <a:pt x="6035040" y="1371600"/>
                  </a:lnTo>
                  <a:lnTo>
                    <a:pt x="0" y="1371600"/>
                  </a:lnTo>
                  <a:close/>
                </a:path>
              </a:pathLst>
            </a:custGeom>
            <a:blipFill>
              <a:blip r:embed="rId2">
                <a:alphaModFix amt="0"/>
              </a:blip>
              <a:stretch>
                <a:fillRect l="0" t="-35734" r="0" b="-35734"/>
              </a:stretch>
            </a:blipFill>
          </p:spPr>
        </p:sp>
        <p:sp>
          <p:nvSpPr>
            <p:cNvPr name="TextBox 30" id="30"/>
            <p:cNvSpPr txBox="true"/>
            <p:nvPr/>
          </p:nvSpPr>
          <p:spPr>
            <a:xfrm>
              <a:off x="0" y="-38100"/>
              <a:ext cx="6035040" cy="1409700"/>
            </a:xfrm>
            <a:prstGeom prst="rect">
              <a:avLst/>
            </a:prstGeom>
          </p:spPr>
          <p:txBody>
            <a:bodyPr anchor="ctr" rtlCol="false" tIns="0" lIns="0" bIns="0" rIns="0"/>
            <a:lstStyle/>
            <a:p>
              <a:pPr algn="l">
                <a:lnSpc>
                  <a:spcPts val="3267"/>
                </a:lnSpc>
              </a:pPr>
              <a:r>
                <a:rPr lang="en-US" sz="2475" b="true">
                  <a:solidFill>
                    <a:srgbClr val="0E1220"/>
                  </a:solidFill>
                  <a:latin typeface="Cambria Bold"/>
                  <a:ea typeface="Cambria Bold"/>
                  <a:cs typeface="Cambria Bold"/>
                  <a:sym typeface="Cambria Bold"/>
                </a:rPr>
                <a:t>El diseño manual sí importa frente a NAS</a:t>
              </a:r>
            </a:p>
          </p:txBody>
        </p:sp>
      </p:grpSp>
      <p:grpSp>
        <p:nvGrpSpPr>
          <p:cNvPr name="Group 31" id="31"/>
          <p:cNvGrpSpPr/>
          <p:nvPr/>
        </p:nvGrpSpPr>
        <p:grpSpPr>
          <a:xfrm rot="0">
            <a:off x="6967728" y="5006340"/>
            <a:ext cx="4526280" cy="2537460"/>
            <a:chOff x="0" y="0"/>
            <a:chExt cx="6035040" cy="3383280"/>
          </a:xfrm>
        </p:grpSpPr>
        <p:sp>
          <p:nvSpPr>
            <p:cNvPr name="Freeform 32" id="32"/>
            <p:cNvSpPr/>
            <p:nvPr/>
          </p:nvSpPr>
          <p:spPr>
            <a:xfrm flipH="false" flipV="false" rot="0">
              <a:off x="0" y="0"/>
              <a:ext cx="6035040" cy="3383280"/>
            </a:xfrm>
            <a:custGeom>
              <a:avLst/>
              <a:gdLst/>
              <a:ahLst/>
              <a:cxnLst/>
              <a:rect r="r" b="b" t="t" l="l"/>
              <a:pathLst>
                <a:path h="3383280" w="6035040">
                  <a:moveTo>
                    <a:pt x="0" y="0"/>
                  </a:moveTo>
                  <a:lnTo>
                    <a:pt x="6035040" y="0"/>
                  </a:lnTo>
                  <a:lnTo>
                    <a:pt x="6035040" y="3383280"/>
                  </a:lnTo>
                  <a:lnTo>
                    <a:pt x="0" y="3383280"/>
                  </a:lnTo>
                  <a:close/>
                </a:path>
              </a:pathLst>
            </a:custGeom>
            <a:blipFill>
              <a:blip r:embed="rId2">
                <a:alphaModFix amt="0"/>
              </a:blip>
              <a:stretch>
                <a:fillRect l="-21927" t="0" r="-21927" b="0"/>
              </a:stretch>
            </a:blipFill>
          </p:spPr>
        </p:sp>
        <p:sp>
          <p:nvSpPr>
            <p:cNvPr name="TextBox 33" id="33"/>
            <p:cNvSpPr txBox="true"/>
            <p:nvPr/>
          </p:nvSpPr>
          <p:spPr>
            <a:xfrm>
              <a:off x="0" y="-85725"/>
              <a:ext cx="6035040" cy="3469005"/>
            </a:xfrm>
            <a:prstGeom prst="rect">
              <a:avLst/>
            </a:prstGeom>
          </p:spPr>
          <p:txBody>
            <a:bodyPr anchor="ctr" rtlCol="false" tIns="0" lIns="0" bIns="0" rIns="0"/>
            <a:lstStyle/>
            <a:p>
              <a:pPr algn="l">
                <a:lnSpc>
                  <a:spcPts val="2587"/>
                </a:lnSpc>
              </a:pPr>
              <a:r>
                <a:rPr lang="en-US" sz="1725">
                  <a:solidFill>
                    <a:srgbClr val="6B7280"/>
                  </a:solidFill>
                  <a:latin typeface="Calibri (MS)"/>
                  <a:ea typeface="Calibri (MS)"/>
                  <a:cs typeface="Calibri (MS)"/>
                  <a:sym typeface="Calibri (MS)"/>
                </a:rPr>
                <a:t>NAS mejoró la DNN manual en +0.16 macro-F1 usando 71% menos parámetros: el diseño manual dejó margen de mejora arquitectónica real.</a:t>
              </a:r>
            </a:p>
          </p:txBody>
        </p:sp>
      </p:grpSp>
      <p:grpSp>
        <p:nvGrpSpPr>
          <p:cNvPr name="Group 34" id="34"/>
          <p:cNvGrpSpPr/>
          <p:nvPr/>
        </p:nvGrpSpPr>
        <p:grpSpPr>
          <a:xfrm rot="0">
            <a:off x="12334875" y="2596515"/>
            <a:ext cx="5299710" cy="5093970"/>
            <a:chOff x="0" y="0"/>
            <a:chExt cx="7066280" cy="6791960"/>
          </a:xfrm>
        </p:grpSpPr>
        <p:sp>
          <p:nvSpPr>
            <p:cNvPr name="Freeform 35" id="35"/>
            <p:cNvSpPr/>
            <p:nvPr/>
          </p:nvSpPr>
          <p:spPr>
            <a:xfrm flipH="false" flipV="false" rot="0">
              <a:off x="0" y="0"/>
              <a:ext cx="7066280" cy="6791961"/>
            </a:xfrm>
            <a:custGeom>
              <a:avLst/>
              <a:gdLst/>
              <a:ahLst/>
              <a:cxnLst/>
              <a:rect r="r" b="b" t="t" l="l"/>
              <a:pathLst>
                <a:path h="6791961" w="7066280">
                  <a:moveTo>
                    <a:pt x="0" y="183642"/>
                  </a:moveTo>
                  <a:cubicBezTo>
                    <a:pt x="0" y="82169"/>
                    <a:pt x="82169" y="0"/>
                    <a:pt x="183642" y="0"/>
                  </a:cubicBezTo>
                  <a:lnTo>
                    <a:pt x="6882638" y="0"/>
                  </a:lnTo>
                  <a:cubicBezTo>
                    <a:pt x="6983984" y="0"/>
                    <a:pt x="7066280" y="82169"/>
                    <a:pt x="7066280" y="183642"/>
                  </a:cubicBezTo>
                  <a:lnTo>
                    <a:pt x="7066280" y="6608318"/>
                  </a:lnTo>
                  <a:cubicBezTo>
                    <a:pt x="7066280" y="6709664"/>
                    <a:pt x="6984111" y="6791961"/>
                    <a:pt x="6882638" y="6791961"/>
                  </a:cubicBezTo>
                  <a:lnTo>
                    <a:pt x="183642" y="6791961"/>
                  </a:lnTo>
                  <a:cubicBezTo>
                    <a:pt x="82169" y="6791960"/>
                    <a:pt x="0" y="6709791"/>
                    <a:pt x="0" y="6608318"/>
                  </a:cubicBezTo>
                  <a:close/>
                </a:path>
              </a:pathLst>
            </a:custGeom>
            <a:solidFill>
              <a:srgbClr val="FFFFFF"/>
            </a:solidFill>
            <a:ln w="19050" cap="sq">
              <a:solidFill>
                <a:srgbClr val="E3E6F0"/>
              </a:solidFill>
              <a:prstDash val="solid"/>
              <a:miter/>
            </a:ln>
          </p:spPr>
        </p:sp>
      </p:grpSp>
      <p:grpSp>
        <p:nvGrpSpPr>
          <p:cNvPr name="Group 36" id="36"/>
          <p:cNvGrpSpPr/>
          <p:nvPr/>
        </p:nvGrpSpPr>
        <p:grpSpPr>
          <a:xfrm rot="0">
            <a:off x="12728448" y="3017520"/>
            <a:ext cx="685800" cy="685800"/>
            <a:chOff x="0" y="0"/>
            <a:chExt cx="914400" cy="914400"/>
          </a:xfrm>
        </p:grpSpPr>
        <p:sp>
          <p:nvSpPr>
            <p:cNvPr name="Freeform 37" id="37"/>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D1B2"/>
            </a:solidFill>
          </p:spPr>
        </p:sp>
      </p:grpSp>
      <p:grpSp>
        <p:nvGrpSpPr>
          <p:cNvPr name="Group 38" id="38"/>
          <p:cNvGrpSpPr/>
          <p:nvPr/>
        </p:nvGrpSpPr>
        <p:grpSpPr>
          <a:xfrm rot="0">
            <a:off x="12728448" y="3017520"/>
            <a:ext cx="685800" cy="685800"/>
            <a:chOff x="0" y="0"/>
            <a:chExt cx="914400" cy="914400"/>
          </a:xfrm>
        </p:grpSpPr>
        <p:sp>
          <p:nvSpPr>
            <p:cNvPr name="Freeform 39" id="3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03" t="0" r="-78303" b="0"/>
              </a:stretch>
            </a:blipFill>
          </p:spPr>
        </p:sp>
        <p:sp>
          <p:nvSpPr>
            <p:cNvPr name="TextBox 40" id="40"/>
            <p:cNvSpPr txBox="true"/>
            <p:nvPr/>
          </p:nvSpPr>
          <p:spPr>
            <a:xfrm>
              <a:off x="0" y="-57150"/>
              <a:ext cx="914400" cy="971550"/>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3</a:t>
              </a:r>
            </a:p>
          </p:txBody>
        </p:sp>
      </p:grpSp>
      <p:grpSp>
        <p:nvGrpSpPr>
          <p:cNvPr name="Group 41" id="41"/>
          <p:cNvGrpSpPr/>
          <p:nvPr/>
        </p:nvGrpSpPr>
        <p:grpSpPr>
          <a:xfrm rot="0">
            <a:off x="12728448" y="3909060"/>
            <a:ext cx="4526280" cy="1028700"/>
            <a:chOff x="0" y="0"/>
            <a:chExt cx="6035040" cy="1371600"/>
          </a:xfrm>
        </p:grpSpPr>
        <p:sp>
          <p:nvSpPr>
            <p:cNvPr name="Freeform 42" id="42"/>
            <p:cNvSpPr/>
            <p:nvPr/>
          </p:nvSpPr>
          <p:spPr>
            <a:xfrm flipH="false" flipV="false" rot="0">
              <a:off x="0" y="0"/>
              <a:ext cx="6035040" cy="1371600"/>
            </a:xfrm>
            <a:custGeom>
              <a:avLst/>
              <a:gdLst/>
              <a:ahLst/>
              <a:cxnLst/>
              <a:rect r="r" b="b" t="t" l="l"/>
              <a:pathLst>
                <a:path h="1371600" w="6035040">
                  <a:moveTo>
                    <a:pt x="0" y="0"/>
                  </a:moveTo>
                  <a:lnTo>
                    <a:pt x="6035040" y="0"/>
                  </a:lnTo>
                  <a:lnTo>
                    <a:pt x="6035040" y="1371600"/>
                  </a:lnTo>
                  <a:lnTo>
                    <a:pt x="0" y="1371600"/>
                  </a:lnTo>
                  <a:close/>
                </a:path>
              </a:pathLst>
            </a:custGeom>
            <a:blipFill>
              <a:blip r:embed="rId2">
                <a:alphaModFix amt="0"/>
              </a:blip>
              <a:stretch>
                <a:fillRect l="0" t="-35734" r="0" b="-35734"/>
              </a:stretch>
            </a:blipFill>
          </p:spPr>
        </p:sp>
        <p:sp>
          <p:nvSpPr>
            <p:cNvPr name="TextBox 43" id="43"/>
            <p:cNvSpPr txBox="true"/>
            <p:nvPr/>
          </p:nvSpPr>
          <p:spPr>
            <a:xfrm>
              <a:off x="0" y="-38100"/>
              <a:ext cx="6035040" cy="1409700"/>
            </a:xfrm>
            <a:prstGeom prst="rect">
              <a:avLst/>
            </a:prstGeom>
          </p:spPr>
          <p:txBody>
            <a:bodyPr anchor="ctr" rtlCol="false" tIns="0" lIns="0" bIns="0" rIns="0"/>
            <a:lstStyle/>
            <a:p>
              <a:pPr algn="l">
                <a:lnSpc>
                  <a:spcPts val="3267"/>
                </a:lnSpc>
              </a:pPr>
              <a:r>
                <a:rPr lang="en-US" sz="2475" b="true">
                  <a:solidFill>
                    <a:srgbClr val="0E1220"/>
                  </a:solidFill>
                  <a:latin typeface="Cambria Bold"/>
                  <a:ea typeface="Cambria Bold"/>
                  <a:cs typeface="Cambria Bold"/>
                  <a:sym typeface="Cambria Bold"/>
                </a:rPr>
                <a:t>Los datos sintéticos ayudan, no reemplazan</a:t>
              </a:r>
            </a:p>
          </p:txBody>
        </p:sp>
      </p:grpSp>
      <p:grpSp>
        <p:nvGrpSpPr>
          <p:cNvPr name="Group 44" id="44"/>
          <p:cNvGrpSpPr/>
          <p:nvPr/>
        </p:nvGrpSpPr>
        <p:grpSpPr>
          <a:xfrm rot="0">
            <a:off x="12728448" y="5006340"/>
            <a:ext cx="4526280" cy="2537460"/>
            <a:chOff x="0" y="0"/>
            <a:chExt cx="6035040" cy="3383280"/>
          </a:xfrm>
        </p:grpSpPr>
        <p:sp>
          <p:nvSpPr>
            <p:cNvPr name="Freeform 45" id="45"/>
            <p:cNvSpPr/>
            <p:nvPr/>
          </p:nvSpPr>
          <p:spPr>
            <a:xfrm flipH="false" flipV="false" rot="0">
              <a:off x="0" y="0"/>
              <a:ext cx="6035040" cy="3383280"/>
            </a:xfrm>
            <a:custGeom>
              <a:avLst/>
              <a:gdLst/>
              <a:ahLst/>
              <a:cxnLst/>
              <a:rect r="r" b="b" t="t" l="l"/>
              <a:pathLst>
                <a:path h="3383280" w="6035040">
                  <a:moveTo>
                    <a:pt x="0" y="0"/>
                  </a:moveTo>
                  <a:lnTo>
                    <a:pt x="6035040" y="0"/>
                  </a:lnTo>
                  <a:lnTo>
                    <a:pt x="6035040" y="3383280"/>
                  </a:lnTo>
                  <a:lnTo>
                    <a:pt x="0" y="3383280"/>
                  </a:lnTo>
                  <a:close/>
                </a:path>
              </a:pathLst>
            </a:custGeom>
            <a:blipFill>
              <a:blip r:embed="rId2">
                <a:alphaModFix amt="0"/>
              </a:blip>
              <a:stretch>
                <a:fillRect l="-21927" t="0" r="-21927" b="0"/>
              </a:stretch>
            </a:blipFill>
          </p:spPr>
        </p:sp>
        <p:sp>
          <p:nvSpPr>
            <p:cNvPr name="TextBox 46" id="46"/>
            <p:cNvSpPr txBox="true"/>
            <p:nvPr/>
          </p:nvSpPr>
          <p:spPr>
            <a:xfrm>
              <a:off x="0" y="-85725"/>
              <a:ext cx="6035040" cy="3469005"/>
            </a:xfrm>
            <a:prstGeom prst="rect">
              <a:avLst/>
            </a:prstGeom>
          </p:spPr>
          <p:txBody>
            <a:bodyPr anchor="ctr" rtlCol="false" tIns="0" lIns="0" bIns="0" rIns="0"/>
            <a:lstStyle/>
            <a:p>
              <a:pPr algn="l">
                <a:lnSpc>
                  <a:spcPts val="2587"/>
                </a:lnSpc>
              </a:pPr>
              <a:r>
                <a:rPr lang="en-US" sz="1725">
                  <a:solidFill>
                    <a:srgbClr val="6B7280"/>
                  </a:solidFill>
                  <a:latin typeface="Calibri (MS)"/>
                  <a:ea typeface="Calibri (MS)"/>
                  <a:cs typeface="Calibri (MS)"/>
                  <a:sym typeface="Calibri (MS)"/>
                </a:rPr>
                <a:t>Fidelidad SDV de 0.81 pero TSTR bajo (0.368 vs 0.713): útiles para aumentar clases raras en el train, no como sustituto del dataset real.</a:t>
              </a:r>
            </a:p>
          </p:txBody>
        </p:sp>
      </p:grpSp>
      <p:grpSp>
        <p:nvGrpSpPr>
          <p:cNvPr name="Group 47" id="47"/>
          <p:cNvGrpSpPr/>
          <p:nvPr/>
        </p:nvGrpSpPr>
        <p:grpSpPr>
          <a:xfrm rot="0">
            <a:off x="822960" y="8023860"/>
            <a:ext cx="16596360" cy="1234440"/>
            <a:chOff x="0" y="0"/>
            <a:chExt cx="22128480" cy="1645920"/>
          </a:xfrm>
        </p:grpSpPr>
        <p:sp>
          <p:nvSpPr>
            <p:cNvPr name="Freeform 48" id="48"/>
            <p:cNvSpPr/>
            <p:nvPr/>
          </p:nvSpPr>
          <p:spPr>
            <a:xfrm flipH="false" flipV="false" rot="0">
              <a:off x="0" y="0"/>
              <a:ext cx="22128480" cy="1645920"/>
            </a:xfrm>
            <a:custGeom>
              <a:avLst/>
              <a:gdLst/>
              <a:ahLst/>
              <a:cxnLst/>
              <a:rect r="r" b="b" t="t" l="l"/>
              <a:pathLst>
                <a:path h="1645920" w="22128480">
                  <a:moveTo>
                    <a:pt x="0" y="0"/>
                  </a:moveTo>
                  <a:lnTo>
                    <a:pt x="22128480" y="0"/>
                  </a:lnTo>
                  <a:lnTo>
                    <a:pt x="22128480" y="1645920"/>
                  </a:lnTo>
                  <a:lnTo>
                    <a:pt x="0" y="1645920"/>
                  </a:lnTo>
                  <a:close/>
                </a:path>
              </a:pathLst>
            </a:custGeom>
            <a:blipFill>
              <a:blip r:embed="rId2">
                <a:alphaModFix amt="0"/>
              </a:blip>
              <a:stretch>
                <a:fillRect l="0" t="-211965" r="0" b="-211965"/>
              </a:stretch>
            </a:blipFill>
          </p:spPr>
        </p:sp>
        <p:sp>
          <p:nvSpPr>
            <p:cNvPr name="TextBox 49" id="49"/>
            <p:cNvSpPr txBox="true"/>
            <p:nvPr/>
          </p:nvSpPr>
          <p:spPr>
            <a:xfrm>
              <a:off x="0" y="-95250"/>
              <a:ext cx="22128480" cy="1741170"/>
            </a:xfrm>
            <a:prstGeom prst="rect">
              <a:avLst/>
            </a:prstGeom>
          </p:spPr>
          <p:txBody>
            <a:bodyPr anchor="ctr" rtlCol="false" tIns="0" lIns="0" bIns="0" rIns="0"/>
            <a:lstStyle/>
            <a:p>
              <a:pPr algn="l">
                <a:lnSpc>
                  <a:spcPts val="2812"/>
                </a:lnSpc>
              </a:pPr>
              <a:r>
                <a:rPr lang="en-US" sz="1875" i="true">
                  <a:solidFill>
                    <a:srgbClr val="0E1220"/>
                  </a:solidFill>
                  <a:latin typeface="Calibri (MS) Italics"/>
                  <a:ea typeface="Calibri (MS) Italics"/>
                  <a:cs typeface="Calibri (MS) Italics"/>
                  <a:sym typeface="Calibri (MS) Italics"/>
                </a:rPr>
                <a:t>En síntesis: el uso de una DNN se justifica más por flexibilidad futura (integrar nuevas features, escalar a más datos) que por una ventaja estadística demostrada en esta corrida y el proceso de diseño manual sigue aportando valor como punto de partida para NAS.</a:t>
              </a:r>
            </a:p>
          </p:txBody>
        </p:sp>
      </p:grpSp>
      <p:grpSp>
        <p:nvGrpSpPr>
          <p:cNvPr name="Group 50" id="50"/>
          <p:cNvGrpSpPr/>
          <p:nvPr/>
        </p:nvGrpSpPr>
        <p:grpSpPr>
          <a:xfrm rot="0">
            <a:off x="17053103" y="9601200"/>
            <a:ext cx="822960" cy="411480"/>
            <a:chOff x="0" y="0"/>
            <a:chExt cx="1097280" cy="548640"/>
          </a:xfrm>
        </p:grpSpPr>
        <p:sp>
          <p:nvSpPr>
            <p:cNvPr name="Freeform 51" id="51"/>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52" id="52"/>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20</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61722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2">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300">
                  <a:solidFill>
                    <a:srgbClr val="00D1B2"/>
                  </a:solidFill>
                  <a:latin typeface="Calibri (MS) Bold"/>
                  <a:ea typeface="Calibri (MS) Bold"/>
                  <a:cs typeface="Calibri (MS) Bold"/>
                  <a:sym typeface="Calibri (MS) Bold"/>
                </a:rPr>
                <a:t>DECLARACIÓN OBLIGATORIA</a:t>
              </a:r>
            </a:p>
          </p:txBody>
        </p:sp>
      </p:grpSp>
      <p:grpSp>
        <p:nvGrpSpPr>
          <p:cNvPr name="Group 5" id="5"/>
          <p:cNvGrpSpPr/>
          <p:nvPr/>
        </p:nvGrpSpPr>
        <p:grpSpPr>
          <a:xfrm rot="0">
            <a:off x="822960" y="1069848"/>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2">
                <a:alphaModFix amt="0"/>
              </a:blip>
              <a:stretch>
                <a:fillRect l="0" t="-205470" r="0" b="-205470"/>
              </a:stretch>
            </a:blipFill>
          </p:spPr>
        </p:sp>
        <p:sp>
          <p:nvSpPr>
            <p:cNvPr name="TextBox 7" id="7"/>
            <p:cNvSpPr txBox="true"/>
            <p:nvPr/>
          </p:nvSpPr>
          <p:spPr>
            <a:xfrm>
              <a:off x="0" y="-19050"/>
              <a:ext cx="21579840" cy="1664970"/>
            </a:xfrm>
            <a:prstGeom prst="rect">
              <a:avLst/>
            </a:prstGeom>
          </p:spPr>
          <p:txBody>
            <a:bodyPr anchor="ctr" rtlCol="false" tIns="0" lIns="0" bIns="0" rIns="0"/>
            <a:lstStyle/>
            <a:p>
              <a:pPr algn="l">
                <a:lnSpc>
                  <a:spcPts val="5400"/>
                </a:lnSpc>
              </a:pPr>
              <a:r>
                <a:rPr lang="en-US" sz="4500" b="true">
                  <a:solidFill>
                    <a:srgbClr val="0E1220"/>
                  </a:solidFill>
                  <a:latin typeface="Cambria Bold"/>
                  <a:ea typeface="Cambria Bold"/>
                  <a:cs typeface="Cambria Bold"/>
                  <a:sym typeface="Cambria Bold"/>
                </a:rPr>
                <a:t>Uso de herramientas generativas</a:t>
              </a:r>
            </a:p>
          </p:txBody>
        </p:sp>
      </p:grpSp>
      <p:grpSp>
        <p:nvGrpSpPr>
          <p:cNvPr name="Group 8" id="8"/>
          <p:cNvGrpSpPr/>
          <p:nvPr/>
        </p:nvGrpSpPr>
        <p:grpSpPr>
          <a:xfrm rot="0">
            <a:off x="813435" y="2596515"/>
            <a:ext cx="16615410" cy="5368290"/>
            <a:chOff x="0" y="0"/>
            <a:chExt cx="22153880" cy="7157720"/>
          </a:xfrm>
        </p:grpSpPr>
        <p:sp>
          <p:nvSpPr>
            <p:cNvPr name="Freeform 9" id="9"/>
            <p:cNvSpPr/>
            <p:nvPr/>
          </p:nvSpPr>
          <p:spPr>
            <a:xfrm flipH="false" flipV="false" rot="0">
              <a:off x="0" y="0"/>
              <a:ext cx="22153880" cy="7157720"/>
            </a:xfrm>
            <a:custGeom>
              <a:avLst/>
              <a:gdLst/>
              <a:ahLst/>
              <a:cxnLst/>
              <a:rect r="r" b="b" t="t" l="l"/>
              <a:pathLst>
                <a:path h="7157720" w="22153880">
                  <a:moveTo>
                    <a:pt x="0" y="183515"/>
                  </a:moveTo>
                  <a:cubicBezTo>
                    <a:pt x="0" y="82169"/>
                    <a:pt x="82169" y="0"/>
                    <a:pt x="183515" y="0"/>
                  </a:cubicBezTo>
                  <a:lnTo>
                    <a:pt x="21970364" y="0"/>
                  </a:lnTo>
                  <a:cubicBezTo>
                    <a:pt x="22071712" y="0"/>
                    <a:pt x="22153880" y="82169"/>
                    <a:pt x="22153880" y="183515"/>
                  </a:cubicBezTo>
                  <a:lnTo>
                    <a:pt x="22153880" y="6974205"/>
                  </a:lnTo>
                  <a:cubicBezTo>
                    <a:pt x="22153880" y="7075551"/>
                    <a:pt x="22071712" y="7157720"/>
                    <a:pt x="21970364" y="7157720"/>
                  </a:cubicBezTo>
                  <a:lnTo>
                    <a:pt x="183515" y="7157720"/>
                  </a:lnTo>
                  <a:cubicBezTo>
                    <a:pt x="82169" y="7157720"/>
                    <a:pt x="0" y="7075551"/>
                    <a:pt x="0" y="6974205"/>
                  </a:cubicBezTo>
                  <a:close/>
                </a:path>
              </a:pathLst>
            </a:custGeom>
            <a:solidFill>
              <a:srgbClr val="FFFFFF"/>
            </a:solidFill>
            <a:ln w="19050" cap="sq">
              <a:solidFill>
                <a:srgbClr val="E3E6F0"/>
              </a:solidFill>
              <a:prstDash val="solid"/>
              <a:miter/>
            </a:ln>
          </p:spPr>
        </p:sp>
      </p:grpSp>
      <p:grpSp>
        <p:nvGrpSpPr>
          <p:cNvPr name="Group 10" id="10"/>
          <p:cNvGrpSpPr/>
          <p:nvPr/>
        </p:nvGrpSpPr>
        <p:grpSpPr>
          <a:xfrm rot="0">
            <a:off x="1371600" y="3017520"/>
            <a:ext cx="15499080" cy="548640"/>
            <a:chOff x="0" y="0"/>
            <a:chExt cx="20665440" cy="731520"/>
          </a:xfrm>
        </p:grpSpPr>
        <p:sp>
          <p:nvSpPr>
            <p:cNvPr name="Freeform 11" id="11"/>
            <p:cNvSpPr/>
            <p:nvPr/>
          </p:nvSpPr>
          <p:spPr>
            <a:xfrm flipH="false" flipV="false" rot="0">
              <a:off x="0" y="0"/>
              <a:ext cx="20665439" cy="731520"/>
            </a:xfrm>
            <a:custGeom>
              <a:avLst/>
              <a:gdLst/>
              <a:ahLst/>
              <a:cxnLst/>
              <a:rect r="r" b="b" t="t" l="l"/>
              <a:pathLst>
                <a:path h="731520" w="20665439">
                  <a:moveTo>
                    <a:pt x="0" y="0"/>
                  </a:moveTo>
                  <a:lnTo>
                    <a:pt x="20665439" y="0"/>
                  </a:lnTo>
                  <a:lnTo>
                    <a:pt x="20665439" y="731520"/>
                  </a:lnTo>
                  <a:lnTo>
                    <a:pt x="0" y="731520"/>
                  </a:lnTo>
                  <a:close/>
                </a:path>
              </a:pathLst>
            </a:custGeom>
            <a:blipFill>
              <a:blip r:embed="rId2">
                <a:alphaModFix amt="0"/>
              </a:blip>
              <a:stretch>
                <a:fillRect l="0" t="-500452" r="0" b="-500452"/>
              </a:stretch>
            </a:blipFill>
          </p:spPr>
        </p:sp>
        <p:sp>
          <p:nvSpPr>
            <p:cNvPr name="TextBox 12" id="12"/>
            <p:cNvSpPr txBox="true"/>
            <p:nvPr/>
          </p:nvSpPr>
          <p:spPr>
            <a:xfrm>
              <a:off x="0" y="-47625"/>
              <a:ext cx="20665440" cy="779145"/>
            </a:xfrm>
            <a:prstGeom prst="rect">
              <a:avLst/>
            </a:prstGeom>
          </p:spPr>
          <p:txBody>
            <a:bodyPr anchor="ctr" rtlCol="false" tIns="0" lIns="0" bIns="0" rIns="0"/>
            <a:lstStyle/>
            <a:p>
              <a:pPr algn="l">
                <a:lnSpc>
                  <a:spcPts val="2520"/>
                </a:lnSpc>
              </a:pPr>
              <a:r>
                <a:rPr lang="en-US" sz="2100" b="true">
                  <a:solidFill>
                    <a:srgbClr val="0E1220"/>
                  </a:solidFill>
                  <a:latin typeface="Calibri (MS) Bold"/>
                  <a:ea typeface="Calibri (MS) Bold"/>
                  <a:cs typeface="Calibri (MS) Bold"/>
                  <a:sym typeface="Calibri (MS) Bold"/>
                </a:rPr>
                <a:t>Se usó un asistente de IA para redactar boilerplate de código:</a:t>
              </a:r>
            </a:p>
          </p:txBody>
        </p:sp>
      </p:grpSp>
      <p:grpSp>
        <p:nvGrpSpPr>
          <p:cNvPr name="Group 13" id="13"/>
          <p:cNvGrpSpPr/>
          <p:nvPr/>
        </p:nvGrpSpPr>
        <p:grpSpPr>
          <a:xfrm rot="0">
            <a:off x="1371600" y="3909060"/>
            <a:ext cx="438912" cy="438912"/>
            <a:chOff x="0" y="0"/>
            <a:chExt cx="585216" cy="585216"/>
          </a:xfrm>
        </p:grpSpPr>
        <p:sp>
          <p:nvSpPr>
            <p:cNvPr name="Freeform 14" id="1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E9FBF6"/>
            </a:solidFill>
          </p:spPr>
        </p:sp>
      </p:grpSp>
      <p:grpSp>
        <p:nvGrpSpPr>
          <p:cNvPr name="Group 15" id="15"/>
          <p:cNvGrpSpPr/>
          <p:nvPr/>
        </p:nvGrpSpPr>
        <p:grpSpPr>
          <a:xfrm rot="0">
            <a:off x="1371600" y="3909060"/>
            <a:ext cx="438912" cy="438912"/>
            <a:chOff x="0" y="0"/>
            <a:chExt cx="585216" cy="585216"/>
          </a:xfrm>
        </p:grpSpPr>
        <p:sp>
          <p:nvSpPr>
            <p:cNvPr name="Freeform 16" id="1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2">
                <a:alphaModFix amt="0"/>
              </a:blip>
              <a:stretch>
                <a:fillRect l="-78303" t="0" r="-78303" b="0"/>
              </a:stretch>
            </a:blipFill>
          </p:spPr>
        </p:sp>
        <p:sp>
          <p:nvSpPr>
            <p:cNvPr name="TextBox 17" id="17"/>
            <p:cNvSpPr txBox="true"/>
            <p:nvPr/>
          </p:nvSpPr>
          <p:spPr>
            <a:xfrm>
              <a:off x="0" y="-38100"/>
              <a:ext cx="585216" cy="623316"/>
            </a:xfrm>
            <a:prstGeom prst="rect">
              <a:avLst/>
            </a:prstGeom>
          </p:spPr>
          <p:txBody>
            <a:bodyPr anchor="ctr" rtlCol="false" tIns="0" lIns="0" bIns="0" rIns="0"/>
            <a:lstStyle/>
            <a:p>
              <a:pPr algn="ctr">
                <a:lnSpc>
                  <a:spcPts val="2160"/>
                </a:lnSpc>
              </a:pPr>
              <a:r>
                <a:rPr lang="en-US" sz="1800" b="true">
                  <a:solidFill>
                    <a:srgbClr val="00D1B2"/>
                  </a:solidFill>
                  <a:latin typeface="Calibri (MS) Bold"/>
                  <a:ea typeface="Calibri (MS) Bold"/>
                  <a:cs typeface="Calibri (MS) Bold"/>
                  <a:sym typeface="Calibri (MS) Bold"/>
                </a:rPr>
                <a:t>✓</a:t>
              </a:r>
            </a:p>
          </p:txBody>
        </p:sp>
      </p:grpSp>
      <p:grpSp>
        <p:nvGrpSpPr>
          <p:cNvPr name="Group 18" id="18"/>
          <p:cNvGrpSpPr/>
          <p:nvPr/>
        </p:nvGrpSpPr>
        <p:grpSpPr>
          <a:xfrm rot="0">
            <a:off x="1988820" y="3826764"/>
            <a:ext cx="14676120" cy="603504"/>
            <a:chOff x="0" y="0"/>
            <a:chExt cx="19568160" cy="804672"/>
          </a:xfrm>
        </p:grpSpPr>
        <p:sp>
          <p:nvSpPr>
            <p:cNvPr name="Freeform 19" id="19"/>
            <p:cNvSpPr/>
            <p:nvPr/>
          </p:nvSpPr>
          <p:spPr>
            <a:xfrm flipH="false" flipV="false" rot="0">
              <a:off x="0" y="0"/>
              <a:ext cx="19568161" cy="804672"/>
            </a:xfrm>
            <a:custGeom>
              <a:avLst/>
              <a:gdLst/>
              <a:ahLst/>
              <a:cxnLst/>
              <a:rect r="r" b="b" t="t" l="l"/>
              <a:pathLst>
                <a:path h="804672" w="19568161">
                  <a:moveTo>
                    <a:pt x="0" y="0"/>
                  </a:moveTo>
                  <a:lnTo>
                    <a:pt x="19568161" y="0"/>
                  </a:lnTo>
                  <a:lnTo>
                    <a:pt x="19568161" y="804672"/>
                  </a:lnTo>
                  <a:lnTo>
                    <a:pt x="0" y="804672"/>
                  </a:lnTo>
                  <a:close/>
                </a:path>
              </a:pathLst>
            </a:custGeom>
            <a:blipFill>
              <a:blip r:embed="rId2">
                <a:alphaModFix amt="0"/>
              </a:blip>
              <a:stretch>
                <a:fillRect l="0" t="-423840" r="0" b="-423840"/>
              </a:stretch>
            </a:blipFill>
          </p:spPr>
        </p:sp>
        <p:sp>
          <p:nvSpPr>
            <p:cNvPr name="TextBox 20" id="20"/>
            <p:cNvSpPr txBox="true"/>
            <p:nvPr/>
          </p:nvSpPr>
          <p:spPr>
            <a:xfrm>
              <a:off x="0" y="-47625"/>
              <a:ext cx="19568160" cy="852297"/>
            </a:xfrm>
            <a:prstGeom prst="rect">
              <a:avLst/>
            </a:prstGeom>
          </p:spPr>
          <p:txBody>
            <a:bodyPr anchor="ctr" rtlCol="false" tIns="0" lIns="0" bIns="0" rIns="0"/>
            <a:lstStyle/>
            <a:p>
              <a:pPr algn="l">
                <a:lnSpc>
                  <a:spcPts val="2340"/>
                </a:lnSpc>
              </a:pPr>
              <a:r>
                <a:rPr lang="en-US" sz="1950">
                  <a:solidFill>
                    <a:srgbClr val="6B7280"/>
                  </a:solidFill>
                  <a:latin typeface="Calibri (MS)"/>
                  <a:ea typeface="Calibri (MS)"/>
                  <a:cs typeface="Calibri (MS)"/>
                  <a:sym typeface="Calibri (MS)"/>
                </a:rPr>
                <a:t>Lectura y limpieza de los CSV de CIC-IDS2017</a:t>
              </a:r>
            </a:p>
          </p:txBody>
        </p:sp>
      </p:grpSp>
      <p:grpSp>
        <p:nvGrpSpPr>
          <p:cNvPr name="Group 21" id="21"/>
          <p:cNvGrpSpPr/>
          <p:nvPr/>
        </p:nvGrpSpPr>
        <p:grpSpPr>
          <a:xfrm rot="0">
            <a:off x="1371600" y="4663440"/>
            <a:ext cx="438912" cy="438912"/>
            <a:chOff x="0" y="0"/>
            <a:chExt cx="585216" cy="585216"/>
          </a:xfrm>
        </p:grpSpPr>
        <p:sp>
          <p:nvSpPr>
            <p:cNvPr name="Freeform 22" id="22"/>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E9FBF6"/>
            </a:solidFill>
          </p:spPr>
        </p:sp>
      </p:grpSp>
      <p:grpSp>
        <p:nvGrpSpPr>
          <p:cNvPr name="Group 23" id="23"/>
          <p:cNvGrpSpPr/>
          <p:nvPr/>
        </p:nvGrpSpPr>
        <p:grpSpPr>
          <a:xfrm rot="0">
            <a:off x="1371600" y="4663440"/>
            <a:ext cx="438912" cy="438912"/>
            <a:chOff x="0" y="0"/>
            <a:chExt cx="585216" cy="585216"/>
          </a:xfrm>
        </p:grpSpPr>
        <p:sp>
          <p:nvSpPr>
            <p:cNvPr name="Freeform 24" id="24"/>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2">
                <a:alphaModFix amt="0"/>
              </a:blip>
              <a:stretch>
                <a:fillRect l="-78303" t="0" r="-78303" b="0"/>
              </a:stretch>
            </a:blipFill>
          </p:spPr>
        </p:sp>
        <p:sp>
          <p:nvSpPr>
            <p:cNvPr name="TextBox 25" id="25"/>
            <p:cNvSpPr txBox="true"/>
            <p:nvPr/>
          </p:nvSpPr>
          <p:spPr>
            <a:xfrm>
              <a:off x="0" y="-38100"/>
              <a:ext cx="585216" cy="623316"/>
            </a:xfrm>
            <a:prstGeom prst="rect">
              <a:avLst/>
            </a:prstGeom>
          </p:spPr>
          <p:txBody>
            <a:bodyPr anchor="ctr" rtlCol="false" tIns="0" lIns="0" bIns="0" rIns="0"/>
            <a:lstStyle/>
            <a:p>
              <a:pPr algn="ctr">
                <a:lnSpc>
                  <a:spcPts val="2160"/>
                </a:lnSpc>
              </a:pPr>
              <a:r>
                <a:rPr lang="en-US" sz="1800" b="true">
                  <a:solidFill>
                    <a:srgbClr val="00D1B2"/>
                  </a:solidFill>
                  <a:latin typeface="Calibri (MS) Bold"/>
                  <a:ea typeface="Calibri (MS) Bold"/>
                  <a:cs typeface="Calibri (MS) Bold"/>
                  <a:sym typeface="Calibri (MS) Bold"/>
                </a:rPr>
                <a:t>✓</a:t>
              </a:r>
            </a:p>
          </p:txBody>
        </p:sp>
      </p:grpSp>
      <p:grpSp>
        <p:nvGrpSpPr>
          <p:cNvPr name="Group 26" id="26"/>
          <p:cNvGrpSpPr/>
          <p:nvPr/>
        </p:nvGrpSpPr>
        <p:grpSpPr>
          <a:xfrm rot="0">
            <a:off x="1988820" y="4581144"/>
            <a:ext cx="14676120" cy="603504"/>
            <a:chOff x="0" y="0"/>
            <a:chExt cx="19568160" cy="804672"/>
          </a:xfrm>
        </p:grpSpPr>
        <p:sp>
          <p:nvSpPr>
            <p:cNvPr name="Freeform 27" id="27"/>
            <p:cNvSpPr/>
            <p:nvPr/>
          </p:nvSpPr>
          <p:spPr>
            <a:xfrm flipH="false" flipV="false" rot="0">
              <a:off x="0" y="0"/>
              <a:ext cx="19568161" cy="804672"/>
            </a:xfrm>
            <a:custGeom>
              <a:avLst/>
              <a:gdLst/>
              <a:ahLst/>
              <a:cxnLst/>
              <a:rect r="r" b="b" t="t" l="l"/>
              <a:pathLst>
                <a:path h="804672" w="19568161">
                  <a:moveTo>
                    <a:pt x="0" y="0"/>
                  </a:moveTo>
                  <a:lnTo>
                    <a:pt x="19568161" y="0"/>
                  </a:lnTo>
                  <a:lnTo>
                    <a:pt x="19568161" y="804672"/>
                  </a:lnTo>
                  <a:lnTo>
                    <a:pt x="0" y="804672"/>
                  </a:lnTo>
                  <a:close/>
                </a:path>
              </a:pathLst>
            </a:custGeom>
            <a:blipFill>
              <a:blip r:embed="rId2">
                <a:alphaModFix amt="0"/>
              </a:blip>
              <a:stretch>
                <a:fillRect l="0" t="-423840" r="0" b="-423840"/>
              </a:stretch>
            </a:blipFill>
          </p:spPr>
        </p:sp>
        <p:sp>
          <p:nvSpPr>
            <p:cNvPr name="TextBox 28" id="28"/>
            <p:cNvSpPr txBox="true"/>
            <p:nvPr/>
          </p:nvSpPr>
          <p:spPr>
            <a:xfrm>
              <a:off x="0" y="-47625"/>
              <a:ext cx="19568160" cy="852297"/>
            </a:xfrm>
            <a:prstGeom prst="rect">
              <a:avLst/>
            </a:prstGeom>
          </p:spPr>
          <p:txBody>
            <a:bodyPr anchor="ctr" rtlCol="false" tIns="0" lIns="0" bIns="0" rIns="0"/>
            <a:lstStyle/>
            <a:p>
              <a:pPr algn="l">
                <a:lnSpc>
                  <a:spcPts val="2340"/>
                </a:lnSpc>
              </a:pPr>
              <a:r>
                <a:rPr lang="en-US" sz="1950">
                  <a:solidFill>
                    <a:srgbClr val="6B7280"/>
                  </a:solidFill>
                  <a:latin typeface="Calibri (MS)"/>
                  <a:ea typeface="Calibri (MS)"/>
                  <a:cs typeface="Calibri (MS)"/>
                  <a:sym typeface="Calibri (MS)"/>
                </a:rPr>
                <a:t>Loops de entrenamiento estándar en PyTorch / scikit-learn</a:t>
              </a:r>
            </a:p>
          </p:txBody>
        </p:sp>
      </p:grpSp>
      <p:grpSp>
        <p:nvGrpSpPr>
          <p:cNvPr name="Group 29" id="29"/>
          <p:cNvGrpSpPr/>
          <p:nvPr/>
        </p:nvGrpSpPr>
        <p:grpSpPr>
          <a:xfrm rot="0">
            <a:off x="1371600" y="5417820"/>
            <a:ext cx="438912" cy="438912"/>
            <a:chOff x="0" y="0"/>
            <a:chExt cx="585216" cy="585216"/>
          </a:xfrm>
        </p:grpSpPr>
        <p:sp>
          <p:nvSpPr>
            <p:cNvPr name="Freeform 30" id="30"/>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E9FBF6"/>
            </a:solidFill>
          </p:spPr>
        </p:sp>
      </p:grpSp>
      <p:grpSp>
        <p:nvGrpSpPr>
          <p:cNvPr name="Group 31" id="31"/>
          <p:cNvGrpSpPr/>
          <p:nvPr/>
        </p:nvGrpSpPr>
        <p:grpSpPr>
          <a:xfrm rot="0">
            <a:off x="1371600" y="5417820"/>
            <a:ext cx="438912" cy="438912"/>
            <a:chOff x="0" y="0"/>
            <a:chExt cx="585216" cy="585216"/>
          </a:xfrm>
        </p:grpSpPr>
        <p:sp>
          <p:nvSpPr>
            <p:cNvPr name="Freeform 32" id="32"/>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2">
                <a:alphaModFix amt="0"/>
              </a:blip>
              <a:stretch>
                <a:fillRect l="-78303" t="0" r="-78303" b="0"/>
              </a:stretch>
            </a:blipFill>
          </p:spPr>
        </p:sp>
        <p:sp>
          <p:nvSpPr>
            <p:cNvPr name="TextBox 33" id="33"/>
            <p:cNvSpPr txBox="true"/>
            <p:nvPr/>
          </p:nvSpPr>
          <p:spPr>
            <a:xfrm>
              <a:off x="0" y="-38100"/>
              <a:ext cx="585216" cy="623316"/>
            </a:xfrm>
            <a:prstGeom prst="rect">
              <a:avLst/>
            </a:prstGeom>
          </p:spPr>
          <p:txBody>
            <a:bodyPr anchor="ctr" rtlCol="false" tIns="0" lIns="0" bIns="0" rIns="0"/>
            <a:lstStyle/>
            <a:p>
              <a:pPr algn="ctr">
                <a:lnSpc>
                  <a:spcPts val="2160"/>
                </a:lnSpc>
              </a:pPr>
              <a:r>
                <a:rPr lang="en-US" sz="1800" b="true">
                  <a:solidFill>
                    <a:srgbClr val="00D1B2"/>
                  </a:solidFill>
                  <a:latin typeface="Calibri (MS) Bold"/>
                  <a:ea typeface="Calibri (MS) Bold"/>
                  <a:cs typeface="Calibri (MS) Bold"/>
                  <a:sym typeface="Calibri (MS) Bold"/>
                </a:rPr>
                <a:t>✓</a:t>
              </a:r>
            </a:p>
          </p:txBody>
        </p:sp>
      </p:grpSp>
      <p:grpSp>
        <p:nvGrpSpPr>
          <p:cNvPr name="Group 34" id="34"/>
          <p:cNvGrpSpPr/>
          <p:nvPr/>
        </p:nvGrpSpPr>
        <p:grpSpPr>
          <a:xfrm rot="0">
            <a:off x="1988820" y="5335524"/>
            <a:ext cx="14676120" cy="603504"/>
            <a:chOff x="0" y="0"/>
            <a:chExt cx="19568160" cy="804672"/>
          </a:xfrm>
        </p:grpSpPr>
        <p:sp>
          <p:nvSpPr>
            <p:cNvPr name="Freeform 35" id="35"/>
            <p:cNvSpPr/>
            <p:nvPr/>
          </p:nvSpPr>
          <p:spPr>
            <a:xfrm flipH="false" flipV="false" rot="0">
              <a:off x="0" y="0"/>
              <a:ext cx="19568161" cy="804672"/>
            </a:xfrm>
            <a:custGeom>
              <a:avLst/>
              <a:gdLst/>
              <a:ahLst/>
              <a:cxnLst/>
              <a:rect r="r" b="b" t="t" l="l"/>
              <a:pathLst>
                <a:path h="804672" w="19568161">
                  <a:moveTo>
                    <a:pt x="0" y="0"/>
                  </a:moveTo>
                  <a:lnTo>
                    <a:pt x="19568161" y="0"/>
                  </a:lnTo>
                  <a:lnTo>
                    <a:pt x="19568161" y="804672"/>
                  </a:lnTo>
                  <a:lnTo>
                    <a:pt x="0" y="804672"/>
                  </a:lnTo>
                  <a:close/>
                </a:path>
              </a:pathLst>
            </a:custGeom>
            <a:blipFill>
              <a:blip r:embed="rId2">
                <a:alphaModFix amt="0"/>
              </a:blip>
              <a:stretch>
                <a:fillRect l="0" t="-423840" r="0" b="-423840"/>
              </a:stretch>
            </a:blipFill>
          </p:spPr>
        </p:sp>
        <p:sp>
          <p:nvSpPr>
            <p:cNvPr name="TextBox 36" id="36"/>
            <p:cNvSpPr txBox="true"/>
            <p:nvPr/>
          </p:nvSpPr>
          <p:spPr>
            <a:xfrm>
              <a:off x="0" y="-47625"/>
              <a:ext cx="19568160" cy="852297"/>
            </a:xfrm>
            <a:prstGeom prst="rect">
              <a:avLst/>
            </a:prstGeom>
          </p:spPr>
          <p:txBody>
            <a:bodyPr anchor="ctr" rtlCol="false" tIns="0" lIns="0" bIns="0" rIns="0"/>
            <a:lstStyle/>
            <a:p>
              <a:pPr algn="l">
                <a:lnSpc>
                  <a:spcPts val="2340"/>
                </a:lnSpc>
              </a:pPr>
              <a:r>
                <a:rPr lang="en-US" sz="1950">
                  <a:solidFill>
                    <a:srgbClr val="6B7280"/>
                  </a:solidFill>
                  <a:latin typeface="Calibri (MS)"/>
                  <a:ea typeface="Calibri (MS)"/>
                  <a:cs typeface="Calibri (MS)"/>
                  <a:sym typeface="Calibri (MS)"/>
                </a:rPr>
                <a:t>Generación de los gráficos de resultados (matplotlib)</a:t>
              </a:r>
            </a:p>
          </p:txBody>
        </p:sp>
      </p:grpSp>
      <p:sp>
        <p:nvSpPr>
          <p:cNvPr name="AutoShape 37" id="37"/>
          <p:cNvSpPr/>
          <p:nvPr/>
        </p:nvSpPr>
        <p:spPr>
          <a:xfrm rot="4200">
            <a:off x="1362065" y="6373178"/>
            <a:ext cx="15518140" cy="0"/>
          </a:xfrm>
          <a:prstGeom prst="line">
            <a:avLst/>
          </a:prstGeom>
          <a:ln cap="rnd" w="9525">
            <a:solidFill>
              <a:srgbClr val="E3E6F0"/>
            </a:solidFill>
            <a:prstDash val="solid"/>
            <a:headEnd type="none" len="sm" w="sm"/>
            <a:tailEnd type="none" len="sm" w="sm"/>
          </a:ln>
        </p:spPr>
      </p:sp>
      <p:grpSp>
        <p:nvGrpSpPr>
          <p:cNvPr name="Group 38" id="38"/>
          <p:cNvGrpSpPr/>
          <p:nvPr/>
        </p:nvGrpSpPr>
        <p:grpSpPr>
          <a:xfrm rot="0">
            <a:off x="1371600" y="6652260"/>
            <a:ext cx="15499080" cy="960120"/>
            <a:chOff x="0" y="0"/>
            <a:chExt cx="20665440" cy="1280160"/>
          </a:xfrm>
        </p:grpSpPr>
        <p:sp>
          <p:nvSpPr>
            <p:cNvPr name="Freeform 39" id="39"/>
            <p:cNvSpPr/>
            <p:nvPr/>
          </p:nvSpPr>
          <p:spPr>
            <a:xfrm flipH="false" flipV="false" rot="0">
              <a:off x="0" y="0"/>
              <a:ext cx="20665439" cy="1280160"/>
            </a:xfrm>
            <a:custGeom>
              <a:avLst/>
              <a:gdLst/>
              <a:ahLst/>
              <a:cxnLst/>
              <a:rect r="r" b="b" t="t" l="l"/>
              <a:pathLst>
                <a:path h="1280160" w="20665439">
                  <a:moveTo>
                    <a:pt x="0" y="0"/>
                  </a:moveTo>
                  <a:lnTo>
                    <a:pt x="20665439" y="0"/>
                  </a:lnTo>
                  <a:lnTo>
                    <a:pt x="20665439" y="1280160"/>
                  </a:lnTo>
                  <a:lnTo>
                    <a:pt x="0" y="1280160"/>
                  </a:lnTo>
                  <a:close/>
                </a:path>
              </a:pathLst>
            </a:custGeom>
            <a:blipFill>
              <a:blip r:embed="rId2">
                <a:alphaModFix amt="0"/>
              </a:blip>
              <a:stretch>
                <a:fillRect l="0" t="-264544" r="0" b="-264544"/>
              </a:stretch>
            </a:blipFill>
          </p:spPr>
        </p:sp>
        <p:sp>
          <p:nvSpPr>
            <p:cNvPr name="TextBox 40" id="40"/>
            <p:cNvSpPr txBox="true"/>
            <p:nvPr/>
          </p:nvSpPr>
          <p:spPr>
            <a:xfrm>
              <a:off x="0" y="-104775"/>
              <a:ext cx="20665440" cy="1384935"/>
            </a:xfrm>
            <a:prstGeom prst="rect">
              <a:avLst/>
            </a:prstGeom>
          </p:spPr>
          <p:txBody>
            <a:bodyPr anchor="ctr" rtlCol="false" tIns="0" lIns="0" bIns="0" rIns="0"/>
            <a:lstStyle/>
            <a:p>
              <a:pPr algn="l">
                <a:lnSpc>
                  <a:spcPts val="3150"/>
                </a:lnSpc>
              </a:pPr>
              <a:r>
                <a:rPr lang="en-US" sz="2100" b="true">
                  <a:solidFill>
                    <a:srgbClr val="0E1220"/>
                  </a:solidFill>
                  <a:latin typeface="Calibri (MS) Bold"/>
                  <a:ea typeface="Calibri (MS) Bold"/>
                  <a:cs typeface="Calibri (MS) Bold"/>
                  <a:sym typeface="Calibri (MS) Bold"/>
                </a:rPr>
                <a:t>El diseño de la arquitectura, la elección de hiperparámetros y el análisis de los resultados </a:t>
              </a:r>
              <a:r>
                <a:rPr lang="en-US" sz="2100">
                  <a:solidFill>
                    <a:srgbClr val="0E1220"/>
                  </a:solidFill>
                  <a:latin typeface="Calibri (MS)"/>
                  <a:ea typeface="Calibri (MS)"/>
                  <a:cs typeface="Calibri (MS)"/>
                  <a:sym typeface="Calibri (MS)"/>
                </a:rPr>
                <a:t>fueron hechos y revisados por el equipo.</a:t>
              </a:r>
            </a:p>
          </p:txBody>
        </p:sp>
      </p:grpSp>
      <p:grpSp>
        <p:nvGrpSpPr>
          <p:cNvPr name="Group 41" id="41"/>
          <p:cNvGrpSpPr/>
          <p:nvPr/>
        </p:nvGrpSpPr>
        <p:grpSpPr>
          <a:xfrm rot="0">
            <a:off x="1371600" y="7749540"/>
            <a:ext cx="15499080" cy="822960"/>
            <a:chOff x="0" y="0"/>
            <a:chExt cx="20665440" cy="1097280"/>
          </a:xfrm>
        </p:grpSpPr>
        <p:sp>
          <p:nvSpPr>
            <p:cNvPr name="Freeform 42" id="42"/>
            <p:cNvSpPr/>
            <p:nvPr/>
          </p:nvSpPr>
          <p:spPr>
            <a:xfrm flipH="false" flipV="false" rot="0">
              <a:off x="0" y="0"/>
              <a:ext cx="20665439" cy="1097280"/>
            </a:xfrm>
            <a:custGeom>
              <a:avLst/>
              <a:gdLst/>
              <a:ahLst/>
              <a:cxnLst/>
              <a:rect r="r" b="b" t="t" l="l"/>
              <a:pathLst>
                <a:path h="1097280" w="20665439">
                  <a:moveTo>
                    <a:pt x="0" y="0"/>
                  </a:moveTo>
                  <a:lnTo>
                    <a:pt x="20665439" y="0"/>
                  </a:lnTo>
                  <a:lnTo>
                    <a:pt x="20665439" y="1097280"/>
                  </a:lnTo>
                  <a:lnTo>
                    <a:pt x="0" y="1097280"/>
                  </a:lnTo>
                  <a:close/>
                </a:path>
              </a:pathLst>
            </a:custGeom>
            <a:blipFill>
              <a:blip r:embed="rId2">
                <a:alphaModFix amt="0"/>
              </a:blip>
              <a:stretch>
                <a:fillRect l="0" t="-316968" r="0" b="-316968"/>
              </a:stretch>
            </a:blipFill>
          </p:spPr>
        </p:sp>
        <p:sp>
          <p:nvSpPr>
            <p:cNvPr name="TextBox 43" id="43"/>
            <p:cNvSpPr txBox="true"/>
            <p:nvPr/>
          </p:nvSpPr>
          <p:spPr>
            <a:xfrm>
              <a:off x="0" y="-38100"/>
              <a:ext cx="20665440" cy="1135380"/>
            </a:xfrm>
            <a:prstGeom prst="rect">
              <a:avLst/>
            </a:prstGeom>
          </p:spPr>
          <p:txBody>
            <a:bodyPr anchor="ctr" rtlCol="false" tIns="0" lIns="0" bIns="0" rIns="0"/>
            <a:lstStyle/>
            <a:p>
              <a:pPr algn="l">
                <a:lnSpc>
                  <a:spcPts val="2070"/>
                </a:lnSpc>
              </a:pPr>
              <a:r>
                <a:rPr lang="en-US" sz="1725" i="true">
                  <a:solidFill>
                    <a:srgbClr val="FF5C5C"/>
                  </a:solidFill>
                  <a:latin typeface="Calibri (MS) Italics"/>
                  <a:ea typeface="Calibri (MS) Italics"/>
                  <a:cs typeface="Calibri (MS) Italics"/>
                  <a:sym typeface="Calibri (MS) Italics"/>
                </a:rPr>
                <a:t>Conforme al enunciado, el uso de IA generativa para el diseño de soluciones o la elaboración de análisis de resultados está estrictamente prohibido y no fue realizado.</a:t>
              </a:r>
            </a:p>
          </p:txBody>
        </p:sp>
      </p:grpSp>
      <p:grpSp>
        <p:nvGrpSpPr>
          <p:cNvPr name="Group 44" id="44"/>
          <p:cNvGrpSpPr/>
          <p:nvPr/>
        </p:nvGrpSpPr>
        <p:grpSpPr>
          <a:xfrm rot="0">
            <a:off x="17053103" y="9601200"/>
            <a:ext cx="822960" cy="411480"/>
            <a:chOff x="0" y="0"/>
            <a:chExt cx="1097280" cy="548640"/>
          </a:xfrm>
        </p:grpSpPr>
        <p:sp>
          <p:nvSpPr>
            <p:cNvPr name="Freeform 45" id="45"/>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46" id="46"/>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6B7280"/>
                  </a:solidFill>
                  <a:latin typeface="Calibri (MS)"/>
                  <a:ea typeface="Calibri (MS)"/>
                  <a:cs typeface="Calibri (MS)"/>
                  <a:sym typeface="Calibri (MS)"/>
                </a:rPr>
                <a:t>21</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0162B"/>
        </a:solidFill>
      </p:bgPr>
    </p:bg>
    <p:spTree>
      <p:nvGrpSpPr>
        <p:cNvPr id="1" name=""/>
        <p:cNvGrpSpPr/>
        <p:nvPr/>
      </p:nvGrpSpPr>
      <p:grpSpPr>
        <a:xfrm>
          <a:off x="0" y="0"/>
          <a:ext cx="0" cy="0"/>
          <a:chOff x="0" y="0"/>
          <a:chExt cx="0" cy="0"/>
        </a:xfrm>
      </p:grpSpPr>
      <p:grpSp>
        <p:nvGrpSpPr>
          <p:cNvPr name="Group 2" id="2"/>
          <p:cNvGrpSpPr/>
          <p:nvPr/>
        </p:nvGrpSpPr>
        <p:grpSpPr>
          <a:xfrm rot="0">
            <a:off x="-2743200" y="6172200"/>
            <a:ext cx="7543800" cy="7543800"/>
            <a:chOff x="0" y="0"/>
            <a:chExt cx="10058400" cy="10058400"/>
          </a:xfrm>
        </p:grpSpPr>
        <p:sp>
          <p:nvSpPr>
            <p:cNvPr name="Freeform 3" id="3"/>
            <p:cNvSpPr/>
            <p:nvPr/>
          </p:nvSpPr>
          <p:spPr>
            <a:xfrm flipH="false" flipV="false" rot="0">
              <a:off x="0" y="0"/>
              <a:ext cx="10058400" cy="10058400"/>
            </a:xfrm>
            <a:custGeom>
              <a:avLst/>
              <a:gdLst/>
              <a:ahLst/>
              <a:cxnLst/>
              <a:rect r="r" b="b" t="t" l="l"/>
              <a:pathLst>
                <a:path h="10058400" w="10058400">
                  <a:moveTo>
                    <a:pt x="0" y="5029200"/>
                  </a:moveTo>
                  <a:cubicBezTo>
                    <a:pt x="0" y="2251710"/>
                    <a:pt x="2251710" y="0"/>
                    <a:pt x="5029200" y="0"/>
                  </a:cubicBezTo>
                  <a:cubicBezTo>
                    <a:pt x="7806690" y="0"/>
                    <a:pt x="10058400" y="2251710"/>
                    <a:pt x="10058400" y="5029200"/>
                  </a:cubicBezTo>
                  <a:cubicBezTo>
                    <a:pt x="10058400" y="7806690"/>
                    <a:pt x="7806690" y="10058400"/>
                    <a:pt x="5029200" y="10058400"/>
                  </a:cubicBezTo>
                  <a:cubicBezTo>
                    <a:pt x="2251710" y="10058400"/>
                    <a:pt x="0" y="7806690"/>
                    <a:pt x="0" y="5029200"/>
                  </a:cubicBezTo>
                  <a:close/>
                </a:path>
              </a:pathLst>
            </a:custGeom>
            <a:solidFill>
              <a:srgbClr val="1B2340"/>
            </a:solidFill>
          </p:spPr>
        </p:sp>
      </p:grpSp>
      <p:grpSp>
        <p:nvGrpSpPr>
          <p:cNvPr name="Group 4" id="4"/>
          <p:cNvGrpSpPr/>
          <p:nvPr/>
        </p:nvGrpSpPr>
        <p:grpSpPr>
          <a:xfrm rot="0">
            <a:off x="1097280" y="3703320"/>
            <a:ext cx="10972800" cy="1645920"/>
            <a:chOff x="0" y="0"/>
            <a:chExt cx="14630400" cy="2194560"/>
          </a:xfrm>
        </p:grpSpPr>
        <p:sp>
          <p:nvSpPr>
            <p:cNvPr name="Freeform 5" id="5"/>
            <p:cNvSpPr/>
            <p:nvPr/>
          </p:nvSpPr>
          <p:spPr>
            <a:xfrm flipH="false" flipV="false" rot="0">
              <a:off x="0" y="0"/>
              <a:ext cx="14630400" cy="2194560"/>
            </a:xfrm>
            <a:custGeom>
              <a:avLst/>
              <a:gdLst/>
              <a:ahLst/>
              <a:cxnLst/>
              <a:rect r="r" b="b" t="t" l="l"/>
              <a:pathLst>
                <a:path h="2194560" w="14630400">
                  <a:moveTo>
                    <a:pt x="0" y="0"/>
                  </a:moveTo>
                  <a:lnTo>
                    <a:pt x="14630400" y="0"/>
                  </a:lnTo>
                  <a:lnTo>
                    <a:pt x="14630400" y="2194560"/>
                  </a:lnTo>
                  <a:lnTo>
                    <a:pt x="0" y="2194560"/>
                  </a:lnTo>
                  <a:close/>
                </a:path>
              </a:pathLst>
            </a:custGeom>
            <a:blipFill>
              <a:blip r:embed="rId2">
                <a:alphaModFix amt="0"/>
              </a:blip>
              <a:stretch>
                <a:fillRect l="0" t="-79900" r="0" b="-79900"/>
              </a:stretch>
            </a:blipFill>
          </p:spPr>
        </p:sp>
        <p:sp>
          <p:nvSpPr>
            <p:cNvPr name="TextBox 6" id="6"/>
            <p:cNvSpPr txBox="true"/>
            <p:nvPr/>
          </p:nvSpPr>
          <p:spPr>
            <a:xfrm>
              <a:off x="0" y="-19050"/>
              <a:ext cx="14630400" cy="2213610"/>
            </a:xfrm>
            <a:prstGeom prst="rect">
              <a:avLst/>
            </a:prstGeom>
          </p:spPr>
          <p:txBody>
            <a:bodyPr anchor="ctr" rtlCol="false" tIns="0" lIns="0" bIns="0" rIns="0"/>
            <a:lstStyle/>
            <a:p>
              <a:pPr algn="l">
                <a:lnSpc>
                  <a:spcPts val="7559"/>
                </a:lnSpc>
              </a:pPr>
              <a:r>
                <a:rPr lang="en-US" sz="6300" b="true">
                  <a:solidFill>
                    <a:srgbClr val="FFFFFF"/>
                  </a:solidFill>
                  <a:latin typeface="Cambria Bold"/>
                  <a:ea typeface="Cambria Bold"/>
                  <a:cs typeface="Cambria Bold"/>
                  <a:sym typeface="Cambria Bold"/>
                </a:rPr>
                <a:t>Gracias</a:t>
              </a:r>
            </a:p>
          </p:txBody>
        </p:sp>
      </p:grpSp>
      <p:grpSp>
        <p:nvGrpSpPr>
          <p:cNvPr name="Group 7" id="7"/>
          <p:cNvGrpSpPr/>
          <p:nvPr/>
        </p:nvGrpSpPr>
        <p:grpSpPr>
          <a:xfrm rot="0">
            <a:off x="1097280" y="5143500"/>
            <a:ext cx="13030200" cy="822960"/>
            <a:chOff x="0" y="0"/>
            <a:chExt cx="17373600" cy="1097280"/>
          </a:xfrm>
        </p:grpSpPr>
        <p:sp>
          <p:nvSpPr>
            <p:cNvPr name="Freeform 8" id="8"/>
            <p:cNvSpPr/>
            <p:nvPr/>
          </p:nvSpPr>
          <p:spPr>
            <a:xfrm flipH="false" flipV="false" rot="0">
              <a:off x="0" y="0"/>
              <a:ext cx="17373600" cy="1097280"/>
            </a:xfrm>
            <a:custGeom>
              <a:avLst/>
              <a:gdLst/>
              <a:ahLst/>
              <a:cxnLst/>
              <a:rect r="r" b="b" t="t" l="l"/>
              <a:pathLst>
                <a:path h="1097280" w="17373600">
                  <a:moveTo>
                    <a:pt x="0" y="0"/>
                  </a:moveTo>
                  <a:lnTo>
                    <a:pt x="17373600" y="0"/>
                  </a:lnTo>
                  <a:lnTo>
                    <a:pt x="17373600" y="1097280"/>
                  </a:lnTo>
                  <a:lnTo>
                    <a:pt x="0" y="1097280"/>
                  </a:lnTo>
                  <a:close/>
                </a:path>
              </a:pathLst>
            </a:custGeom>
            <a:blipFill>
              <a:blip r:embed="rId2">
                <a:alphaModFix amt="0"/>
              </a:blip>
              <a:stretch>
                <a:fillRect l="0" t="-258513" r="0" b="-258513"/>
              </a:stretch>
            </a:blipFill>
          </p:spPr>
        </p:sp>
        <p:sp>
          <p:nvSpPr>
            <p:cNvPr name="TextBox 9" id="9"/>
            <p:cNvSpPr txBox="true"/>
            <p:nvPr/>
          </p:nvSpPr>
          <p:spPr>
            <a:xfrm>
              <a:off x="0" y="-47625"/>
              <a:ext cx="17373600" cy="1144905"/>
            </a:xfrm>
            <a:prstGeom prst="rect">
              <a:avLst/>
            </a:prstGeom>
          </p:spPr>
          <p:txBody>
            <a:bodyPr anchor="ctr" rtlCol="false" tIns="0" lIns="0" bIns="0" rIns="0"/>
            <a:lstStyle/>
            <a:p>
              <a:pPr algn="l">
                <a:lnSpc>
                  <a:spcPts val="2520"/>
                </a:lnSpc>
              </a:pPr>
              <a:r>
                <a:rPr lang="en-US" sz="2100">
                  <a:solidFill>
                    <a:srgbClr val="B9C0E0"/>
                  </a:solidFill>
                  <a:latin typeface="Calibri (MS)"/>
                  <a:ea typeface="Calibri (MS)"/>
                  <a:cs typeface="Calibri (MS)"/>
                  <a:sym typeface="Calibri (MS)"/>
                </a:rPr>
                <a:t>Código, gráficos y notebook completo disponibles para revisión — Tarea 1, Deep Learning 2026-2</a:t>
              </a:r>
            </a:p>
          </p:txBody>
        </p:sp>
      </p:grpSp>
      <p:grpSp>
        <p:nvGrpSpPr>
          <p:cNvPr name="Group 10" id="10"/>
          <p:cNvGrpSpPr/>
          <p:nvPr/>
        </p:nvGrpSpPr>
        <p:grpSpPr>
          <a:xfrm rot="0">
            <a:off x="1097280" y="6309360"/>
            <a:ext cx="6720840" cy="466344"/>
            <a:chOff x="0" y="0"/>
            <a:chExt cx="8961120" cy="621792"/>
          </a:xfrm>
        </p:grpSpPr>
        <p:sp>
          <p:nvSpPr>
            <p:cNvPr name="Freeform 11" id="11"/>
            <p:cNvSpPr/>
            <p:nvPr/>
          </p:nvSpPr>
          <p:spPr>
            <a:xfrm flipH="false" flipV="false" rot="0">
              <a:off x="0" y="0"/>
              <a:ext cx="8961120" cy="621792"/>
            </a:xfrm>
            <a:custGeom>
              <a:avLst/>
              <a:gdLst/>
              <a:ahLst/>
              <a:cxnLst/>
              <a:rect r="r" b="b" t="t" l="l"/>
              <a:pathLst>
                <a:path h="621792" w="8961120">
                  <a:moveTo>
                    <a:pt x="0" y="146304"/>
                  </a:moveTo>
                  <a:cubicBezTo>
                    <a:pt x="0" y="65532"/>
                    <a:pt x="65532" y="0"/>
                    <a:pt x="146304" y="0"/>
                  </a:cubicBezTo>
                  <a:lnTo>
                    <a:pt x="8814816" y="0"/>
                  </a:lnTo>
                  <a:cubicBezTo>
                    <a:pt x="8895588" y="0"/>
                    <a:pt x="8961120" y="65532"/>
                    <a:pt x="8961120" y="146304"/>
                  </a:cubicBezTo>
                  <a:lnTo>
                    <a:pt x="8961120" y="475488"/>
                  </a:lnTo>
                  <a:cubicBezTo>
                    <a:pt x="8961120" y="556260"/>
                    <a:pt x="8895588" y="621792"/>
                    <a:pt x="8814816" y="621792"/>
                  </a:cubicBezTo>
                  <a:lnTo>
                    <a:pt x="146304" y="621792"/>
                  </a:lnTo>
                  <a:cubicBezTo>
                    <a:pt x="65532" y="621792"/>
                    <a:pt x="0" y="556260"/>
                    <a:pt x="0" y="475488"/>
                  </a:cubicBezTo>
                  <a:close/>
                </a:path>
              </a:pathLst>
            </a:custGeom>
            <a:solidFill>
              <a:srgbClr val="1B2340"/>
            </a:solidFill>
          </p:spPr>
        </p:sp>
      </p:grpSp>
      <p:grpSp>
        <p:nvGrpSpPr>
          <p:cNvPr name="Group 12" id="12"/>
          <p:cNvGrpSpPr/>
          <p:nvPr/>
        </p:nvGrpSpPr>
        <p:grpSpPr>
          <a:xfrm rot="0">
            <a:off x="1097280" y="6309360"/>
            <a:ext cx="6720840" cy="466344"/>
            <a:chOff x="0" y="0"/>
            <a:chExt cx="8961120" cy="621792"/>
          </a:xfrm>
        </p:grpSpPr>
        <p:sp>
          <p:nvSpPr>
            <p:cNvPr name="Freeform 13" id="13"/>
            <p:cNvSpPr/>
            <p:nvPr/>
          </p:nvSpPr>
          <p:spPr>
            <a:xfrm flipH="false" flipV="false" rot="0">
              <a:off x="0" y="0"/>
              <a:ext cx="8961120" cy="621792"/>
            </a:xfrm>
            <a:custGeom>
              <a:avLst/>
              <a:gdLst/>
              <a:ahLst/>
              <a:cxnLst/>
              <a:rect r="r" b="b" t="t" l="l"/>
              <a:pathLst>
                <a:path h="621792" w="8961120">
                  <a:moveTo>
                    <a:pt x="0" y="0"/>
                  </a:moveTo>
                  <a:lnTo>
                    <a:pt x="8961120" y="0"/>
                  </a:lnTo>
                  <a:lnTo>
                    <a:pt x="8961120" y="621792"/>
                  </a:lnTo>
                  <a:lnTo>
                    <a:pt x="0" y="621792"/>
                  </a:lnTo>
                  <a:close/>
                </a:path>
              </a:pathLst>
            </a:custGeom>
            <a:blipFill>
              <a:blip r:embed="rId2">
                <a:alphaModFix amt="0"/>
              </a:blip>
              <a:stretch>
                <a:fillRect l="0" t="-230813" r="0" b="-230813"/>
              </a:stretch>
            </a:blipFill>
          </p:spPr>
        </p:sp>
        <p:sp>
          <p:nvSpPr>
            <p:cNvPr name="TextBox 14" id="14"/>
            <p:cNvSpPr txBox="true"/>
            <p:nvPr/>
          </p:nvSpPr>
          <p:spPr>
            <a:xfrm>
              <a:off x="0" y="-28575"/>
              <a:ext cx="8961120" cy="650367"/>
            </a:xfrm>
            <a:prstGeom prst="rect">
              <a:avLst/>
            </a:prstGeom>
          </p:spPr>
          <p:txBody>
            <a:bodyPr anchor="ctr" rtlCol="false" tIns="0" lIns="0" bIns="0" rIns="0"/>
            <a:lstStyle/>
            <a:p>
              <a:pPr algn="ctr">
                <a:lnSpc>
                  <a:spcPts val="1980"/>
                </a:lnSpc>
              </a:pPr>
              <a:r>
                <a:rPr lang="en-US" sz="1650" b="true">
                  <a:solidFill>
                    <a:srgbClr val="00D1B2"/>
                  </a:solidFill>
                  <a:latin typeface="Calibri (MS) Bold"/>
                  <a:ea typeface="Calibri (MS) Bold"/>
                  <a:cs typeface="Calibri (MS) Bold"/>
                  <a:sym typeface="Calibri (MS) Bold"/>
                </a:rPr>
                <a:t>Alex Marambio · Diego Pérez · Aarón Pozas</a:t>
              </a:r>
            </a:p>
          </p:txBody>
        </p:sp>
      </p:grpSp>
      <p:grpSp>
        <p:nvGrpSpPr>
          <p:cNvPr name="Group 15" id="15"/>
          <p:cNvGrpSpPr/>
          <p:nvPr/>
        </p:nvGrpSpPr>
        <p:grpSpPr>
          <a:xfrm rot="0">
            <a:off x="17053103" y="9601200"/>
            <a:ext cx="822960" cy="411480"/>
            <a:chOff x="0" y="0"/>
            <a:chExt cx="1097280" cy="548640"/>
          </a:xfrm>
        </p:grpSpPr>
        <p:sp>
          <p:nvSpPr>
            <p:cNvPr name="Freeform 16" id="16"/>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2">
                <a:alphaModFix amt="0"/>
              </a:blip>
              <a:stretch>
                <a:fillRect l="-14151" t="0" r="-14151" b="0"/>
              </a:stretch>
            </a:blipFill>
          </p:spPr>
        </p:sp>
        <p:sp>
          <p:nvSpPr>
            <p:cNvPr name="TextBox 17" id="17"/>
            <p:cNvSpPr txBox="true"/>
            <p:nvPr/>
          </p:nvSpPr>
          <p:spPr>
            <a:xfrm>
              <a:off x="0" y="-38100"/>
              <a:ext cx="1097280" cy="586740"/>
            </a:xfrm>
            <a:prstGeom prst="rect">
              <a:avLst/>
            </a:prstGeom>
          </p:spPr>
          <p:txBody>
            <a:bodyPr anchor="ctr" rtlCol="false" tIns="0" lIns="0" bIns="0" rIns="0"/>
            <a:lstStyle/>
            <a:p>
              <a:pPr algn="r">
                <a:lnSpc>
                  <a:spcPts val="1800"/>
                </a:lnSpc>
              </a:pPr>
              <a:r>
                <a:rPr lang="en-US" sz="1500">
                  <a:solidFill>
                    <a:srgbClr val="8A93B8"/>
                  </a:solidFill>
                  <a:latin typeface="Calibri (MS)"/>
                  <a:ea typeface="Calibri (MS)"/>
                  <a:cs typeface="Calibri (MS)"/>
                  <a:sym typeface="Calibri (MS)"/>
                </a:rPr>
                <a:t>22</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DAHVDX6fWP8</dc:identifier>
  <dcterms:modified xsi:type="dcterms:W3CDTF">2011-08-01T06:04:30Z</dcterms:modified>
  <cp:revision>1</cp:revision>
  <dc:title>Tarea1-DeepLearning</dc:title>
</cp:coreProperties>
</file>